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Default Extension="docx" ContentType="application/vnd.openxmlformats-officedocument.wordprocessingml.document"/>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9.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Default Extension="vml" ContentType="application/vnd.openxmlformats-officedocument.vmlDrawing"/>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56" r:id="rId2"/>
    <p:sldId id="257" r:id="rId3"/>
    <p:sldId id="258" r:id="rId4"/>
    <p:sldId id="261" r:id="rId5"/>
    <p:sldId id="262" r:id="rId6"/>
    <p:sldId id="263" r:id="rId7"/>
    <p:sldId id="265" r:id="rId8"/>
    <p:sldId id="266" r:id="rId9"/>
    <p:sldId id="267" r:id="rId10"/>
    <p:sldId id="268" r:id="rId11"/>
    <p:sldId id="269" r:id="rId12"/>
    <p:sldId id="270" r:id="rId13"/>
    <p:sldId id="271" r:id="rId14"/>
    <p:sldId id="272" r:id="rId15"/>
    <p:sldId id="273" r:id="rId16"/>
    <p:sldId id="274" r:id="rId17"/>
    <p:sldId id="275" r:id="rId18"/>
    <p:sldId id="277" r:id="rId19"/>
    <p:sldId id="278" r:id="rId20"/>
    <p:sldId id="279" r:id="rId21"/>
    <p:sldId id="280" r:id="rId22"/>
    <p:sldId id="283" r:id="rId23"/>
    <p:sldId id="276" r:id="rId24"/>
    <p:sldId id="281" r:id="rId25"/>
    <p:sldId id="282" r:id="rId26"/>
    <p:sldId id="284" r:id="rId27"/>
    <p:sldId id="285" r:id="rId28"/>
    <p:sldId id="286" r:id="rId29"/>
    <p:sldId id="288" r:id="rId30"/>
    <p:sldId id="289" r:id="rId31"/>
    <p:sldId id="290" r:id="rId32"/>
    <p:sldId id="287" r:id="rId33"/>
    <p:sldId id="293" r:id="rId34"/>
    <p:sldId id="294" r:id="rId35"/>
    <p:sldId id="310"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6778" autoAdjust="0"/>
    <p:restoredTop sz="81897" autoAdjust="0"/>
  </p:normalViewPr>
  <p:slideViewPr>
    <p:cSldViewPr>
      <p:cViewPr varScale="1">
        <p:scale>
          <a:sx n="72" d="100"/>
          <a:sy n="72" d="100"/>
        </p:scale>
        <p:origin x="-72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363E718-0358-4B3C-9D8F-AAA3F5FDB3B2}" type="datetimeFigureOut">
              <a:rPr lang="zh-CN" altLang="en-US" smtClean="0"/>
              <a:pPr/>
              <a:t>2012-8-1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1A6E9C2-9775-4E69-A7A9-B3E02DA92BC7}"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pPr defTabSz="914423"/>
            <a:fld id="{6EBB90C3-E4A8-4696-AE9F-2366A711ADEF}" type="slidenum">
              <a:rPr lang="en-US" altLang="zh-CN" smtClean="0"/>
              <a:pPr defTabSz="914423"/>
              <a:t>4</a:t>
            </a:fld>
            <a:endParaRPr lang="en-US" altLang="zh-CN" dirty="0"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w="9525"/>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pPr defTabSz="914423"/>
            <a:fld id="{220C9EA5-8AE3-4BF6-A2C5-9D51486A8364}" type="slidenum">
              <a:rPr lang="en-US" altLang="zh-CN" smtClean="0"/>
              <a:pPr defTabSz="914423"/>
              <a:t>5</a:t>
            </a:fld>
            <a:endParaRPr lang="en-US" altLang="zh-CN" dirty="0" smtClean="0"/>
          </a:p>
        </p:txBody>
      </p:sp>
      <p:sp>
        <p:nvSpPr>
          <p:cNvPr id="79875" name="Rectangle 1026"/>
          <p:cNvSpPr>
            <a:spLocks noGrp="1" noRot="1" noChangeAspect="1" noChangeArrowheads="1" noTextEdit="1"/>
          </p:cNvSpPr>
          <p:nvPr>
            <p:ph type="sldImg"/>
          </p:nvPr>
        </p:nvSpPr>
        <p:spPr>
          <a:ln/>
        </p:spPr>
      </p:sp>
      <p:sp>
        <p:nvSpPr>
          <p:cNvPr id="79876" name="Rectangle 1026"/>
          <p:cNvSpPr>
            <a:spLocks noGrp="1" noChangeArrowheads="1"/>
          </p:cNvSpPr>
          <p:nvPr>
            <p:ph type="body" idx="1"/>
          </p:nvPr>
        </p:nvSpPr>
        <p:spPr>
          <a:noFill/>
          <a:ln w="9525"/>
        </p:spPr>
        <p:txBody>
          <a:bodyPr/>
          <a:lstStyle/>
          <a:p>
            <a:pPr eaLnBrk="1" hangingPunct="1"/>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74A551-F4A2-47AE-994A-84DE73B5F054}" type="slidenum">
              <a:rPr lang="en-US" altLang="zh-CN"/>
              <a:pPr/>
              <a:t>7</a:t>
            </a:fld>
            <a:endParaRPr lang="en-US" altLang="zh-CN"/>
          </a:p>
        </p:txBody>
      </p:sp>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p:txBody>
          <a:bodyPr/>
          <a:lstStyle/>
          <a:p>
            <a:r>
              <a:rPr lang="zh-CN" altLang="en-US" sz="1000" dirty="0"/>
              <a:t>声明一个类模板的格式是：</a:t>
            </a:r>
          </a:p>
          <a:p>
            <a:r>
              <a:rPr lang="en-US" altLang="zh-CN" sz="1000" dirty="0"/>
              <a:t>template &lt;</a:t>
            </a:r>
            <a:r>
              <a:rPr lang="zh-CN" altLang="en-US" sz="1000" dirty="0"/>
              <a:t>模板参数表</a:t>
            </a:r>
            <a:r>
              <a:rPr lang="en-US" altLang="zh-CN" sz="1000" dirty="0"/>
              <a:t>&gt;</a:t>
            </a:r>
          </a:p>
          <a:p>
            <a:r>
              <a:rPr lang="en-US" altLang="zh-CN" sz="1000" dirty="0"/>
              <a:t>class &lt;</a:t>
            </a:r>
            <a:r>
              <a:rPr lang="zh-CN" altLang="en-US" sz="1000" dirty="0"/>
              <a:t>类名</a:t>
            </a:r>
            <a:r>
              <a:rPr lang="en-US" altLang="zh-CN" sz="1000" dirty="0"/>
              <a:t>&gt;</a:t>
            </a:r>
          </a:p>
          <a:p>
            <a:r>
              <a:rPr lang="en-US" altLang="zh-CN" sz="1000" dirty="0"/>
              <a:t>{</a:t>
            </a:r>
          </a:p>
          <a:p>
            <a:r>
              <a:rPr lang="en-US" altLang="zh-CN" sz="1000" dirty="0"/>
              <a:t>	&lt;</a:t>
            </a:r>
            <a:r>
              <a:rPr lang="zh-CN" altLang="en-US" sz="1000" dirty="0"/>
              <a:t>类体说明</a:t>
            </a:r>
            <a:r>
              <a:rPr lang="en-US" altLang="zh-CN" sz="1000" dirty="0"/>
              <a:t>&gt;</a:t>
            </a:r>
          </a:p>
          <a:p>
            <a:r>
              <a:rPr lang="en-US" altLang="zh-CN" sz="1000" dirty="0"/>
              <a:t>}</a:t>
            </a:r>
          </a:p>
          <a:p>
            <a:r>
              <a:rPr lang="en-US" altLang="zh-CN" sz="1000" dirty="0"/>
              <a:t>&lt;</a:t>
            </a:r>
            <a:r>
              <a:rPr lang="zh-CN" altLang="en-US" sz="1000" dirty="0"/>
              <a:t>模板参数表</a:t>
            </a:r>
            <a:r>
              <a:rPr lang="en-US" altLang="zh-CN" sz="1000" dirty="0"/>
              <a:t>&gt;</a:t>
            </a:r>
            <a:r>
              <a:rPr lang="zh-CN" altLang="en-US" sz="1000" dirty="0"/>
              <a:t>是由一个或多个模板形参组成；与一般的类声明不同之处在于，这里的类要用</a:t>
            </a:r>
            <a:r>
              <a:rPr lang="en-US" altLang="zh-CN" sz="1000" dirty="0"/>
              <a:t>&lt;</a:t>
            </a:r>
            <a:r>
              <a:rPr lang="zh-CN" altLang="en-US" sz="1000" dirty="0"/>
              <a:t>模板参数表</a:t>
            </a:r>
            <a:r>
              <a:rPr lang="en-US" altLang="zh-CN" sz="1000" dirty="0"/>
              <a:t>&gt;</a:t>
            </a:r>
            <a:r>
              <a:rPr lang="zh-CN" altLang="en-US" sz="1000" dirty="0"/>
              <a:t>中虚拟类型参数来修饰它的某些成员，使模板类独立于任何具体的数据类型。</a:t>
            </a:r>
          </a:p>
          <a:p>
            <a:r>
              <a:rPr lang="zh-CN" altLang="en-US" sz="1000" dirty="0"/>
              <a:t>在模板外对成员函数的声明格式是：</a:t>
            </a:r>
          </a:p>
          <a:p>
            <a:r>
              <a:rPr lang="en-US" altLang="zh-CN" sz="1000" dirty="0"/>
              <a:t>template &lt;</a:t>
            </a:r>
            <a:r>
              <a:rPr lang="zh-CN" altLang="en-US" sz="1000" dirty="0"/>
              <a:t>模板参数表</a:t>
            </a:r>
            <a:r>
              <a:rPr lang="en-US" altLang="zh-CN" sz="1000" dirty="0"/>
              <a:t>&gt;</a:t>
            </a:r>
          </a:p>
          <a:p>
            <a:r>
              <a:rPr lang="en-US" altLang="zh-CN" sz="1000" dirty="0"/>
              <a:t>&lt;</a:t>
            </a:r>
            <a:r>
              <a:rPr lang="zh-CN" altLang="en-US" sz="1000" dirty="0"/>
              <a:t>返回类型</a:t>
            </a:r>
            <a:r>
              <a:rPr lang="en-US" altLang="zh-CN" sz="1000" dirty="0"/>
              <a:t>&gt; &lt;</a:t>
            </a:r>
            <a:r>
              <a:rPr lang="zh-CN" altLang="en-US" sz="1000" dirty="0"/>
              <a:t>类名</a:t>
            </a:r>
            <a:r>
              <a:rPr lang="en-US" altLang="zh-CN" sz="1000" dirty="0"/>
              <a:t>&gt; &lt;  &lt;</a:t>
            </a:r>
            <a:r>
              <a:rPr lang="zh-CN" altLang="en-US" sz="1000" dirty="0"/>
              <a:t>模板参数表</a:t>
            </a:r>
            <a:r>
              <a:rPr lang="en-US" altLang="zh-CN" sz="1000" dirty="0"/>
              <a:t>&gt;  &gt;::&lt;</a:t>
            </a:r>
            <a:r>
              <a:rPr lang="zh-CN" altLang="en-US" sz="1000" dirty="0"/>
              <a:t>函数名</a:t>
            </a:r>
            <a:r>
              <a:rPr lang="en-US" altLang="zh-CN" sz="1000" dirty="0"/>
              <a:t>&gt;(&lt;</a:t>
            </a:r>
            <a:r>
              <a:rPr lang="zh-CN" altLang="en-US" sz="1000" dirty="0"/>
              <a:t>函数参数表</a:t>
            </a:r>
            <a:r>
              <a:rPr lang="en-US" altLang="zh-CN" sz="1000" dirty="0"/>
              <a:t>&gt;) &lt;</a:t>
            </a:r>
            <a:r>
              <a:rPr lang="zh-CN" altLang="en-US" sz="1000" dirty="0"/>
              <a:t>函数体</a:t>
            </a:r>
            <a:r>
              <a:rPr lang="en-US" altLang="zh-CN" sz="1000" dirty="0"/>
              <a:t>&gt;</a:t>
            </a:r>
          </a:p>
          <a:p>
            <a:r>
              <a:rPr lang="zh-CN" altLang="en-US" sz="1000" dirty="0"/>
              <a:t>类模板的成员函数都是模板函数。因此，在模板外声明成员函数的格式与声明普通模板函数十分相似。</a:t>
            </a:r>
          </a:p>
          <a:p>
            <a:r>
              <a:rPr lang="zh-CN" altLang="en-US" sz="1000" dirty="0"/>
              <a:t>用类模板定义对象的格式是：</a:t>
            </a:r>
          </a:p>
          <a:p>
            <a:r>
              <a:rPr lang="en-US" altLang="zh-CN" sz="1000" dirty="0"/>
              <a:t>&lt;</a:t>
            </a:r>
            <a:r>
              <a:rPr lang="zh-CN" altLang="en-US" sz="1000" dirty="0"/>
              <a:t>类名</a:t>
            </a:r>
            <a:r>
              <a:rPr lang="en-US" altLang="zh-CN" sz="1000" dirty="0"/>
              <a:t>&gt; &lt;  &lt;</a:t>
            </a:r>
            <a:r>
              <a:rPr lang="zh-CN" altLang="en-US" sz="1000" dirty="0"/>
              <a:t>模板实参表</a:t>
            </a:r>
            <a:r>
              <a:rPr lang="en-US" altLang="zh-CN" sz="1000" dirty="0"/>
              <a:t>&gt;  &gt;  &lt;</a:t>
            </a:r>
            <a:r>
              <a:rPr lang="zh-CN" altLang="en-US" sz="1000" dirty="0"/>
              <a:t>对象名</a:t>
            </a:r>
            <a:r>
              <a:rPr lang="en-US" altLang="zh-CN" sz="1000" dirty="0"/>
              <a:t>&gt;(&lt;</a:t>
            </a:r>
            <a:r>
              <a:rPr lang="zh-CN" altLang="en-US" sz="1000" dirty="0"/>
              <a:t>构造函数实参表</a:t>
            </a:r>
            <a:r>
              <a:rPr lang="en-US" altLang="zh-CN" sz="1000" dirty="0"/>
              <a:t>&gt;)</a:t>
            </a:r>
            <a:r>
              <a:rPr lang="zh-CN" altLang="en-US" sz="1000" dirty="0"/>
              <a:t>；</a:t>
            </a:r>
          </a:p>
          <a:p>
            <a:r>
              <a:rPr lang="zh-CN" altLang="en-US" sz="1000" dirty="0"/>
              <a:t>在定义对象的过程中，编译系统会自动地根据需要生成相应的类定义，这种依据类模板生成类定义的过程就称为类模板的实例化。类模板实例化所生成的每一个类定义就是相应类模板的一个实例。</a:t>
            </a:r>
          </a:p>
          <a:p>
            <a:r>
              <a:rPr lang="zh-CN" altLang="en-US" sz="1000" dirty="0"/>
              <a:t>还应注意，在用类模板定义对象时，由于没有像函数实参表这样的额外信息渠道，因此无法按函数模板的方式省略模板实参。但是，可以为类模板的参数设置默认值。即在定义类模板时，可以为模板形参表声明的最后若干个参数设置默认值；有默认值的参数中，最后的若干个对应实参可以在定义对象时省略。</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A819B4-63EB-4977-9B3D-3055ACB92DA2}" type="slidenum">
              <a:rPr lang="en-US" altLang="zh-CN"/>
              <a:pPr/>
              <a:t>8</a:t>
            </a:fld>
            <a:endParaRPr lang="en-US" altLang="zh-CN"/>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r>
              <a:rPr lang="zh-CN" altLang="en-US"/>
              <a:t>类模板是一个类型参数化的样板，它是一组模板类的集合。模板类是某个类模板的实例。使用某种类型来替换某个类模板的模板参数可生成该类模板的一个模板类。使用模板类可以定义该类的对象，进而实现所需要的操作。</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D05F66-261A-4100-8E7C-C6ACA1098081}" type="slidenum">
              <a:rPr lang="en-US" altLang="zh-CN"/>
              <a:pPr/>
              <a:t>9</a:t>
            </a:fld>
            <a:endParaRPr lang="en-US" altLang="zh-CN"/>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r>
              <a:rPr lang="zh-CN" altLang="en-US" dirty="0"/>
              <a:t>模板类的派生与普通类一样，也分为公有派生类、保护派生类和私有派生类三种。模板派生类中成员的访问控制规则与普通类也是一样的。一个模板类可以作为一个普通类的派生类，也可以作为其他模板类的基类。下面给出常见的几种情况：</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892F48-A5B7-4799-99C7-E048345DD75B}" type="slidenum">
              <a:rPr lang="en-US" altLang="zh-CN"/>
              <a:pPr/>
              <a:t>15</a:t>
            </a:fld>
            <a:endParaRPr lang="en-US" altLang="zh-CN"/>
          </a:p>
        </p:txBody>
      </p:sp>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p:txBody>
          <a:bodyPr/>
          <a:lstStyle/>
          <a:p>
            <a:r>
              <a:rPr lang="en-US" altLang="zh-CN"/>
              <a:t>class</a:t>
            </a:r>
            <a:r>
              <a:rPr lang="zh-CN" altLang="en-US"/>
              <a:t>是修饰符，用来表示其后面的标识符是参数化的类型名，即模板参数。这三种形式中，前两种是等价的，在声明模板参数时，关键字</a:t>
            </a:r>
            <a:r>
              <a:rPr lang="en-US" altLang="zh-CN"/>
              <a:t>typename</a:t>
            </a:r>
            <a:r>
              <a:rPr lang="zh-CN" altLang="en-US"/>
              <a:t>与</a:t>
            </a:r>
            <a:r>
              <a:rPr lang="en-US" altLang="zh-CN"/>
              <a:t>class</a:t>
            </a:r>
            <a:r>
              <a:rPr lang="zh-CN" altLang="en-US"/>
              <a:t>可以互换。用</a:t>
            </a:r>
            <a:r>
              <a:rPr lang="en-US" altLang="zh-CN"/>
              <a:t>typename</a:t>
            </a:r>
            <a:r>
              <a:rPr lang="zh-CN" altLang="en-US"/>
              <a:t>和</a:t>
            </a:r>
            <a:r>
              <a:rPr lang="en-US" altLang="zh-CN"/>
              <a:t>class</a:t>
            </a:r>
            <a:r>
              <a:rPr lang="zh-CN" altLang="en-US"/>
              <a:t>声明的参数称为虚拟类型参数；而用</a:t>
            </a:r>
            <a:r>
              <a:rPr lang="en-US" altLang="zh-CN"/>
              <a:t>&lt;</a:t>
            </a:r>
            <a:r>
              <a:rPr lang="zh-CN" altLang="en-US"/>
              <a:t>类型修饰符</a:t>
            </a:r>
            <a:r>
              <a:rPr lang="en-US" altLang="zh-CN"/>
              <a:t>&gt;</a:t>
            </a:r>
            <a:r>
              <a:rPr lang="zh-CN" altLang="en-US"/>
              <a:t>声明的参数则称为常规参数，在形式上与普通的函数参数声明相同。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4172383-1256-44D8-A84E-A06434B49799}" type="slidenum">
              <a:rPr lang="en-US" altLang="zh-CN"/>
              <a:pPr/>
              <a:t>18</a:t>
            </a:fld>
            <a:endParaRPr lang="en-US" altLang="zh-CN"/>
          </a:p>
        </p:txBody>
      </p:sp>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p:txBody>
          <a:bodyPr/>
          <a:lstStyle/>
          <a:p>
            <a:r>
              <a:rPr lang="zh-CN" altLang="en-US"/>
              <a:t>例如：</a:t>
            </a:r>
          </a:p>
          <a:p>
            <a:r>
              <a:rPr lang="en-US" altLang="zh-CN"/>
              <a:t>template&lt;typename T&gt;</a:t>
            </a:r>
          </a:p>
          <a:p>
            <a:r>
              <a:rPr lang="en-US" altLang="zh-CN"/>
              <a:t>T add(T a,T b){return a+b;}</a:t>
            </a:r>
          </a:p>
          <a:p>
            <a:r>
              <a:rPr lang="zh-CN" altLang="en-US"/>
              <a:t>若调用函数的语句为：</a:t>
            </a:r>
          </a:p>
          <a:p>
            <a:r>
              <a:rPr lang="en-US" altLang="zh-CN"/>
              <a:t>cout&lt;&lt;add(3,5);</a:t>
            </a:r>
          </a:p>
          <a:p>
            <a:r>
              <a:rPr lang="zh-CN" altLang="en-US"/>
              <a:t>则编译系统无论是从</a:t>
            </a:r>
            <a:r>
              <a:rPr lang="en-US" altLang="zh-CN"/>
              <a:t>3</a:t>
            </a:r>
            <a:r>
              <a:rPr lang="zh-CN" altLang="en-US"/>
              <a:t>还是</a:t>
            </a:r>
            <a:r>
              <a:rPr lang="en-US" altLang="zh-CN"/>
              <a:t>5</a:t>
            </a:r>
            <a:r>
              <a:rPr lang="zh-CN" altLang="en-US"/>
              <a:t>所获得的信息都是</a:t>
            </a:r>
            <a:r>
              <a:rPr lang="en-US" altLang="zh-CN"/>
              <a:t>T</a:t>
            </a:r>
            <a:r>
              <a:rPr lang="zh-CN" altLang="en-US"/>
              <a:t>对应于</a:t>
            </a:r>
            <a:r>
              <a:rPr lang="en-US" altLang="zh-CN"/>
              <a:t>int</a:t>
            </a:r>
            <a:r>
              <a:rPr lang="zh-CN" altLang="en-US"/>
              <a:t>，因此可顺利地生成如下模板函数：</a:t>
            </a:r>
          </a:p>
          <a:p>
            <a:r>
              <a:rPr lang="en-US" altLang="zh-CN"/>
              <a:t>int add(int a, int b){return a+b;}</a:t>
            </a:r>
          </a:p>
          <a:p>
            <a:r>
              <a:rPr lang="zh-CN" altLang="en-US"/>
              <a:t>而若调用函数的语句为：</a:t>
            </a:r>
          </a:p>
          <a:p>
            <a:r>
              <a:rPr lang="en-US" altLang="zh-CN"/>
              <a:t>cout&lt;&lt;add(3.0,5);</a:t>
            </a:r>
          </a:p>
          <a:p>
            <a:r>
              <a:rPr lang="zh-CN" altLang="en-US"/>
              <a:t>则编译从</a:t>
            </a:r>
            <a:r>
              <a:rPr lang="en-US" altLang="zh-CN"/>
              <a:t>3.0</a:t>
            </a:r>
            <a:r>
              <a:rPr lang="zh-CN" altLang="en-US"/>
              <a:t>所获得的信息是</a:t>
            </a:r>
            <a:r>
              <a:rPr lang="en-US" altLang="zh-CN"/>
              <a:t>T</a:t>
            </a:r>
            <a:r>
              <a:rPr lang="zh-CN" altLang="en-US"/>
              <a:t>对应于</a:t>
            </a:r>
            <a:r>
              <a:rPr lang="en-US" altLang="zh-CN"/>
              <a:t>double</a:t>
            </a:r>
            <a:r>
              <a:rPr lang="zh-CN" altLang="en-US"/>
              <a:t>，而从</a:t>
            </a:r>
            <a:r>
              <a:rPr lang="en-US" altLang="zh-CN"/>
              <a:t>5</a:t>
            </a:r>
            <a:r>
              <a:rPr lang="zh-CN" altLang="en-US"/>
              <a:t>所获得的信息是</a:t>
            </a:r>
            <a:r>
              <a:rPr lang="en-US" altLang="zh-CN"/>
              <a:t>T</a:t>
            </a:r>
            <a:r>
              <a:rPr lang="zh-CN" altLang="en-US"/>
              <a:t>对应于</a:t>
            </a:r>
            <a:r>
              <a:rPr lang="en-US" altLang="zh-CN"/>
              <a:t>int</a:t>
            </a:r>
            <a:r>
              <a:rPr lang="zh-CN" altLang="en-US"/>
              <a:t>，两者是矛盾的。为了解决这一问题，可以显式的给出模板实参，强制生成对特定实例的调用，必要时生成该实例。</a:t>
            </a:r>
          </a:p>
          <a:p>
            <a:r>
              <a:rPr lang="zh-CN" altLang="en-US"/>
              <a:t>调用语句变为：</a:t>
            </a:r>
          </a:p>
          <a:p>
            <a:r>
              <a:rPr lang="en-US" altLang="zh-CN"/>
              <a:t>cout&lt;&lt;add&lt;int&gt;(3.0,5);</a:t>
            </a:r>
          </a:p>
          <a:p>
            <a:r>
              <a:rPr lang="zh-CN" altLang="en-US"/>
              <a:t>其中，紧跟在函数名后的</a:t>
            </a:r>
            <a:r>
              <a:rPr lang="en-US" altLang="zh-CN"/>
              <a:t>&lt;int&gt;</a:t>
            </a:r>
            <a:r>
              <a:rPr lang="zh-CN" altLang="en-US"/>
              <a:t>就是模板实参表，此时，编译系统生成如下的模板函数：</a:t>
            </a:r>
          </a:p>
          <a:p>
            <a:r>
              <a:rPr lang="en-US" altLang="zh-CN"/>
              <a:t>int add(int a,int b){return a+b;}</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5A92BA-1BF6-4310-BDD1-EC2E47080230}" type="slidenum">
              <a:rPr lang="en-US" altLang="zh-CN"/>
              <a:pPr/>
              <a:t>20</a:t>
            </a:fld>
            <a:endParaRPr lang="en-US" altLang="zh-CN"/>
          </a:p>
        </p:txBody>
      </p:sp>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p:txBody>
          <a:bodyPr/>
          <a:lstStyle/>
          <a:p>
            <a:r>
              <a:rPr lang="zh-CN" altLang="en-US"/>
              <a:t>可以看到，语句：</a:t>
            </a:r>
          </a:p>
          <a:p>
            <a:r>
              <a:rPr lang="en-US" altLang="zh-CN"/>
              <a:t>cout&lt;&lt;add&lt;double,int&gt;(3,5L)&lt;&lt;endl;</a:t>
            </a:r>
          </a:p>
          <a:p>
            <a:r>
              <a:rPr lang="zh-CN" altLang="en-US"/>
              <a:t>得到的结果为</a:t>
            </a:r>
            <a:r>
              <a:rPr lang="en-US" altLang="zh-CN"/>
              <a:t>8</a:t>
            </a:r>
            <a:r>
              <a:rPr lang="zh-CN" altLang="en-US"/>
              <a:t>，因为</a:t>
            </a:r>
            <a:r>
              <a:rPr lang="en-US" altLang="zh-CN"/>
              <a:t>int</a:t>
            </a:r>
            <a:r>
              <a:rPr lang="zh-CN" altLang="en-US"/>
              <a:t>是</a:t>
            </a:r>
            <a:r>
              <a:rPr lang="en-US" altLang="zh-CN"/>
              <a:t>T2</a:t>
            </a:r>
            <a:r>
              <a:rPr lang="zh-CN" altLang="en-US"/>
              <a:t>的实参。而语句：</a:t>
            </a:r>
          </a:p>
          <a:p>
            <a:r>
              <a:rPr lang="en-US" altLang="zh-CN"/>
              <a:t>cout&lt;&lt;add&lt;int,double,long&gt;(3,5L)&lt;&lt;endl;</a:t>
            </a:r>
          </a:p>
          <a:p>
            <a:r>
              <a:rPr lang="zh-CN" altLang="en-US"/>
              <a:t>得到的结果为</a:t>
            </a:r>
            <a:r>
              <a:rPr lang="en-US" altLang="zh-CN"/>
              <a:t>8.00000</a:t>
            </a:r>
            <a:r>
              <a:rPr lang="zh-CN" altLang="en-US"/>
              <a:t>，因为</a:t>
            </a:r>
            <a:r>
              <a:rPr lang="en-US" altLang="zh-CN"/>
              <a:t>double</a:t>
            </a:r>
            <a:r>
              <a:rPr lang="zh-CN" altLang="en-US"/>
              <a:t>是</a:t>
            </a:r>
            <a:r>
              <a:rPr lang="en-US" altLang="zh-CN"/>
              <a:t>T2</a:t>
            </a:r>
            <a:r>
              <a:rPr lang="zh-CN" altLang="en-US"/>
              <a:t>的实参。其中</a:t>
            </a:r>
            <a:r>
              <a:rPr lang="en-US" altLang="zh-CN"/>
              <a:t>long</a:t>
            </a:r>
            <a:r>
              <a:rPr lang="zh-CN" altLang="en-US"/>
              <a:t>可以用于判断</a:t>
            </a:r>
            <a:r>
              <a:rPr lang="en-US" altLang="zh-CN"/>
              <a:t>5</a:t>
            </a:r>
            <a:r>
              <a:rPr lang="zh-CN" altLang="en-US"/>
              <a:t>的类型。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D71F3F4-E65F-451B-9F7F-BB573564F97A}" type="slidenum">
              <a:rPr lang="en-US" altLang="zh-CN"/>
              <a:pPr/>
              <a:t>21</a:t>
            </a:fld>
            <a:endParaRPr lang="en-US" altLang="zh-CN"/>
          </a:p>
        </p:txBody>
      </p:sp>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p:txBody>
          <a:bodyPr/>
          <a:lstStyle/>
          <a:p>
            <a:r>
              <a:rPr lang="zh-CN" altLang="en-US"/>
              <a:t>函数模板</a:t>
            </a:r>
            <a:r>
              <a:rPr lang="en-US" altLang="zh-CN"/>
              <a:t>sum</a:t>
            </a:r>
            <a:r>
              <a:rPr lang="zh-CN" altLang="en-US"/>
              <a:t>的功能是对一维数组</a:t>
            </a:r>
            <a:r>
              <a:rPr lang="en-US" altLang="zh-CN"/>
              <a:t>data</a:t>
            </a:r>
            <a:r>
              <a:rPr lang="zh-CN" altLang="en-US"/>
              <a:t>中的元素求和，并将结果存入变量</a:t>
            </a:r>
            <a:r>
              <a:rPr lang="en-US" altLang="zh-CN"/>
              <a:t>result</a:t>
            </a:r>
            <a:r>
              <a:rPr lang="zh-CN" altLang="en-US"/>
              <a:t>中带回到调用它的程序中。这里由于模板中带有常规参数</a:t>
            </a:r>
            <a:r>
              <a:rPr lang="en-US" altLang="zh-CN"/>
              <a:t>rows</a:t>
            </a:r>
            <a:r>
              <a:rPr lang="zh-CN" altLang="en-US"/>
              <a:t>，而又无法从模板函数的实参表中获得，因此在调用</a:t>
            </a:r>
            <a:r>
              <a:rPr lang="en-US" altLang="zh-CN"/>
              <a:t>sum</a:t>
            </a:r>
            <a:r>
              <a:rPr lang="zh-CN" altLang="en-US"/>
              <a:t>函数时必须显式的给出对应于常规参数的模板实参。</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圆角矩形 3"/>
          <p:cNvSpPr/>
          <p:nvPr/>
        </p:nvSpPr>
        <p:spPr>
          <a:xfrm>
            <a:off x="3786188" y="5500688"/>
            <a:ext cx="6000750" cy="571500"/>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5" name="图片 6" descr="Logo(达内-白色)_Link.png"/>
          <p:cNvPicPr>
            <a:picLocks noChangeAspect="1"/>
          </p:cNvPicPr>
          <p:nvPr/>
        </p:nvPicPr>
        <p:blipFill>
          <a:blip r:embed="rId2"/>
          <a:srcRect/>
          <a:stretch>
            <a:fillRect/>
          </a:stretch>
        </p:blipFill>
        <p:spPr bwMode="auto">
          <a:xfrm>
            <a:off x="7324725" y="6261100"/>
            <a:ext cx="1819275" cy="596900"/>
          </a:xfrm>
          <a:prstGeom prst="rect">
            <a:avLst/>
          </a:prstGeom>
          <a:noFill/>
          <a:ln w="9525">
            <a:noFill/>
            <a:miter lim="800000"/>
            <a:headEnd/>
            <a:tailEnd/>
          </a:ln>
        </p:spPr>
      </p:pic>
      <p:sp>
        <p:nvSpPr>
          <p:cNvPr id="6" name="矩形 5"/>
          <p:cNvSpPr/>
          <p:nvPr/>
        </p:nvSpPr>
        <p:spPr>
          <a:xfrm rot="5400000">
            <a:off x="3250406" y="-2464593"/>
            <a:ext cx="2643187" cy="91440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2800"/>
          </a:p>
        </p:txBody>
      </p:sp>
      <p:grpSp>
        <p:nvGrpSpPr>
          <p:cNvPr id="7" name="组合 12"/>
          <p:cNvGrpSpPr>
            <a:grpSpLocks/>
          </p:cNvGrpSpPr>
          <p:nvPr/>
        </p:nvGrpSpPr>
        <p:grpSpPr bwMode="auto">
          <a:xfrm>
            <a:off x="714375" y="928688"/>
            <a:ext cx="9358313" cy="2786062"/>
            <a:chOff x="571472" y="928670"/>
            <a:chExt cx="9358378" cy="2786082"/>
          </a:xfrm>
        </p:grpSpPr>
        <p:pic>
          <p:nvPicPr>
            <p:cNvPr id="8" name="Picture 2" descr="E:\PPT素材\精选ppt\免费分享的PPT资料\08PPT可用的图片\锐普创意图片\地图\创意商务 (1649).jpg"/>
            <p:cNvPicPr>
              <a:picLocks noChangeAspect="1" noChangeArrowheads="1"/>
            </p:cNvPicPr>
            <p:nvPr/>
          </p:nvPicPr>
          <p:blipFill>
            <a:blip r:embed="rId3">
              <a:clrChange>
                <a:clrFrom>
                  <a:srgbClr val="FFFFFF"/>
                </a:clrFrom>
                <a:clrTo>
                  <a:srgbClr val="FFFFFF">
                    <a:alpha val="0"/>
                  </a:srgbClr>
                </a:clrTo>
              </a:clrChange>
            </a:blip>
            <a:srcRect l="1704" t="26892" r="70505" b="6342"/>
            <a:stretch>
              <a:fillRect/>
            </a:stretch>
          </p:blipFill>
          <p:spPr bwMode="auto">
            <a:xfrm>
              <a:off x="3929058" y="1314436"/>
              <a:ext cx="1500198" cy="2400316"/>
            </a:xfrm>
            <a:prstGeom prst="rect">
              <a:avLst/>
            </a:prstGeom>
            <a:noFill/>
            <a:ln w="9525">
              <a:noFill/>
              <a:miter lim="800000"/>
              <a:headEnd/>
              <a:tailEnd/>
            </a:ln>
          </p:spPr>
        </p:pic>
        <p:sp>
          <p:nvSpPr>
            <p:cNvPr id="9" name="TextBox 8"/>
            <p:cNvSpPr txBox="1"/>
            <p:nvPr/>
          </p:nvSpPr>
          <p:spPr>
            <a:xfrm>
              <a:off x="571472" y="928670"/>
              <a:ext cx="9358378" cy="2216166"/>
            </a:xfrm>
            <a:prstGeom prst="rect">
              <a:avLst/>
            </a:prstGeom>
            <a:noFill/>
          </p:spPr>
          <p:txBody>
            <a:bodyPr>
              <a:spAutoFit/>
            </a:bodyPr>
            <a:lstStyle/>
            <a:p>
              <a:pPr fontAlgn="auto">
                <a:spcBef>
                  <a:spcPts val="0"/>
                </a:spcBef>
                <a:spcAft>
                  <a:spcPts val="0"/>
                </a:spcAft>
                <a:defRPr/>
              </a:pPr>
              <a:r>
                <a:rPr lang="en-US" altLang="zh-CN" sz="13800" dirty="0">
                  <a:solidFill>
                    <a:schemeClr val="tx2"/>
                  </a:solidFill>
                  <a:latin typeface="Arial Black" pitchFamily="34" charset="0"/>
                  <a:ea typeface="+mn-ea"/>
                </a:rPr>
                <a:t>Tar   </a:t>
              </a:r>
              <a:r>
                <a:rPr lang="en-US" altLang="zh-CN" sz="13800" dirty="0" err="1">
                  <a:solidFill>
                    <a:schemeClr val="tx2"/>
                  </a:solidFill>
                  <a:latin typeface="Arial Black" pitchFamily="34" charset="0"/>
                  <a:ea typeface="+mn-ea"/>
                </a:rPr>
                <a:t>na</a:t>
              </a:r>
              <a:endParaRPr lang="zh-CN" altLang="en-US" sz="13800" dirty="0">
                <a:solidFill>
                  <a:schemeClr val="tx2"/>
                </a:solidFill>
                <a:latin typeface="Arial Black" pitchFamily="34" charset="0"/>
                <a:ea typeface="+mn-ea"/>
              </a:endParaRPr>
            </a:p>
          </p:txBody>
        </p:sp>
      </p:grpSp>
      <p:sp>
        <p:nvSpPr>
          <p:cNvPr id="3" name="副标题 2"/>
          <p:cNvSpPr>
            <a:spLocks noGrp="1"/>
          </p:cNvSpPr>
          <p:nvPr>
            <p:ph type="subTitle" idx="1"/>
          </p:nvPr>
        </p:nvSpPr>
        <p:spPr>
          <a:xfrm>
            <a:off x="3500430" y="5429265"/>
            <a:ext cx="6286544" cy="928695"/>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2" name="标题 1"/>
          <p:cNvSpPr>
            <a:spLocks noGrp="1"/>
          </p:cNvSpPr>
          <p:nvPr>
            <p:ph type="ctrTitle"/>
          </p:nvPr>
        </p:nvSpPr>
        <p:spPr>
          <a:xfrm>
            <a:off x="785786" y="3744926"/>
            <a:ext cx="7772400" cy="1470025"/>
          </a:xfrm>
          <a:noFill/>
          <a:ln>
            <a:noFill/>
          </a:ln>
        </p:spPr>
        <p:txBody>
          <a:bodyPr/>
          <a:lstStyle>
            <a:lvl1pPr>
              <a:defRPr>
                <a:solidFill>
                  <a:schemeClr val="bg1"/>
                </a:solidFill>
              </a:defRPr>
            </a:lvl1pPr>
          </a:lstStyle>
          <a:p>
            <a:r>
              <a:rPr lang="zh-CN" altLang="en-US" smtClean="0"/>
              <a:t>单击此处编辑母版标题样式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pic>
        <p:nvPicPr>
          <p:cNvPr id="8" name="图片 7"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5" name="同侧圆角矩形 4"/>
          <p:cNvSpPr/>
          <p:nvPr/>
        </p:nvSpPr>
        <p:spPr>
          <a:xfrm rot="5400000">
            <a:off x="3643313" y="-3286125"/>
            <a:ext cx="928687" cy="8215313"/>
          </a:xfrm>
          <a:prstGeom prst="round2Same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标题 1"/>
          <p:cNvSpPr>
            <a:spLocks noGrp="1"/>
          </p:cNvSpPr>
          <p:nvPr>
            <p:ph type="ctrTitle"/>
          </p:nvPr>
        </p:nvSpPr>
        <p:spPr>
          <a:xfrm>
            <a:off x="0" y="357166"/>
            <a:ext cx="8201060" cy="928695"/>
          </a:xfrm>
          <a:prstGeom prst="rect">
            <a:avLst/>
          </a:prstGeom>
          <a:noFill/>
          <a:ln>
            <a:noFill/>
          </a:ln>
          <a:effectLst/>
        </p:spPr>
        <p:txBody>
          <a:bodyPr>
            <a:noAutofit/>
          </a:bodyPr>
          <a:lstStyle>
            <a:lvl1pPr algn="l">
              <a:defRPr sz="3600">
                <a:solidFill>
                  <a:schemeClr val="bg1"/>
                </a:solidFill>
                <a:latin typeface="微软雅黑" pitchFamily="34" charset="-122"/>
                <a:ea typeface="微软雅黑" pitchFamily="34" charset="-122"/>
              </a:defRPr>
            </a:lvl1pPr>
          </a:lstStyle>
          <a:p>
            <a:r>
              <a:rPr lang="zh-CN" altLang="en-US" smtClean="0"/>
              <a:t>单击此处编辑母版标题样式</a:t>
            </a:r>
            <a:endParaRPr lang="zh-CN" altLang="en-US" dirty="0"/>
          </a:p>
        </p:txBody>
      </p:sp>
      <p:sp>
        <p:nvSpPr>
          <p:cNvPr id="11" name="文本占位符 2"/>
          <p:cNvSpPr>
            <a:spLocks noGrp="1"/>
          </p:cNvSpPr>
          <p:nvPr>
            <p:ph idx="1"/>
          </p:nvPr>
        </p:nvSpPr>
        <p:spPr>
          <a:xfrm>
            <a:off x="457200" y="1600201"/>
            <a:ext cx="8229600" cy="4525963"/>
          </a:xfrm>
          <a:prstGeom prst="rect">
            <a:avLst/>
          </a:prstGeom>
        </p:spPr>
        <p:txBody>
          <a:bodyPr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标题和内容">
    <p:spTree>
      <p:nvGrpSpPr>
        <p:cNvPr id="1" name=""/>
        <p:cNvGrpSpPr/>
        <p:nvPr/>
      </p:nvGrpSpPr>
      <p:grpSpPr>
        <a:xfrm>
          <a:off x="0" y="0"/>
          <a:ext cx="0" cy="0"/>
          <a:chOff x="0" y="0"/>
          <a:chExt cx="0" cy="0"/>
        </a:xfrm>
      </p:grpSpPr>
      <p:pic>
        <p:nvPicPr>
          <p:cNvPr id="7" name="图片 6"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10" name="标题 1"/>
          <p:cNvSpPr>
            <a:spLocks noGrp="1"/>
          </p:cNvSpPr>
          <p:nvPr>
            <p:ph type="ctrTitle"/>
          </p:nvPr>
        </p:nvSpPr>
        <p:spPr>
          <a:xfrm>
            <a:off x="428596" y="285729"/>
            <a:ext cx="8201060" cy="928695"/>
          </a:xfrm>
          <a:prstGeom prst="roundRect">
            <a:avLst/>
          </a:prstGeom>
          <a:noFill/>
          <a:ln>
            <a:noFill/>
          </a:ln>
          <a:effectLst>
            <a:outerShdw blurRad="50800" dist="38100" dir="2700000" algn="tl" rotWithShape="0">
              <a:prstClr val="black">
                <a:alpha val="40000"/>
              </a:prstClr>
            </a:outerShdw>
          </a:effectLst>
        </p:spPr>
        <p:txBody>
          <a:bodyPr>
            <a:noAutofit/>
          </a:bodyPr>
          <a:lstStyle>
            <a:lvl1pPr algn="l">
              <a:defRPr sz="3600">
                <a:solidFill>
                  <a:schemeClr val="tx1"/>
                </a:solidFill>
                <a:latin typeface="微软雅黑" pitchFamily="34" charset="-122"/>
                <a:ea typeface="微软雅黑" pitchFamily="34" charset="-122"/>
              </a:defRPr>
            </a:lvl1pPr>
          </a:lstStyle>
          <a:p>
            <a:r>
              <a:rPr lang="zh-CN" altLang="en-US" smtClean="0"/>
              <a:t>单击此处编辑母版标题样式</a:t>
            </a:r>
            <a:endParaRPr lang="zh-CN" altLang="en-US" dirty="0"/>
          </a:p>
        </p:txBody>
      </p:sp>
      <p:sp>
        <p:nvSpPr>
          <p:cNvPr id="11" name="文本占位符 2"/>
          <p:cNvSpPr>
            <a:spLocks noGrp="1"/>
          </p:cNvSpPr>
          <p:nvPr>
            <p:ph idx="1"/>
          </p:nvPr>
        </p:nvSpPr>
        <p:spPr>
          <a:xfrm>
            <a:off x="457200" y="1600201"/>
            <a:ext cx="8229600" cy="4525963"/>
          </a:xfrm>
          <a:prstGeom prst="rect">
            <a:avLst/>
          </a:prstGeom>
        </p:spPr>
        <p:txBody>
          <a:bodyPr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图片 7"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标题 1"/>
          <p:cNvSpPr>
            <a:spLocks noGrp="1"/>
          </p:cNvSpPr>
          <p:nvPr>
            <p:ph type="title"/>
          </p:nvPr>
        </p:nvSpPr>
        <p:spPr>
          <a:xfrm>
            <a:off x="722313" y="4406901"/>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6" name="灯片编号占位符 5"/>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pic>
        <p:nvPicPr>
          <p:cNvPr id="8" name="图片 7" descr="ppt-800-600.jpg"/>
          <p:cNvPicPr>
            <a:picLocks noChangeAspect="1"/>
          </p:cNvPicPr>
          <p:nvPr/>
        </p:nvPicPr>
        <p:blipFill>
          <a:blip r:embed="rId2"/>
          <a:srcRect b="1891"/>
          <a:stretch>
            <a:fillRect/>
          </a:stretch>
        </p:blipFill>
        <p:spPr>
          <a:xfrm>
            <a:off x="0" y="-24"/>
            <a:ext cx="9144000" cy="6858024"/>
          </a:xfrm>
          <a:prstGeom prst="rect">
            <a:avLst/>
          </a:prstGeom>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内容占位符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9" name="图片 8"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5" name="图片 4"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4" name="图片 3" descr="ppt-800-600.jpg"/>
          <p:cNvPicPr>
            <a:picLocks noChangeAspect="1"/>
          </p:cNvPicPr>
          <p:nvPr/>
        </p:nvPicPr>
        <p:blipFill>
          <a:blip r:embed="rId2"/>
          <a:srcRect b="1891"/>
          <a:stretch>
            <a:fillRect/>
          </a:stretch>
        </p:blipFill>
        <p:spPr>
          <a:xfrm>
            <a:off x="0" y="1"/>
            <a:ext cx="9144000" cy="685802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7" name="图片 6"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标题 1"/>
          <p:cNvSpPr>
            <a:spLocks noGrp="1"/>
          </p:cNvSpPr>
          <p:nvPr>
            <p:ph type="title"/>
          </p:nvPr>
        </p:nvSpPr>
        <p:spPr>
          <a:xfrm>
            <a:off x="457202" y="273049"/>
            <a:ext cx="3008313" cy="1162051"/>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7" name="图片 6"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标题 1"/>
          <p:cNvSpPr>
            <a:spLocks noGrp="1"/>
          </p:cNvSpPr>
          <p:nvPr>
            <p:ph type="title"/>
          </p:nvPr>
        </p:nvSpPr>
        <p:spPr>
          <a:xfrm>
            <a:off x="1792288" y="4800600"/>
            <a:ext cx="5486400" cy="566739"/>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pic>
        <p:nvPicPr>
          <p:cNvPr id="6" name="图片 5"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pic>
        <p:nvPicPr>
          <p:cNvPr id="6" name="图片 5" descr="ppt-800-600.jpg"/>
          <p:cNvPicPr>
            <a:picLocks noChangeAspect="1"/>
          </p:cNvPicPr>
          <p:nvPr/>
        </p:nvPicPr>
        <p:blipFill>
          <a:blip r:embed="rId2"/>
          <a:srcRect b="1891"/>
          <a:stretch>
            <a:fillRect/>
          </a:stretch>
        </p:blipFill>
        <p:spPr>
          <a:xfrm>
            <a:off x="0" y="1"/>
            <a:ext cx="9144000" cy="6858024"/>
          </a:xfrm>
          <a:prstGeom prst="rect">
            <a:avLst/>
          </a:prstGeom>
        </p:spPr>
      </p:pic>
      <p:sp>
        <p:nvSpPr>
          <p:cNvPr id="2" name="竖排标题 1"/>
          <p:cNvSpPr>
            <a:spLocks noGrp="1"/>
          </p:cNvSpPr>
          <p:nvPr>
            <p:ph type="title" orient="vert"/>
          </p:nvPr>
        </p:nvSpPr>
        <p:spPr>
          <a:xfrm>
            <a:off x="6629400" y="274639"/>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9"/>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2" name="Picture 3" descr="E:\PPT素材\图片素材\达内素材\封面.jpg"/>
          <p:cNvPicPr>
            <a:picLocks noChangeAspect="1" noChangeArrowheads="1"/>
          </p:cNvPicPr>
          <p:nvPr/>
        </p:nvPicPr>
        <p:blipFill>
          <a:blip r:embed="rId2"/>
          <a:srcRect/>
          <a:stretch>
            <a:fillRect/>
          </a:stretch>
        </p:blipFill>
        <p:spPr bwMode="auto">
          <a:xfrm>
            <a:off x="-107950" y="0"/>
            <a:ext cx="9251950" cy="6858000"/>
          </a:xfrm>
          <a:prstGeom prst="rect">
            <a:avLst/>
          </a:prstGeom>
          <a:noFill/>
          <a:ln w="9525">
            <a:noFill/>
            <a:miter lim="800000"/>
            <a:headEnd/>
            <a:tailEnd/>
          </a:ln>
        </p:spPr>
      </p:pic>
      <p:sp>
        <p:nvSpPr>
          <p:cNvPr id="3" name="灯片编号占位符 2"/>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pic>
        <p:nvPicPr>
          <p:cNvPr id="3" name="Picture 2" descr="E:\PPT素材\图片素材\达内素材\banner1.jpg"/>
          <p:cNvPicPr>
            <a:picLocks noChangeAspect="1" noChangeArrowheads="1"/>
          </p:cNvPicPr>
          <p:nvPr/>
        </p:nvPicPr>
        <p:blipFill>
          <a:blip r:embed="rId2"/>
          <a:srcRect/>
          <a:stretch>
            <a:fillRect/>
          </a:stretch>
        </p:blipFill>
        <p:spPr bwMode="auto">
          <a:xfrm>
            <a:off x="0" y="2519363"/>
            <a:ext cx="9144000" cy="1931987"/>
          </a:xfrm>
          <a:prstGeom prst="rect">
            <a:avLst/>
          </a:prstGeom>
          <a:noFill/>
          <a:ln w="9525">
            <a:noFill/>
            <a:miter lim="800000"/>
            <a:headEnd/>
            <a:tailEnd/>
          </a:ln>
        </p:spPr>
      </p:pic>
      <p:pic>
        <p:nvPicPr>
          <p:cNvPr id="4" name="图片 6" descr="Logo(达内-白色)_Link.png"/>
          <p:cNvPicPr>
            <a:picLocks noChangeAspect="1"/>
          </p:cNvPicPr>
          <p:nvPr/>
        </p:nvPicPr>
        <p:blipFill>
          <a:blip r:embed="rId3"/>
          <a:srcRect/>
          <a:stretch>
            <a:fillRect/>
          </a:stretch>
        </p:blipFill>
        <p:spPr bwMode="auto">
          <a:xfrm>
            <a:off x="7324725" y="6261100"/>
            <a:ext cx="1819275" cy="596900"/>
          </a:xfrm>
          <a:prstGeom prst="rect">
            <a:avLst/>
          </a:prstGeom>
          <a:noFill/>
          <a:ln w="9525">
            <a:noFill/>
            <a:miter lim="800000"/>
            <a:headEnd/>
            <a:tailEnd/>
          </a:ln>
        </p:spPr>
      </p:pic>
      <p:sp>
        <p:nvSpPr>
          <p:cNvPr id="2" name="标题 1"/>
          <p:cNvSpPr>
            <a:spLocks noGrp="1"/>
          </p:cNvSpPr>
          <p:nvPr>
            <p:ph type="title"/>
          </p:nvPr>
        </p:nvSpPr>
        <p:spPr>
          <a:xfrm>
            <a:off x="5429256" y="2857496"/>
            <a:ext cx="3400452" cy="1143000"/>
          </a:xfrm>
          <a:noFill/>
          <a:ln>
            <a:noFill/>
          </a:ln>
        </p:spPr>
        <p:txBody>
          <a:bodyPr>
            <a:noAutofit/>
          </a:bodyPr>
          <a:lstStyle>
            <a:lvl1pPr>
              <a:defRPr sz="3200">
                <a:solidFill>
                  <a:schemeClr val="tx2"/>
                </a:solidFill>
              </a:defRPr>
            </a:lvl1pPr>
          </a:lstStyle>
          <a:p>
            <a:r>
              <a:rPr lang="zh-CN" altLang="en-US" smtClean="0"/>
              <a:t>单击此处编辑母版标题样式</a:t>
            </a:r>
            <a:endParaRPr lang="zh-CN" altLang="en-US" dirty="0"/>
          </a:p>
        </p:txBody>
      </p:sp>
      <p:sp>
        <p:nvSpPr>
          <p:cNvPr id="5" name="灯片编号占位符 2"/>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pic>
        <p:nvPicPr>
          <p:cNvPr id="3" name="Picture 2" descr="E:\PPT素材\图片素材\达内素材\banner2.jpg"/>
          <p:cNvPicPr>
            <a:picLocks noChangeAspect="1" noChangeArrowheads="1"/>
          </p:cNvPicPr>
          <p:nvPr/>
        </p:nvPicPr>
        <p:blipFill>
          <a:blip r:embed="rId2"/>
          <a:srcRect/>
          <a:stretch>
            <a:fillRect/>
          </a:stretch>
        </p:blipFill>
        <p:spPr bwMode="auto">
          <a:xfrm>
            <a:off x="0" y="2519363"/>
            <a:ext cx="9144000" cy="1931987"/>
          </a:xfrm>
          <a:prstGeom prst="rect">
            <a:avLst/>
          </a:prstGeom>
          <a:noFill/>
          <a:ln w="9525">
            <a:noFill/>
            <a:miter lim="800000"/>
            <a:headEnd/>
            <a:tailEnd/>
          </a:ln>
        </p:spPr>
      </p:pic>
      <p:pic>
        <p:nvPicPr>
          <p:cNvPr id="4" name="图片 6" descr="Logo(达内-白色)_Link.png"/>
          <p:cNvPicPr>
            <a:picLocks noChangeAspect="1"/>
          </p:cNvPicPr>
          <p:nvPr/>
        </p:nvPicPr>
        <p:blipFill>
          <a:blip r:embed="rId3"/>
          <a:srcRect/>
          <a:stretch>
            <a:fillRect/>
          </a:stretch>
        </p:blipFill>
        <p:spPr bwMode="auto">
          <a:xfrm>
            <a:off x="7324725" y="6261100"/>
            <a:ext cx="1819275" cy="596900"/>
          </a:xfrm>
          <a:prstGeom prst="rect">
            <a:avLst/>
          </a:prstGeom>
          <a:noFill/>
          <a:ln w="9525">
            <a:noFill/>
            <a:miter lim="800000"/>
            <a:headEnd/>
            <a:tailEnd/>
          </a:ln>
        </p:spPr>
      </p:pic>
      <p:sp>
        <p:nvSpPr>
          <p:cNvPr id="5" name="标题 1"/>
          <p:cNvSpPr>
            <a:spLocks noGrp="1"/>
          </p:cNvSpPr>
          <p:nvPr>
            <p:ph type="title"/>
          </p:nvPr>
        </p:nvSpPr>
        <p:spPr>
          <a:xfrm>
            <a:off x="5429256" y="2857496"/>
            <a:ext cx="3400452" cy="1143000"/>
          </a:xfrm>
          <a:noFill/>
          <a:ln>
            <a:noFill/>
          </a:ln>
        </p:spPr>
        <p:txBody>
          <a:bodyPr>
            <a:noAutofit/>
          </a:bodyPr>
          <a:lstStyle>
            <a:lvl1pPr>
              <a:defRPr sz="3200">
                <a:solidFill>
                  <a:schemeClr val="tx2"/>
                </a:solidFill>
              </a:defRPr>
            </a:lvl1pPr>
          </a:lstStyle>
          <a:p>
            <a:r>
              <a:rPr lang="zh-CN" altLang="en-US" smtClean="0"/>
              <a:t>单击此处编辑母版标题样式</a:t>
            </a:r>
            <a:endParaRPr lang="zh-CN" altLang="en-US" dirty="0"/>
          </a:p>
        </p:txBody>
      </p:sp>
      <p:sp>
        <p:nvSpPr>
          <p:cNvPr id="6" name="灯片编号占位符 2"/>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pic>
        <p:nvPicPr>
          <p:cNvPr id="3" name="Picture 2" descr="E:\PPT素材\图片素材\达内素材\banner3.jpg"/>
          <p:cNvPicPr>
            <a:picLocks noChangeAspect="1" noChangeArrowheads="1"/>
          </p:cNvPicPr>
          <p:nvPr/>
        </p:nvPicPr>
        <p:blipFill>
          <a:blip r:embed="rId2"/>
          <a:srcRect/>
          <a:stretch>
            <a:fillRect/>
          </a:stretch>
        </p:blipFill>
        <p:spPr bwMode="auto">
          <a:xfrm>
            <a:off x="0" y="2519363"/>
            <a:ext cx="9144000" cy="1931987"/>
          </a:xfrm>
          <a:prstGeom prst="rect">
            <a:avLst/>
          </a:prstGeom>
          <a:noFill/>
          <a:ln w="9525">
            <a:noFill/>
            <a:miter lim="800000"/>
            <a:headEnd/>
            <a:tailEnd/>
          </a:ln>
        </p:spPr>
      </p:pic>
      <p:pic>
        <p:nvPicPr>
          <p:cNvPr id="4" name="图片 6" descr="Logo(达内-白色)_Link.png"/>
          <p:cNvPicPr>
            <a:picLocks noChangeAspect="1"/>
          </p:cNvPicPr>
          <p:nvPr/>
        </p:nvPicPr>
        <p:blipFill>
          <a:blip r:embed="rId3"/>
          <a:srcRect/>
          <a:stretch>
            <a:fillRect/>
          </a:stretch>
        </p:blipFill>
        <p:spPr bwMode="auto">
          <a:xfrm>
            <a:off x="7324725" y="6261100"/>
            <a:ext cx="1819275" cy="596900"/>
          </a:xfrm>
          <a:prstGeom prst="rect">
            <a:avLst/>
          </a:prstGeom>
          <a:noFill/>
          <a:ln w="9525">
            <a:noFill/>
            <a:miter lim="800000"/>
            <a:headEnd/>
            <a:tailEnd/>
          </a:ln>
        </p:spPr>
      </p:pic>
      <p:sp>
        <p:nvSpPr>
          <p:cNvPr id="6" name="标题 1"/>
          <p:cNvSpPr>
            <a:spLocks noGrp="1"/>
          </p:cNvSpPr>
          <p:nvPr>
            <p:ph type="title"/>
          </p:nvPr>
        </p:nvSpPr>
        <p:spPr>
          <a:xfrm>
            <a:off x="5429256" y="2857496"/>
            <a:ext cx="3400452" cy="1143000"/>
          </a:xfrm>
          <a:noFill/>
          <a:ln>
            <a:noFill/>
          </a:ln>
        </p:spPr>
        <p:txBody>
          <a:bodyPr>
            <a:noAutofit/>
          </a:bodyPr>
          <a:lstStyle>
            <a:lvl1pPr>
              <a:defRPr sz="3200">
                <a:solidFill>
                  <a:schemeClr val="tx2"/>
                </a:solidFill>
              </a:defRPr>
            </a:lvl1pPr>
          </a:lstStyle>
          <a:p>
            <a:r>
              <a:rPr lang="zh-CN" altLang="en-US" smtClean="0"/>
              <a:t>单击此处编辑母版标题样式</a:t>
            </a:r>
            <a:endParaRPr lang="zh-CN" altLang="en-US" dirty="0"/>
          </a:p>
        </p:txBody>
      </p:sp>
      <p:sp>
        <p:nvSpPr>
          <p:cNvPr id="5" name="灯片编号占位符 2"/>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pic>
        <p:nvPicPr>
          <p:cNvPr id="3" name="Picture 2" descr="E:\PPT素材\图片素材\达内素材\banner8.jpg"/>
          <p:cNvPicPr>
            <a:picLocks noChangeAspect="1" noChangeArrowheads="1"/>
          </p:cNvPicPr>
          <p:nvPr/>
        </p:nvPicPr>
        <p:blipFill>
          <a:blip r:embed="rId2"/>
          <a:srcRect/>
          <a:stretch>
            <a:fillRect/>
          </a:stretch>
        </p:blipFill>
        <p:spPr bwMode="auto">
          <a:xfrm>
            <a:off x="0" y="2519363"/>
            <a:ext cx="9144000" cy="1931987"/>
          </a:xfrm>
          <a:prstGeom prst="rect">
            <a:avLst/>
          </a:prstGeom>
          <a:noFill/>
          <a:ln w="9525">
            <a:noFill/>
            <a:miter lim="800000"/>
            <a:headEnd/>
            <a:tailEnd/>
          </a:ln>
        </p:spPr>
      </p:pic>
      <p:pic>
        <p:nvPicPr>
          <p:cNvPr id="4" name="图片 6" descr="Logo(达内-白色)_Link.png"/>
          <p:cNvPicPr>
            <a:picLocks noChangeAspect="1"/>
          </p:cNvPicPr>
          <p:nvPr/>
        </p:nvPicPr>
        <p:blipFill>
          <a:blip r:embed="rId3"/>
          <a:srcRect/>
          <a:stretch>
            <a:fillRect/>
          </a:stretch>
        </p:blipFill>
        <p:spPr bwMode="auto">
          <a:xfrm>
            <a:off x="7324725" y="6261100"/>
            <a:ext cx="1819275" cy="596900"/>
          </a:xfrm>
          <a:prstGeom prst="rect">
            <a:avLst/>
          </a:prstGeom>
          <a:noFill/>
          <a:ln w="9525">
            <a:noFill/>
            <a:miter lim="800000"/>
            <a:headEnd/>
            <a:tailEnd/>
          </a:ln>
        </p:spPr>
      </p:pic>
      <p:sp>
        <p:nvSpPr>
          <p:cNvPr id="6" name="标题 1"/>
          <p:cNvSpPr>
            <a:spLocks noGrp="1"/>
          </p:cNvSpPr>
          <p:nvPr>
            <p:ph type="title"/>
          </p:nvPr>
        </p:nvSpPr>
        <p:spPr>
          <a:xfrm>
            <a:off x="5429256" y="2857496"/>
            <a:ext cx="3400452" cy="1143000"/>
          </a:xfrm>
          <a:noFill/>
          <a:ln>
            <a:noFill/>
          </a:ln>
        </p:spPr>
        <p:txBody>
          <a:bodyPr>
            <a:noAutofit/>
          </a:bodyPr>
          <a:lstStyle>
            <a:lvl1pPr>
              <a:defRPr sz="3200">
                <a:solidFill>
                  <a:schemeClr val="tx2"/>
                </a:solidFill>
              </a:defRPr>
            </a:lvl1pPr>
          </a:lstStyle>
          <a:p>
            <a:r>
              <a:rPr lang="zh-CN" altLang="en-US" smtClean="0"/>
              <a:t>单击此处编辑母版标题样式</a:t>
            </a:r>
            <a:endParaRPr lang="zh-CN" altLang="en-US" dirty="0"/>
          </a:p>
        </p:txBody>
      </p:sp>
      <p:sp>
        <p:nvSpPr>
          <p:cNvPr id="5" name="灯片编号占位符 2"/>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pic>
        <p:nvPicPr>
          <p:cNvPr id="3" name="Picture 2" descr="E:\照片\企业答谢会名企素材\达内IT企业联盟部分参会企业logo展示.JPG"/>
          <p:cNvPicPr>
            <a:picLocks noChangeAspect="1" noChangeArrowheads="1"/>
          </p:cNvPicPr>
          <p:nvPr/>
        </p:nvPicPr>
        <p:blipFill>
          <a:blip r:embed="rId2"/>
          <a:srcRect r="10490"/>
          <a:stretch>
            <a:fillRect/>
          </a:stretch>
        </p:blipFill>
        <p:spPr bwMode="auto">
          <a:xfrm>
            <a:off x="0" y="0"/>
            <a:ext cx="9144000" cy="6810375"/>
          </a:xfrm>
          <a:prstGeom prst="rect">
            <a:avLst/>
          </a:prstGeom>
          <a:noFill/>
          <a:ln w="9525">
            <a:noFill/>
            <a:miter lim="800000"/>
            <a:headEnd/>
            <a:tailEnd/>
          </a:ln>
        </p:spPr>
      </p:pic>
      <p:sp>
        <p:nvSpPr>
          <p:cNvPr id="2" name="标题 1"/>
          <p:cNvSpPr>
            <a:spLocks noGrp="1"/>
          </p:cNvSpPr>
          <p:nvPr>
            <p:ph type="title"/>
          </p:nvPr>
        </p:nvSpPr>
        <p:spPr>
          <a:xfrm>
            <a:off x="0" y="3786191"/>
            <a:ext cx="9144000" cy="1714512"/>
          </a:xfrm>
          <a:prstGeom prst="rect">
            <a:avLst/>
          </a:prstGeom>
          <a:solidFill>
            <a:schemeClr val="tx2">
              <a:alpha val="74000"/>
            </a:schemeClr>
          </a:solidFill>
        </p:spPr>
        <p:txBody>
          <a:bodyPr/>
          <a:lstStyle/>
          <a:p>
            <a:r>
              <a:rPr lang="zh-CN" altLang="en-US" smtClean="0"/>
              <a:t>单击此处编辑母版标题样式</a:t>
            </a:r>
            <a:endParaRPr lang="zh-CN" altLang="en-US"/>
          </a:p>
        </p:txBody>
      </p:sp>
      <p:sp>
        <p:nvSpPr>
          <p:cNvPr id="4" name="灯片编号占位符 2"/>
          <p:cNvSpPr>
            <a:spLocks noGrp="1"/>
          </p:cNvSpPr>
          <p:nvPr>
            <p:ph type="sldNum" sz="quarter" idx="10"/>
          </p:nvPr>
        </p:nvSpPr>
        <p:spPr/>
        <p:txBody>
          <a:bodyPr/>
          <a:lstStyle>
            <a:lvl1pPr>
              <a:defRPr/>
            </a:lvl1pPr>
          </a:lstStyle>
          <a:p>
            <a:fld id="{E822539E-AAD6-40A4-9EFE-B8DA55C66E75}"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oundRect">
            <a:avLst>
              <a:gd name="adj" fmla="val 16667"/>
            </a:avLst>
          </a:prstGeom>
          <a:solidFill>
            <a:schemeClr val="tx2"/>
          </a:solidFill>
          <a:ln w="9525">
            <a:solidFill>
              <a:schemeClr val="tx2"/>
            </a:solidFill>
            <a:round/>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fld id="{E822539E-AAD6-40A4-9EFE-B8DA55C66E75}"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rtl="0" eaLnBrk="1" fontAlgn="base" hangingPunct="1">
        <a:spcBef>
          <a:spcPct val="0"/>
        </a:spcBef>
        <a:spcAft>
          <a:spcPct val="0"/>
        </a:spcAft>
        <a:defRPr sz="4400" kern="1200">
          <a:solidFill>
            <a:schemeClr val="bg1"/>
          </a:solidFill>
          <a:latin typeface="微软雅黑" pitchFamily="34" charset="-122"/>
          <a:ea typeface="微软雅黑" pitchFamily="34" charset="-122"/>
          <a:cs typeface="+mj-cs"/>
        </a:defRPr>
      </a:lvl1pPr>
      <a:lvl2pPr algn="ctr" rtl="0" eaLnBrk="1" fontAlgn="base" hangingPunct="1">
        <a:spcBef>
          <a:spcPct val="0"/>
        </a:spcBef>
        <a:spcAft>
          <a:spcPct val="0"/>
        </a:spcAft>
        <a:defRPr sz="4400">
          <a:solidFill>
            <a:schemeClr val="bg1"/>
          </a:solidFill>
          <a:latin typeface="微软雅黑" pitchFamily="34" charset="-122"/>
          <a:ea typeface="微软雅黑" pitchFamily="34" charset="-122"/>
        </a:defRPr>
      </a:lvl2pPr>
      <a:lvl3pPr algn="ctr" rtl="0" eaLnBrk="1" fontAlgn="base" hangingPunct="1">
        <a:spcBef>
          <a:spcPct val="0"/>
        </a:spcBef>
        <a:spcAft>
          <a:spcPct val="0"/>
        </a:spcAft>
        <a:defRPr sz="4400">
          <a:solidFill>
            <a:schemeClr val="bg1"/>
          </a:solidFill>
          <a:latin typeface="微软雅黑" pitchFamily="34" charset="-122"/>
          <a:ea typeface="微软雅黑" pitchFamily="34" charset="-122"/>
        </a:defRPr>
      </a:lvl3pPr>
      <a:lvl4pPr algn="ctr" rtl="0" eaLnBrk="1" fontAlgn="base" hangingPunct="1">
        <a:spcBef>
          <a:spcPct val="0"/>
        </a:spcBef>
        <a:spcAft>
          <a:spcPct val="0"/>
        </a:spcAft>
        <a:defRPr sz="4400">
          <a:solidFill>
            <a:schemeClr val="bg1"/>
          </a:solidFill>
          <a:latin typeface="微软雅黑" pitchFamily="34" charset="-122"/>
          <a:ea typeface="微软雅黑" pitchFamily="34" charset="-122"/>
        </a:defRPr>
      </a:lvl4pPr>
      <a:lvl5pPr algn="ctr" rtl="0" eaLnBrk="1" fontAlgn="base" hangingPunct="1">
        <a:spcBef>
          <a:spcPct val="0"/>
        </a:spcBef>
        <a:spcAft>
          <a:spcPct val="0"/>
        </a:spcAft>
        <a:defRPr sz="4400">
          <a:solidFill>
            <a:schemeClr val="bg1"/>
          </a:solidFill>
          <a:latin typeface="微软雅黑" pitchFamily="34" charset="-122"/>
          <a:ea typeface="微软雅黑" pitchFamily="34" charset="-122"/>
        </a:defRPr>
      </a:lvl5pPr>
      <a:lvl6pPr marL="457200" algn="ctr" rtl="0" eaLnBrk="1" fontAlgn="base" hangingPunct="1">
        <a:spcBef>
          <a:spcPct val="0"/>
        </a:spcBef>
        <a:spcAft>
          <a:spcPct val="0"/>
        </a:spcAft>
        <a:defRPr sz="4400">
          <a:solidFill>
            <a:schemeClr val="bg1"/>
          </a:solidFill>
          <a:latin typeface="微软雅黑" pitchFamily="34" charset="-122"/>
          <a:ea typeface="微软雅黑" pitchFamily="34" charset="-122"/>
        </a:defRPr>
      </a:lvl6pPr>
      <a:lvl7pPr marL="914400" algn="ctr" rtl="0" eaLnBrk="1" fontAlgn="base" hangingPunct="1">
        <a:spcBef>
          <a:spcPct val="0"/>
        </a:spcBef>
        <a:spcAft>
          <a:spcPct val="0"/>
        </a:spcAft>
        <a:defRPr sz="4400">
          <a:solidFill>
            <a:schemeClr val="bg1"/>
          </a:solidFill>
          <a:latin typeface="微软雅黑" pitchFamily="34" charset="-122"/>
          <a:ea typeface="微软雅黑" pitchFamily="34" charset="-122"/>
        </a:defRPr>
      </a:lvl7pPr>
      <a:lvl8pPr marL="1371600" algn="ctr" rtl="0" eaLnBrk="1" fontAlgn="base" hangingPunct="1">
        <a:spcBef>
          <a:spcPct val="0"/>
        </a:spcBef>
        <a:spcAft>
          <a:spcPct val="0"/>
        </a:spcAft>
        <a:defRPr sz="4400">
          <a:solidFill>
            <a:schemeClr val="bg1"/>
          </a:solidFill>
          <a:latin typeface="微软雅黑" pitchFamily="34" charset="-122"/>
          <a:ea typeface="微软雅黑" pitchFamily="34" charset="-122"/>
        </a:defRPr>
      </a:lvl8pPr>
      <a:lvl9pPr marL="1828800" algn="ctr" rtl="0" eaLnBrk="1" fontAlgn="base" hangingPunct="1">
        <a:spcBef>
          <a:spcPct val="0"/>
        </a:spcBef>
        <a:spcAft>
          <a:spcPct val="0"/>
        </a:spcAft>
        <a:defRPr sz="4400">
          <a:solidFill>
            <a:schemeClr val="bg1"/>
          </a:solidFill>
          <a:latin typeface="微软雅黑" pitchFamily="34" charset="-122"/>
          <a:ea typeface="微软雅黑" pitchFamily="34"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微软雅黑" pitchFamily="34" charset="-122"/>
          <a:ea typeface="微软雅黑" pitchFamily="34" charset="-122"/>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微软雅黑" pitchFamily="34" charset="-122"/>
          <a:ea typeface="微软雅黑" pitchFamily="34" charset="-122"/>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微软雅黑" pitchFamily="34" charset="-122"/>
          <a:ea typeface="微软雅黑" pitchFamily="34" charset="-122"/>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微软雅黑" pitchFamily="34" charset="-122"/>
          <a:ea typeface="微软雅黑" pitchFamily="34" charset="-122"/>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package" Target="../embeddings/Microsoft_Office_Word___1.docx"/><Relationship Id="rId2" Type="http://schemas.openxmlformats.org/officeDocument/2006/relationships/slideLayout" Target="../slideLayouts/slideLayout8.xml"/><Relationship Id="rId1" Type="http://schemas.openxmlformats.org/officeDocument/2006/relationships/vmlDrawing" Target="../drawings/vmlDrawing1.v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p:txBody>
          <a:bodyPr/>
          <a:lstStyle/>
          <a:p>
            <a:endParaRPr lang="zh-CN" altLang="en-US" dirty="0"/>
          </a:p>
        </p:txBody>
      </p:sp>
      <p:sp>
        <p:nvSpPr>
          <p:cNvPr id="2" name="标题 1"/>
          <p:cNvSpPr>
            <a:spLocks noGrp="1"/>
          </p:cNvSpPr>
          <p:nvPr>
            <p:ph type="ctrTitle"/>
          </p:nvPr>
        </p:nvSpPr>
        <p:spPr/>
        <p:txBody>
          <a:bodyPr/>
          <a:lstStyle/>
          <a:p>
            <a:r>
              <a:rPr lang="en-US" altLang="zh-CN" dirty="0" smtClean="0"/>
              <a:t>C++</a:t>
            </a:r>
            <a:r>
              <a:rPr lang="zh-CN" altLang="en-US" dirty="0" smtClean="0"/>
              <a:t>模板编程和</a:t>
            </a:r>
            <a:r>
              <a:rPr lang="en-US" altLang="zh-CN" dirty="0" smtClean="0"/>
              <a:t>STL</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smtClean="0"/>
              <a:t>C++</a:t>
            </a:r>
            <a:r>
              <a:rPr lang="zh-CN" altLang="en-US" dirty="0" smtClean="0"/>
              <a:t>模板编程</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lstStyle/>
          <a:p>
            <a:r>
              <a:rPr lang="zh-CN" altLang="en-US" dirty="0" smtClean="0"/>
              <a:t>模板</a:t>
            </a:r>
            <a:endParaRPr lang="zh-CN" altLang="en-US" dirty="0"/>
          </a:p>
        </p:txBody>
      </p:sp>
      <p:sp>
        <p:nvSpPr>
          <p:cNvPr id="5" name="内容占位符 4"/>
          <p:cNvSpPr>
            <a:spLocks noGrp="1"/>
          </p:cNvSpPr>
          <p:nvPr>
            <p:ph idx="1"/>
          </p:nvPr>
        </p:nvSpPr>
        <p:spPr/>
        <p:txBody>
          <a:bodyPr>
            <a:normAutofit fontScale="85000" lnSpcReduction="10000"/>
          </a:bodyPr>
          <a:lstStyle/>
          <a:p>
            <a:r>
              <a:rPr lang="zh-CN" altLang="en-US" dirty="0" smtClean="0"/>
              <a:t>模板是</a:t>
            </a:r>
            <a:r>
              <a:rPr lang="en-US" altLang="zh-CN" dirty="0" smtClean="0"/>
              <a:t>C++</a:t>
            </a:r>
            <a:r>
              <a:rPr lang="zh-CN" altLang="en-US" dirty="0" smtClean="0"/>
              <a:t>强大的软件复用特性</a:t>
            </a:r>
            <a:endParaRPr lang="en-US" altLang="zh-CN" dirty="0" smtClean="0"/>
          </a:p>
          <a:p>
            <a:r>
              <a:rPr lang="zh-CN" altLang="en-US" dirty="0" smtClean="0"/>
              <a:t>属于泛型编程技术</a:t>
            </a:r>
            <a:r>
              <a:rPr lang="en-US" altLang="zh-CN" dirty="0" smtClean="0"/>
              <a:t>(generic programming)</a:t>
            </a:r>
          </a:p>
          <a:p>
            <a:pPr>
              <a:lnSpc>
                <a:spcPct val="110000"/>
              </a:lnSpc>
            </a:pPr>
            <a:r>
              <a:rPr lang="zh-CN" altLang="en-US" dirty="0" smtClean="0"/>
              <a:t>代码要想重用，就得通用，通用的一大障碍就是类型限制。若代码能自动适应类型的变化，通用进而重用就成为可能；</a:t>
            </a:r>
          </a:p>
          <a:p>
            <a:pPr>
              <a:lnSpc>
                <a:spcPct val="110000"/>
              </a:lnSpc>
            </a:pPr>
            <a:r>
              <a:rPr lang="zh-CN" altLang="en-US" dirty="0" smtClean="0"/>
              <a:t>“自动适应类型的变化” 就是将确定的类型变成了不确定的东西，函数的参数就是这种不确定的东西，将类型参数化是解决途径。这是继值、地址参数化之后，将类型也参数化的技术，叫做模板。</a:t>
            </a:r>
            <a:endParaRPr lang="en-US" altLang="zh-CN" dirty="0" smtClean="0"/>
          </a:p>
          <a:p>
            <a:pPr>
              <a:lnSpc>
                <a:spcPct val="110000"/>
              </a:lnSpc>
            </a:pPr>
            <a:r>
              <a:rPr lang="zh-CN" altLang="en-US" dirty="0" smtClean="0"/>
              <a:t>模板就是类型的参数化技术；</a:t>
            </a:r>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a:xfrm>
            <a:off x="250825" y="1357298"/>
            <a:ext cx="8642350" cy="5240352"/>
          </a:xfrm>
        </p:spPr>
        <p:txBody>
          <a:bodyPr/>
          <a:lstStyle/>
          <a:p>
            <a:pPr eaLnBrk="1" hangingPunct="1"/>
            <a:r>
              <a:rPr lang="zh-CN" altLang="en-US" dirty="0" smtClean="0"/>
              <a:t>模板代表了一个代码家族</a:t>
            </a:r>
          </a:p>
          <a:p>
            <a:pPr lvl="1">
              <a:buFont typeface="Wingdings" pitchFamily="2" charset="2"/>
              <a:buNone/>
            </a:pPr>
            <a:r>
              <a:rPr lang="zh-CN" altLang="en-US" dirty="0" smtClean="0"/>
              <a:t>   函数模板代表了一个函数家族；</a:t>
            </a:r>
          </a:p>
          <a:p>
            <a:pPr lvl="1">
              <a:buFont typeface="Wingdings" pitchFamily="2" charset="2"/>
              <a:buNone/>
            </a:pPr>
            <a:r>
              <a:rPr lang="zh-CN" altLang="en-US" dirty="0" smtClean="0"/>
              <a:t>   类模板代表了一个类家族；</a:t>
            </a:r>
          </a:p>
          <a:p>
            <a:pPr eaLnBrk="1" hangingPunct="1"/>
            <a:r>
              <a:rPr lang="zh-CN" altLang="en-US" dirty="0" smtClean="0"/>
              <a:t>模板引入的类型的抽象，是泛型程序设计的基础，在</a:t>
            </a:r>
            <a:r>
              <a:rPr lang="en-US" altLang="zh-CN" dirty="0" smtClean="0"/>
              <a:t>STL</a:t>
            </a:r>
            <a:r>
              <a:rPr lang="zh-CN" altLang="en-US" dirty="0" smtClean="0"/>
              <a:t>中得到最广泛的应用。</a:t>
            </a:r>
          </a:p>
          <a:p>
            <a:pPr eaLnBrk="1" hangingPunct="1"/>
            <a:r>
              <a:rPr lang="zh-CN" altLang="en-US" dirty="0" smtClean="0"/>
              <a:t>泛型编程技术与面向对象的编程风格在编程思想上是相左的，面向对象风格表现了数据和操作被捆绑封装为一体；而泛型编程技术则极力将数据和操作分离、独立。</a:t>
            </a:r>
          </a:p>
        </p:txBody>
      </p:sp>
      <p:sp>
        <p:nvSpPr>
          <p:cNvPr id="478213" name="AutoShape 5"/>
          <p:cNvSpPr>
            <a:spLocks noChangeArrowheads="1"/>
          </p:cNvSpPr>
          <p:nvPr/>
        </p:nvSpPr>
        <p:spPr bwMode="auto">
          <a:xfrm>
            <a:off x="6572264" y="1285860"/>
            <a:ext cx="2843212" cy="1150938"/>
          </a:xfrm>
          <a:prstGeom prst="wedgeRoundRectCallout">
            <a:avLst>
              <a:gd name="adj1" fmla="val -95560"/>
              <a:gd name="adj2" fmla="val 59380"/>
              <a:gd name="adj3" fmla="val 16667"/>
            </a:avLst>
          </a:prstGeom>
          <a:gradFill rotWithShape="1">
            <a:gsLst>
              <a:gs pos="0">
                <a:srgbClr val="FF3300"/>
              </a:gs>
              <a:gs pos="50000">
                <a:srgbClr val="FFFF00"/>
              </a:gs>
              <a:gs pos="100000">
                <a:srgbClr val="FF3300"/>
              </a:gs>
            </a:gsLst>
            <a:lin ang="5400000" scaled="1"/>
          </a:gradFill>
          <a:ln w="9525">
            <a:solidFill>
              <a:srgbClr val="000000"/>
            </a:solidFill>
            <a:miter lim="800000"/>
            <a:headEnd/>
            <a:tailEnd/>
          </a:ln>
        </p:spPr>
        <p:txBody>
          <a:bodyPr/>
          <a:lstStyle/>
          <a:p>
            <a:pPr eaLnBrk="1" hangingPunct="1">
              <a:spcBef>
                <a:spcPct val="20000"/>
              </a:spcBef>
              <a:buClr>
                <a:schemeClr val="accent2"/>
              </a:buClr>
              <a:buSzPct val="80000"/>
              <a:buFont typeface="Wingdings" pitchFamily="2" charset="2"/>
              <a:buNone/>
            </a:pPr>
            <a:r>
              <a:rPr lang="zh-CN" altLang="en-US" sz="2800" dirty="0">
                <a:solidFill>
                  <a:srgbClr val="0000FF"/>
                </a:solidFill>
                <a:latin typeface="Arial" pitchFamily="34" charset="0"/>
                <a:ea typeface="楷体_GB2312" pitchFamily="49" charset="-122"/>
              </a:rPr>
              <a:t>模板其实就是“代码生成器”</a:t>
            </a:r>
            <a:endParaRPr lang="zh-CN" altLang="en-US" sz="2800" dirty="0">
              <a:solidFill>
                <a:srgbClr val="0000FF"/>
              </a:solidFill>
            </a:endParaRPr>
          </a:p>
        </p:txBody>
      </p:sp>
      <p:sp>
        <p:nvSpPr>
          <p:cNvPr id="5" name="标题 3"/>
          <p:cNvSpPr>
            <a:spLocks noGrp="1"/>
          </p:cNvSpPr>
          <p:nvPr>
            <p:ph type="ctrTitle"/>
          </p:nvPr>
        </p:nvSpPr>
        <p:spPr>
          <a:xfrm>
            <a:off x="0" y="357166"/>
            <a:ext cx="8201060" cy="928695"/>
          </a:xfrm>
        </p:spPr>
        <p:txBody>
          <a:bodyPr/>
          <a:lstStyle/>
          <a:p>
            <a:r>
              <a:rPr lang="zh-CN" altLang="en-US" dirty="0" smtClean="0"/>
              <a:t>模板分为函数模板和类模板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78213"/>
                                        </p:tgtEl>
                                        <p:attrNameLst>
                                          <p:attrName>style.visibility</p:attrName>
                                        </p:attrNameLst>
                                      </p:cBhvr>
                                      <p:to>
                                        <p:strVal val="visible"/>
                                      </p:to>
                                    </p:set>
                                    <p:animEffect transition="in" filter="fade">
                                      <p:cBhvr>
                                        <p:cTn id="7" dur="1000"/>
                                        <p:tgtEl>
                                          <p:spTgt spid="478213"/>
                                        </p:tgtEl>
                                      </p:cBhvr>
                                    </p:animEffect>
                                    <p:anim calcmode="lin" valueType="num">
                                      <p:cBhvr>
                                        <p:cTn id="8" dur="1000" fill="hold"/>
                                        <p:tgtEl>
                                          <p:spTgt spid="478213"/>
                                        </p:tgtEl>
                                        <p:attrNameLst>
                                          <p:attrName>style.rotation</p:attrName>
                                        </p:attrNameLst>
                                      </p:cBhvr>
                                      <p:tavLst>
                                        <p:tav tm="0">
                                          <p:val>
                                            <p:fltVal val="720"/>
                                          </p:val>
                                        </p:tav>
                                        <p:tav tm="100000">
                                          <p:val>
                                            <p:fltVal val="0"/>
                                          </p:val>
                                        </p:tav>
                                      </p:tavLst>
                                    </p:anim>
                                    <p:anim calcmode="lin" valueType="num">
                                      <p:cBhvr>
                                        <p:cTn id="9" dur="1000" fill="hold"/>
                                        <p:tgtEl>
                                          <p:spTgt spid="478213"/>
                                        </p:tgtEl>
                                        <p:attrNameLst>
                                          <p:attrName>ppt_h</p:attrName>
                                        </p:attrNameLst>
                                      </p:cBhvr>
                                      <p:tavLst>
                                        <p:tav tm="0">
                                          <p:val>
                                            <p:fltVal val="0"/>
                                          </p:val>
                                        </p:tav>
                                        <p:tav tm="100000">
                                          <p:val>
                                            <p:strVal val="#ppt_h"/>
                                          </p:val>
                                        </p:tav>
                                      </p:tavLst>
                                    </p:anim>
                                    <p:anim calcmode="lin" valueType="num">
                                      <p:cBhvr>
                                        <p:cTn id="10" dur="1000" fill="hold"/>
                                        <p:tgtEl>
                                          <p:spTgt spid="478213"/>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026"/>
          <p:cNvSpPr>
            <a:spLocks noGrp="1" noChangeArrowheads="1"/>
          </p:cNvSpPr>
          <p:nvPr>
            <p:ph type="title"/>
          </p:nvPr>
        </p:nvSpPr>
        <p:spPr>
          <a:xfrm>
            <a:off x="0" y="428604"/>
            <a:ext cx="8020050" cy="766784"/>
          </a:xfrm>
        </p:spPr>
        <p:txBody>
          <a:bodyPr/>
          <a:lstStyle/>
          <a:p>
            <a:pPr eaLnBrk="1" hangingPunct="1"/>
            <a:r>
              <a:rPr lang="zh-CN" altLang="en-US" dirty="0" smtClean="0"/>
              <a:t>模板使用模型</a:t>
            </a:r>
          </a:p>
        </p:txBody>
      </p:sp>
      <p:sp>
        <p:nvSpPr>
          <p:cNvPr id="191491" name="Rectangle 1027"/>
          <p:cNvSpPr>
            <a:spLocks noGrp="1" noChangeArrowheads="1"/>
          </p:cNvSpPr>
          <p:nvPr>
            <p:ph type="body" idx="1"/>
          </p:nvPr>
        </p:nvSpPr>
        <p:spPr>
          <a:xfrm>
            <a:off x="7524750" y="4797425"/>
            <a:ext cx="1800225" cy="720725"/>
          </a:xfrm>
        </p:spPr>
        <p:txBody>
          <a:bodyPr/>
          <a:lstStyle/>
          <a:p>
            <a:pPr eaLnBrk="1" hangingPunct="1">
              <a:lnSpc>
                <a:spcPct val="120000"/>
              </a:lnSpc>
              <a:buFont typeface="Wingdings" pitchFamily="2" charset="2"/>
              <a:buNone/>
            </a:pPr>
            <a:r>
              <a:rPr lang="zh-CN" altLang="en-US" sz="2400" smtClean="0">
                <a:solidFill>
                  <a:schemeClr val="tx2"/>
                </a:solidFill>
              </a:rPr>
              <a:t>二级实例化</a:t>
            </a:r>
          </a:p>
        </p:txBody>
      </p:sp>
      <p:sp>
        <p:nvSpPr>
          <p:cNvPr id="32772" name="AutoShape 1031"/>
          <p:cNvSpPr>
            <a:spLocks noChangeArrowheads="1"/>
          </p:cNvSpPr>
          <p:nvPr/>
        </p:nvSpPr>
        <p:spPr bwMode="auto">
          <a:xfrm>
            <a:off x="3348038" y="1196975"/>
            <a:ext cx="1800225" cy="720725"/>
          </a:xfrm>
          <a:prstGeom prst="wedgeRoundRectCallout">
            <a:avLst>
              <a:gd name="adj1" fmla="val -50926"/>
              <a:gd name="adj2" fmla="val 28194"/>
              <a:gd name="adj3" fmla="val 16667"/>
            </a:avLst>
          </a:prstGeom>
          <a:gradFill rotWithShape="1">
            <a:gsLst>
              <a:gs pos="0">
                <a:srgbClr val="9900CC"/>
              </a:gs>
              <a:gs pos="100000">
                <a:srgbClr val="00CC99"/>
              </a:gs>
            </a:gsLst>
            <a:lin ang="5400000" scaled="1"/>
          </a:gradFill>
          <a:ln w="9525">
            <a:solidFill>
              <a:srgbClr val="000000"/>
            </a:solidFill>
            <a:miter lim="800000"/>
            <a:headEnd/>
            <a:tailEnd/>
          </a:ln>
        </p:spPr>
        <p:txBody>
          <a:bodyPr/>
          <a:lstStyle/>
          <a:p>
            <a:pPr marL="179388" lvl="1" eaLnBrk="1" hangingPunct="1">
              <a:lnSpc>
                <a:spcPct val="120000"/>
              </a:lnSpc>
              <a:spcBef>
                <a:spcPct val="20000"/>
              </a:spcBef>
              <a:buClr>
                <a:schemeClr val="accent2"/>
              </a:buClr>
            </a:pPr>
            <a:r>
              <a:rPr kumimoji="1" lang="zh-CN" altLang="en-US" sz="3200">
                <a:solidFill>
                  <a:srgbClr val="0000FF"/>
                </a:solidFill>
                <a:latin typeface="Arial" pitchFamily="34" charset="0"/>
                <a:ea typeface="楷体_GB2312" pitchFamily="49" charset="-122"/>
              </a:rPr>
              <a:t>模 板</a:t>
            </a:r>
          </a:p>
        </p:txBody>
      </p:sp>
      <p:sp>
        <p:nvSpPr>
          <p:cNvPr id="191496" name="AutoShape 1032"/>
          <p:cNvSpPr>
            <a:spLocks noChangeArrowheads="1"/>
          </p:cNvSpPr>
          <p:nvPr/>
        </p:nvSpPr>
        <p:spPr bwMode="auto">
          <a:xfrm>
            <a:off x="4716463" y="5805488"/>
            <a:ext cx="1584325" cy="576262"/>
          </a:xfrm>
          <a:prstGeom prst="wedgeRoundRectCallout">
            <a:avLst>
              <a:gd name="adj1" fmla="val -32463"/>
              <a:gd name="adj2" fmla="val -55509"/>
              <a:gd name="adj3" fmla="val 16667"/>
            </a:avLst>
          </a:prstGeom>
          <a:gradFill rotWithShape="1">
            <a:gsLst>
              <a:gs pos="0">
                <a:srgbClr val="000076"/>
              </a:gs>
              <a:gs pos="50000">
                <a:srgbClr val="0000FF"/>
              </a:gs>
              <a:gs pos="100000">
                <a:srgbClr val="000076"/>
              </a:gs>
            </a:gsLst>
            <a:lin ang="5400000" scaled="1"/>
          </a:gradFill>
          <a:ln w="9525">
            <a:solidFill>
              <a:srgbClr val="000000"/>
            </a:solidFill>
            <a:miter lim="800000"/>
            <a:headEnd/>
            <a:tailEnd/>
          </a:ln>
        </p:spPr>
        <p:txBody>
          <a:bodyPr/>
          <a:lstStyle/>
          <a:p>
            <a:pPr eaLnBrk="1" hangingPunct="1">
              <a:spcBef>
                <a:spcPct val="20000"/>
              </a:spcBef>
              <a:buClr>
                <a:schemeClr val="accent2"/>
              </a:buClr>
              <a:buSzPct val="80000"/>
              <a:buFont typeface="Wingdings" pitchFamily="2" charset="2"/>
              <a:buNone/>
            </a:pPr>
            <a:r>
              <a:rPr kumimoji="1" lang="zh-CN" altLang="en-US" sz="2800">
                <a:solidFill>
                  <a:schemeClr val="tx1"/>
                </a:solidFill>
                <a:latin typeface="Arial" pitchFamily="34" charset="0"/>
                <a:ea typeface="楷体_GB2312" pitchFamily="49" charset="-122"/>
              </a:rPr>
              <a:t>对象</a:t>
            </a:r>
            <a:r>
              <a:rPr kumimoji="1" lang="en-US" altLang="zh-CN" sz="2800">
                <a:solidFill>
                  <a:schemeClr val="tx1"/>
                </a:solidFill>
                <a:latin typeface="Arial" pitchFamily="34" charset="0"/>
                <a:ea typeface="楷体_GB2312" pitchFamily="49" charset="-122"/>
              </a:rPr>
              <a:t>1</a:t>
            </a:r>
          </a:p>
        </p:txBody>
      </p:sp>
      <p:sp>
        <p:nvSpPr>
          <p:cNvPr id="191497" name="AutoShape 1033"/>
          <p:cNvSpPr>
            <a:spLocks noChangeArrowheads="1"/>
          </p:cNvSpPr>
          <p:nvPr/>
        </p:nvSpPr>
        <p:spPr bwMode="auto">
          <a:xfrm>
            <a:off x="323850" y="4005263"/>
            <a:ext cx="2087563" cy="790575"/>
          </a:xfrm>
          <a:prstGeom prst="wedgeRoundRectCallout">
            <a:avLst>
              <a:gd name="adj1" fmla="val 14866"/>
              <a:gd name="adj2" fmla="val -50120"/>
              <a:gd name="adj3" fmla="val 16667"/>
            </a:avLst>
          </a:prstGeom>
          <a:gradFill rotWithShape="1">
            <a:gsLst>
              <a:gs pos="0">
                <a:srgbClr val="007600"/>
              </a:gs>
              <a:gs pos="50000">
                <a:srgbClr val="00FF00"/>
              </a:gs>
              <a:gs pos="100000">
                <a:srgbClr val="007600"/>
              </a:gs>
            </a:gsLst>
            <a:lin ang="5400000" scaled="1"/>
          </a:gradFill>
          <a:ln w="9525">
            <a:solidFill>
              <a:srgbClr val="000000"/>
            </a:solidFill>
            <a:miter lim="800000"/>
            <a:headEnd/>
            <a:tailEnd/>
          </a:ln>
        </p:spPr>
        <p:txBody>
          <a:bodyPr/>
          <a:lstStyle/>
          <a:p>
            <a:pPr eaLnBrk="1" hangingPunct="1">
              <a:spcBef>
                <a:spcPct val="20000"/>
              </a:spcBef>
              <a:buClr>
                <a:schemeClr val="accent2"/>
              </a:buClr>
              <a:buSzPct val="80000"/>
              <a:buFont typeface="Wingdings" pitchFamily="2" charset="2"/>
              <a:buNone/>
            </a:pPr>
            <a:r>
              <a:rPr kumimoji="1" lang="zh-CN" altLang="en-US" sz="3200">
                <a:solidFill>
                  <a:srgbClr val="0000FF"/>
                </a:solidFill>
                <a:latin typeface="Arial" pitchFamily="34" charset="0"/>
                <a:ea typeface="楷体_GB2312" pitchFamily="49" charset="-122"/>
              </a:rPr>
              <a:t>模板函数</a:t>
            </a:r>
          </a:p>
        </p:txBody>
      </p:sp>
      <p:sp>
        <p:nvSpPr>
          <p:cNvPr id="191498" name="AutoShape 1034"/>
          <p:cNvSpPr>
            <a:spLocks noChangeArrowheads="1"/>
          </p:cNvSpPr>
          <p:nvPr/>
        </p:nvSpPr>
        <p:spPr bwMode="auto">
          <a:xfrm>
            <a:off x="7559675" y="5805488"/>
            <a:ext cx="1584325" cy="576262"/>
          </a:xfrm>
          <a:prstGeom prst="wedgeRoundRectCallout">
            <a:avLst>
              <a:gd name="adj1" fmla="val -40583"/>
              <a:gd name="adj2" fmla="val -50551"/>
              <a:gd name="adj3" fmla="val 16667"/>
            </a:avLst>
          </a:prstGeom>
          <a:gradFill rotWithShape="1">
            <a:gsLst>
              <a:gs pos="0">
                <a:srgbClr val="000076"/>
              </a:gs>
              <a:gs pos="50000">
                <a:srgbClr val="0000FF"/>
              </a:gs>
              <a:gs pos="100000">
                <a:srgbClr val="000076"/>
              </a:gs>
            </a:gsLst>
            <a:lin ang="5400000" scaled="1"/>
          </a:gradFill>
          <a:ln w="9525">
            <a:solidFill>
              <a:srgbClr val="000000"/>
            </a:solidFill>
            <a:miter lim="800000"/>
            <a:headEnd/>
            <a:tailEnd/>
          </a:ln>
        </p:spPr>
        <p:txBody>
          <a:bodyPr/>
          <a:lstStyle/>
          <a:p>
            <a:pPr eaLnBrk="1" hangingPunct="1">
              <a:spcBef>
                <a:spcPct val="20000"/>
              </a:spcBef>
              <a:buClr>
                <a:schemeClr val="accent2"/>
              </a:buClr>
              <a:buSzPct val="80000"/>
              <a:buFont typeface="Wingdings" pitchFamily="2" charset="2"/>
              <a:buNone/>
            </a:pPr>
            <a:r>
              <a:rPr kumimoji="1" lang="zh-CN" altLang="en-US" sz="2800" dirty="0">
                <a:solidFill>
                  <a:schemeClr val="tx1"/>
                </a:solidFill>
                <a:latin typeface="Arial" pitchFamily="34" charset="0"/>
                <a:ea typeface="楷体_GB2312" pitchFamily="49" charset="-122"/>
              </a:rPr>
              <a:t>对象</a:t>
            </a:r>
            <a:r>
              <a:rPr kumimoji="1" lang="en-US" altLang="zh-CN" sz="2800" dirty="0">
                <a:solidFill>
                  <a:schemeClr val="tx1"/>
                </a:solidFill>
                <a:latin typeface="Arial" pitchFamily="34" charset="0"/>
                <a:ea typeface="楷体_GB2312" pitchFamily="49" charset="-122"/>
              </a:rPr>
              <a:t>n</a:t>
            </a:r>
          </a:p>
        </p:txBody>
      </p:sp>
      <p:sp>
        <p:nvSpPr>
          <p:cNvPr id="191500" name="AutoShape 1036"/>
          <p:cNvSpPr>
            <a:spLocks noChangeArrowheads="1"/>
          </p:cNvSpPr>
          <p:nvPr/>
        </p:nvSpPr>
        <p:spPr bwMode="auto">
          <a:xfrm>
            <a:off x="5867400" y="2205038"/>
            <a:ext cx="2160588" cy="720725"/>
          </a:xfrm>
          <a:prstGeom prst="wedgeRoundRectCallout">
            <a:avLst>
              <a:gd name="adj1" fmla="val -82329"/>
              <a:gd name="adj2" fmla="val -122028"/>
              <a:gd name="adj3" fmla="val 16667"/>
            </a:avLst>
          </a:prstGeom>
          <a:gradFill rotWithShape="1">
            <a:gsLst>
              <a:gs pos="0">
                <a:srgbClr val="FF3300"/>
              </a:gs>
              <a:gs pos="50000">
                <a:srgbClr val="FFFF00"/>
              </a:gs>
              <a:gs pos="100000">
                <a:srgbClr val="FF3300"/>
              </a:gs>
            </a:gsLst>
            <a:lin ang="5400000" scaled="1"/>
          </a:gradFill>
          <a:ln w="9525">
            <a:solidFill>
              <a:srgbClr val="000000"/>
            </a:solidFill>
            <a:miter lim="800000"/>
            <a:headEnd/>
            <a:tailEnd/>
          </a:ln>
        </p:spPr>
        <p:txBody>
          <a:bodyPr/>
          <a:lstStyle/>
          <a:p>
            <a:pPr marL="179388" lvl="1" eaLnBrk="1" hangingPunct="1">
              <a:lnSpc>
                <a:spcPct val="120000"/>
              </a:lnSpc>
              <a:spcBef>
                <a:spcPct val="20000"/>
              </a:spcBef>
              <a:buClr>
                <a:schemeClr val="accent2"/>
              </a:buClr>
            </a:pPr>
            <a:r>
              <a:rPr kumimoji="1" lang="zh-CN" altLang="en-US" sz="3200">
                <a:solidFill>
                  <a:srgbClr val="0000FF"/>
                </a:solidFill>
                <a:latin typeface="Arial" pitchFamily="34" charset="0"/>
                <a:ea typeface="楷体_GB2312" pitchFamily="49" charset="-122"/>
              </a:rPr>
              <a:t>类模 板</a:t>
            </a:r>
          </a:p>
        </p:txBody>
      </p:sp>
      <p:sp>
        <p:nvSpPr>
          <p:cNvPr id="191501" name="AutoShape 1037"/>
          <p:cNvSpPr>
            <a:spLocks noChangeArrowheads="1"/>
          </p:cNvSpPr>
          <p:nvPr/>
        </p:nvSpPr>
        <p:spPr bwMode="auto">
          <a:xfrm>
            <a:off x="468313" y="2349500"/>
            <a:ext cx="2376487" cy="720725"/>
          </a:xfrm>
          <a:prstGeom prst="wedgeRoundRectCallout">
            <a:avLst>
              <a:gd name="adj1" fmla="val 72778"/>
              <a:gd name="adj2" fmla="val -142509"/>
              <a:gd name="adj3" fmla="val 16667"/>
            </a:avLst>
          </a:prstGeom>
          <a:gradFill rotWithShape="1">
            <a:gsLst>
              <a:gs pos="0">
                <a:srgbClr val="FF3300"/>
              </a:gs>
              <a:gs pos="50000">
                <a:srgbClr val="FFFF00"/>
              </a:gs>
              <a:gs pos="100000">
                <a:srgbClr val="FF3300"/>
              </a:gs>
            </a:gsLst>
            <a:lin ang="5400000" scaled="1"/>
          </a:gradFill>
          <a:ln w="9525">
            <a:solidFill>
              <a:srgbClr val="000000"/>
            </a:solidFill>
            <a:miter lim="800000"/>
            <a:headEnd/>
            <a:tailEnd/>
          </a:ln>
        </p:spPr>
        <p:txBody>
          <a:bodyPr/>
          <a:lstStyle/>
          <a:p>
            <a:pPr marL="179388" lvl="1" eaLnBrk="1" hangingPunct="1">
              <a:lnSpc>
                <a:spcPct val="120000"/>
              </a:lnSpc>
              <a:spcBef>
                <a:spcPct val="20000"/>
              </a:spcBef>
              <a:buClr>
                <a:schemeClr val="accent2"/>
              </a:buClr>
            </a:pPr>
            <a:r>
              <a:rPr kumimoji="1" lang="zh-CN" altLang="en-US" sz="3200">
                <a:solidFill>
                  <a:srgbClr val="0000FF"/>
                </a:solidFill>
                <a:latin typeface="Arial" pitchFamily="34" charset="0"/>
                <a:ea typeface="楷体_GB2312" pitchFamily="49" charset="-122"/>
              </a:rPr>
              <a:t>函数模 板</a:t>
            </a:r>
          </a:p>
        </p:txBody>
      </p:sp>
      <p:sp>
        <p:nvSpPr>
          <p:cNvPr id="191502" name="AutoShape 1038"/>
          <p:cNvSpPr>
            <a:spLocks noChangeArrowheads="1"/>
          </p:cNvSpPr>
          <p:nvPr/>
        </p:nvSpPr>
        <p:spPr bwMode="auto">
          <a:xfrm>
            <a:off x="5940425" y="3933825"/>
            <a:ext cx="2160588" cy="720725"/>
          </a:xfrm>
          <a:prstGeom prst="wedgeRoundRectCallout">
            <a:avLst>
              <a:gd name="adj1" fmla="val -48824"/>
              <a:gd name="adj2" fmla="val -15861"/>
              <a:gd name="adj3" fmla="val 16667"/>
            </a:avLst>
          </a:prstGeom>
          <a:gradFill rotWithShape="1">
            <a:gsLst>
              <a:gs pos="0">
                <a:srgbClr val="007600"/>
              </a:gs>
              <a:gs pos="50000">
                <a:srgbClr val="00FF00"/>
              </a:gs>
              <a:gs pos="100000">
                <a:srgbClr val="007600"/>
              </a:gs>
            </a:gsLst>
            <a:lin ang="5400000" scaled="1"/>
          </a:gradFill>
          <a:ln w="9525">
            <a:solidFill>
              <a:srgbClr val="000000"/>
            </a:solidFill>
            <a:miter lim="800000"/>
            <a:headEnd/>
            <a:tailEnd/>
          </a:ln>
        </p:spPr>
        <p:txBody>
          <a:bodyPr/>
          <a:lstStyle/>
          <a:p>
            <a:pPr marL="179388" lvl="1" eaLnBrk="1" hangingPunct="1">
              <a:lnSpc>
                <a:spcPct val="120000"/>
              </a:lnSpc>
              <a:spcBef>
                <a:spcPct val="20000"/>
              </a:spcBef>
              <a:buClr>
                <a:schemeClr val="accent2"/>
              </a:buClr>
            </a:pPr>
            <a:r>
              <a:rPr kumimoji="1" lang="zh-CN" altLang="en-US" sz="3200">
                <a:solidFill>
                  <a:srgbClr val="0000FF"/>
                </a:solidFill>
                <a:latin typeface="Arial" pitchFamily="34" charset="0"/>
                <a:ea typeface="楷体_GB2312" pitchFamily="49" charset="-122"/>
              </a:rPr>
              <a:t>模 板类</a:t>
            </a:r>
          </a:p>
        </p:txBody>
      </p:sp>
      <p:sp>
        <p:nvSpPr>
          <p:cNvPr id="191503" name="Rectangle 1039"/>
          <p:cNvSpPr>
            <a:spLocks noChangeArrowheads="1"/>
          </p:cNvSpPr>
          <p:nvPr/>
        </p:nvSpPr>
        <p:spPr bwMode="auto">
          <a:xfrm>
            <a:off x="4356100" y="4797425"/>
            <a:ext cx="1800225" cy="720725"/>
          </a:xfrm>
          <a:prstGeom prst="rect">
            <a:avLst/>
          </a:prstGeom>
          <a:noFill/>
          <a:ln w="9525">
            <a:noFill/>
            <a:miter lim="800000"/>
            <a:headEnd/>
            <a:tailEnd/>
          </a:ln>
        </p:spPr>
        <p:txBody>
          <a:bodyPr lIns="92075" tIns="46038" rIns="92075" bIns="46038"/>
          <a:lstStyle/>
          <a:p>
            <a:pPr marL="342900" indent="-342900" eaLnBrk="1" hangingPunct="1">
              <a:lnSpc>
                <a:spcPct val="120000"/>
              </a:lnSpc>
              <a:spcBef>
                <a:spcPct val="20000"/>
              </a:spcBef>
              <a:buClr>
                <a:schemeClr val="accent2"/>
              </a:buClr>
              <a:buSzPct val="80000"/>
              <a:buFont typeface="Wingdings" pitchFamily="2" charset="2"/>
              <a:buNone/>
            </a:pPr>
            <a:r>
              <a:rPr kumimoji="1" lang="zh-CN" altLang="en-US">
                <a:solidFill>
                  <a:schemeClr val="tx2"/>
                </a:solidFill>
                <a:latin typeface="Arial" pitchFamily="34" charset="0"/>
                <a:ea typeface="楷体_GB2312" pitchFamily="49" charset="-122"/>
              </a:rPr>
              <a:t>二级实例化</a:t>
            </a:r>
          </a:p>
        </p:txBody>
      </p:sp>
      <p:sp>
        <p:nvSpPr>
          <p:cNvPr id="191504" name="Rectangle 1040"/>
          <p:cNvSpPr>
            <a:spLocks noChangeArrowheads="1"/>
          </p:cNvSpPr>
          <p:nvPr/>
        </p:nvSpPr>
        <p:spPr bwMode="auto">
          <a:xfrm>
            <a:off x="5292725" y="3141663"/>
            <a:ext cx="1800225" cy="720725"/>
          </a:xfrm>
          <a:prstGeom prst="rect">
            <a:avLst/>
          </a:prstGeom>
          <a:noFill/>
          <a:ln w="9525">
            <a:noFill/>
            <a:miter lim="800000"/>
            <a:headEnd/>
            <a:tailEnd/>
          </a:ln>
        </p:spPr>
        <p:txBody>
          <a:bodyPr lIns="92075" tIns="46038" rIns="92075" bIns="46038"/>
          <a:lstStyle/>
          <a:p>
            <a:pPr marL="342900" indent="-342900" eaLnBrk="1" hangingPunct="1">
              <a:lnSpc>
                <a:spcPct val="120000"/>
              </a:lnSpc>
              <a:spcBef>
                <a:spcPct val="20000"/>
              </a:spcBef>
              <a:buClr>
                <a:schemeClr val="accent2"/>
              </a:buClr>
              <a:buSzPct val="80000"/>
              <a:buFont typeface="Wingdings" pitchFamily="2" charset="2"/>
              <a:buNone/>
            </a:pPr>
            <a:r>
              <a:rPr kumimoji="1" lang="zh-CN" altLang="en-US">
                <a:solidFill>
                  <a:schemeClr val="tx1"/>
                </a:solidFill>
                <a:latin typeface="Arial" pitchFamily="34" charset="0"/>
                <a:ea typeface="楷体_GB2312" pitchFamily="49" charset="-122"/>
              </a:rPr>
              <a:t>一级实例化</a:t>
            </a:r>
          </a:p>
        </p:txBody>
      </p:sp>
      <p:sp>
        <p:nvSpPr>
          <p:cNvPr id="191505" name="Rectangle 1041"/>
          <p:cNvSpPr>
            <a:spLocks noChangeArrowheads="1"/>
          </p:cNvSpPr>
          <p:nvPr/>
        </p:nvSpPr>
        <p:spPr bwMode="auto">
          <a:xfrm>
            <a:off x="1476375" y="3141663"/>
            <a:ext cx="1800225" cy="647700"/>
          </a:xfrm>
          <a:prstGeom prst="rect">
            <a:avLst/>
          </a:prstGeom>
          <a:noFill/>
          <a:ln w="9525">
            <a:noFill/>
            <a:miter lim="800000"/>
            <a:headEnd/>
            <a:tailEnd/>
          </a:ln>
        </p:spPr>
        <p:txBody>
          <a:bodyPr lIns="92075" tIns="46038" rIns="92075" bIns="46038"/>
          <a:lstStyle/>
          <a:p>
            <a:pPr marL="342900" indent="-342900" eaLnBrk="1" hangingPunct="1">
              <a:lnSpc>
                <a:spcPct val="120000"/>
              </a:lnSpc>
              <a:spcBef>
                <a:spcPct val="20000"/>
              </a:spcBef>
              <a:buClr>
                <a:schemeClr val="accent2"/>
              </a:buClr>
              <a:buSzPct val="80000"/>
              <a:buFont typeface="Wingdings" pitchFamily="2" charset="2"/>
              <a:buNone/>
            </a:pPr>
            <a:r>
              <a:rPr kumimoji="1" lang="zh-CN" altLang="en-US">
                <a:solidFill>
                  <a:schemeClr val="tx1"/>
                </a:solidFill>
                <a:latin typeface="Arial" pitchFamily="34" charset="0"/>
                <a:ea typeface="楷体_GB2312" pitchFamily="49" charset="-122"/>
              </a:rPr>
              <a:t>一级实例化</a:t>
            </a:r>
          </a:p>
        </p:txBody>
      </p:sp>
      <p:sp>
        <p:nvSpPr>
          <p:cNvPr id="191507" name="Line 1043"/>
          <p:cNvSpPr>
            <a:spLocks noChangeShapeType="1"/>
          </p:cNvSpPr>
          <p:nvPr/>
        </p:nvSpPr>
        <p:spPr bwMode="auto">
          <a:xfrm>
            <a:off x="1547813" y="3068638"/>
            <a:ext cx="0" cy="936625"/>
          </a:xfrm>
          <a:prstGeom prst="line">
            <a:avLst/>
          </a:prstGeom>
          <a:noFill/>
          <a:ln w="38100">
            <a:solidFill>
              <a:srgbClr val="00FF00"/>
            </a:solidFill>
            <a:round/>
            <a:headEnd/>
            <a:tailEnd type="triangle" w="med" len="med"/>
          </a:ln>
        </p:spPr>
        <p:txBody>
          <a:bodyPr/>
          <a:lstStyle/>
          <a:p>
            <a:endParaRPr lang="zh-CN" altLang="en-US"/>
          </a:p>
        </p:txBody>
      </p:sp>
      <p:sp>
        <p:nvSpPr>
          <p:cNvPr id="191508" name="Line 1044"/>
          <p:cNvSpPr>
            <a:spLocks noChangeShapeType="1"/>
          </p:cNvSpPr>
          <p:nvPr/>
        </p:nvSpPr>
        <p:spPr bwMode="auto">
          <a:xfrm>
            <a:off x="6948488" y="2997200"/>
            <a:ext cx="0" cy="936625"/>
          </a:xfrm>
          <a:prstGeom prst="line">
            <a:avLst/>
          </a:prstGeom>
          <a:noFill/>
          <a:ln w="38100">
            <a:solidFill>
              <a:srgbClr val="00FF00"/>
            </a:solidFill>
            <a:round/>
            <a:headEnd/>
            <a:tailEnd type="triangle" w="med" len="med"/>
          </a:ln>
        </p:spPr>
        <p:txBody>
          <a:bodyPr/>
          <a:lstStyle/>
          <a:p>
            <a:endParaRPr lang="zh-CN" altLang="en-US"/>
          </a:p>
        </p:txBody>
      </p:sp>
      <p:sp>
        <p:nvSpPr>
          <p:cNvPr id="191509" name="Line 1045"/>
          <p:cNvSpPr>
            <a:spLocks noChangeShapeType="1"/>
          </p:cNvSpPr>
          <p:nvPr/>
        </p:nvSpPr>
        <p:spPr bwMode="auto">
          <a:xfrm flipH="1">
            <a:off x="5580063" y="4652963"/>
            <a:ext cx="1008062" cy="1223962"/>
          </a:xfrm>
          <a:prstGeom prst="line">
            <a:avLst/>
          </a:prstGeom>
          <a:noFill/>
          <a:ln w="38100">
            <a:solidFill>
              <a:srgbClr val="00FF00"/>
            </a:solidFill>
            <a:round/>
            <a:headEnd/>
            <a:tailEnd type="triangle" w="med" len="med"/>
          </a:ln>
        </p:spPr>
        <p:txBody>
          <a:bodyPr/>
          <a:lstStyle/>
          <a:p>
            <a:endParaRPr lang="zh-CN" altLang="en-US"/>
          </a:p>
        </p:txBody>
      </p:sp>
      <p:sp>
        <p:nvSpPr>
          <p:cNvPr id="191510" name="Line 1046"/>
          <p:cNvSpPr>
            <a:spLocks noChangeShapeType="1"/>
          </p:cNvSpPr>
          <p:nvPr/>
        </p:nvSpPr>
        <p:spPr bwMode="auto">
          <a:xfrm>
            <a:off x="7092950" y="4652963"/>
            <a:ext cx="935038" cy="1152525"/>
          </a:xfrm>
          <a:prstGeom prst="line">
            <a:avLst/>
          </a:prstGeom>
          <a:noFill/>
          <a:ln w="38100">
            <a:solidFill>
              <a:srgbClr val="00FF00"/>
            </a:solidFill>
            <a:round/>
            <a:headEnd/>
            <a:tailEnd type="triangle" w="med" len="med"/>
          </a:ln>
        </p:spPr>
        <p:txBody>
          <a:bodyPr/>
          <a:lstStyle/>
          <a:p>
            <a:endParaRPr lang="zh-CN" altLang="en-US"/>
          </a:p>
        </p:txBody>
      </p:sp>
      <p:sp>
        <p:nvSpPr>
          <p:cNvPr id="2" name="AutoShape 1033"/>
          <p:cNvSpPr>
            <a:spLocks noChangeArrowheads="1"/>
          </p:cNvSpPr>
          <p:nvPr/>
        </p:nvSpPr>
        <p:spPr bwMode="auto">
          <a:xfrm>
            <a:off x="2484438" y="4005263"/>
            <a:ext cx="863600" cy="790575"/>
          </a:xfrm>
          <a:prstGeom prst="wedgeRoundRectCallout">
            <a:avLst>
              <a:gd name="adj1" fmla="val -53861"/>
              <a:gd name="adj2" fmla="val 1606"/>
              <a:gd name="adj3" fmla="val 16667"/>
            </a:avLst>
          </a:prstGeom>
          <a:noFill/>
          <a:ln w="9525">
            <a:noFill/>
            <a:miter lim="800000"/>
            <a:headEnd/>
            <a:tailEnd/>
          </a:ln>
        </p:spPr>
        <p:txBody>
          <a:bodyPr/>
          <a:lstStyle/>
          <a:p>
            <a:pPr eaLnBrk="1" hangingPunct="1">
              <a:spcBef>
                <a:spcPct val="20000"/>
              </a:spcBef>
              <a:buClr>
                <a:schemeClr val="accent2"/>
              </a:buClr>
              <a:buSzPct val="80000"/>
              <a:buFont typeface="Wingdings" pitchFamily="2" charset="2"/>
              <a:buNone/>
            </a:pPr>
            <a:r>
              <a:rPr kumimoji="1" lang="en-US" altLang="zh-CN" sz="3200">
                <a:solidFill>
                  <a:srgbClr val="0000FF"/>
                </a:solidFill>
                <a:latin typeface="Arial" pitchFamily="34" charset="0"/>
                <a:ea typeface="楷体_GB2312" pitchFamily="49" charset="-122"/>
              </a:rPr>
              <a:t>…</a:t>
            </a:r>
          </a:p>
        </p:txBody>
      </p:sp>
      <p:sp>
        <p:nvSpPr>
          <p:cNvPr id="3" name="AutoShape 1033"/>
          <p:cNvSpPr>
            <a:spLocks noChangeArrowheads="1"/>
          </p:cNvSpPr>
          <p:nvPr/>
        </p:nvSpPr>
        <p:spPr bwMode="auto">
          <a:xfrm>
            <a:off x="8027988" y="3933825"/>
            <a:ext cx="863600" cy="790575"/>
          </a:xfrm>
          <a:prstGeom prst="wedgeRoundRectCallout">
            <a:avLst>
              <a:gd name="adj1" fmla="val -58454"/>
              <a:gd name="adj2" fmla="val 34134"/>
              <a:gd name="adj3" fmla="val 16667"/>
            </a:avLst>
          </a:prstGeom>
          <a:noFill/>
          <a:ln w="9525">
            <a:noFill/>
            <a:miter lim="800000"/>
            <a:headEnd/>
            <a:tailEnd/>
          </a:ln>
        </p:spPr>
        <p:txBody>
          <a:bodyPr/>
          <a:lstStyle/>
          <a:p>
            <a:pPr eaLnBrk="1" hangingPunct="1">
              <a:spcBef>
                <a:spcPct val="20000"/>
              </a:spcBef>
              <a:buClr>
                <a:schemeClr val="accent2"/>
              </a:buClr>
              <a:buSzPct val="80000"/>
              <a:buFont typeface="Wingdings" pitchFamily="2" charset="2"/>
              <a:buNone/>
            </a:pPr>
            <a:r>
              <a:rPr kumimoji="1" lang="en-US" altLang="zh-CN" sz="3200">
                <a:solidFill>
                  <a:srgbClr val="0000FF"/>
                </a:solidFill>
                <a:latin typeface="Arial" pitchFamily="34" charset="0"/>
                <a:ea typeface="楷体_GB2312" pitchFamily="49" charset="-122"/>
              </a:rPr>
              <a:t>…</a:t>
            </a:r>
          </a:p>
        </p:txBody>
      </p:sp>
      <p:sp>
        <p:nvSpPr>
          <p:cNvPr id="4" name="AutoShape 1033"/>
          <p:cNvSpPr>
            <a:spLocks noChangeArrowheads="1"/>
          </p:cNvSpPr>
          <p:nvPr/>
        </p:nvSpPr>
        <p:spPr bwMode="auto">
          <a:xfrm>
            <a:off x="6372225" y="5734050"/>
            <a:ext cx="863600" cy="574675"/>
          </a:xfrm>
          <a:prstGeom prst="wedgeRoundRectCallout">
            <a:avLst>
              <a:gd name="adj1" fmla="val -48528"/>
              <a:gd name="adj2" fmla="val -51380"/>
              <a:gd name="adj3" fmla="val 16667"/>
            </a:avLst>
          </a:prstGeom>
          <a:noFill/>
          <a:ln w="9525">
            <a:noFill/>
            <a:miter lim="800000"/>
            <a:headEnd/>
            <a:tailEnd/>
          </a:ln>
        </p:spPr>
        <p:txBody>
          <a:bodyPr/>
          <a:lstStyle/>
          <a:p>
            <a:pPr eaLnBrk="1" hangingPunct="1">
              <a:spcBef>
                <a:spcPct val="20000"/>
              </a:spcBef>
              <a:buClr>
                <a:schemeClr val="accent2"/>
              </a:buClr>
              <a:buSzPct val="80000"/>
              <a:buFont typeface="Wingdings" pitchFamily="2" charset="2"/>
              <a:buNone/>
            </a:pPr>
            <a:r>
              <a:rPr kumimoji="1" lang="en-US" altLang="zh-CN" sz="3200">
                <a:solidFill>
                  <a:srgbClr val="0000FF"/>
                </a:solidFill>
                <a:latin typeface="Arial" pitchFamily="34"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150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91500"/>
                                        </p:tgtEl>
                                        <p:attrNameLst>
                                          <p:attrName>style.visibility</p:attrName>
                                        </p:attrNameLst>
                                      </p:cBhvr>
                                      <p:to>
                                        <p:strVal val="visible"/>
                                      </p:to>
                                    </p:set>
                                  </p:childTnLst>
                                </p:cTn>
                              </p:par>
                            </p:childTnLst>
                          </p:cTn>
                        </p:par>
                        <p:par>
                          <p:cTn id="10" fill="hold">
                            <p:stCondLst>
                              <p:cond delay="0"/>
                            </p:stCondLst>
                            <p:childTnLst>
                              <p:par>
                                <p:cTn id="11" presetID="22" presetClass="entr" presetSubtype="1" fill="hold" grpId="0" nodeType="afterEffect">
                                  <p:stCondLst>
                                    <p:cond delay="0"/>
                                  </p:stCondLst>
                                  <p:childTnLst>
                                    <p:set>
                                      <p:cBhvr>
                                        <p:cTn id="12" dur="1" fill="hold">
                                          <p:stCondLst>
                                            <p:cond delay="0"/>
                                          </p:stCondLst>
                                        </p:cTn>
                                        <p:tgtEl>
                                          <p:spTgt spid="191507"/>
                                        </p:tgtEl>
                                        <p:attrNameLst>
                                          <p:attrName>style.visibility</p:attrName>
                                        </p:attrNameLst>
                                      </p:cBhvr>
                                      <p:to>
                                        <p:strVal val="visible"/>
                                      </p:to>
                                    </p:set>
                                    <p:animEffect transition="in" filter="wipe(up)">
                                      <p:cBhvr>
                                        <p:cTn id="13" dur="500"/>
                                        <p:tgtEl>
                                          <p:spTgt spid="191507"/>
                                        </p:tgtEl>
                                      </p:cBhvr>
                                    </p:animEffect>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191505"/>
                                        </p:tgtEl>
                                        <p:attrNameLst>
                                          <p:attrName>style.visibility</p:attrName>
                                        </p:attrNameLst>
                                      </p:cBhvr>
                                      <p:to>
                                        <p:strVal val="visible"/>
                                      </p:to>
                                    </p:set>
                                  </p:childTnLst>
                                </p:cTn>
                              </p:par>
                            </p:childTnLst>
                          </p:cTn>
                        </p:par>
                        <p:par>
                          <p:cTn id="17" fill="hold">
                            <p:stCondLst>
                              <p:cond delay="500"/>
                            </p:stCondLst>
                            <p:childTnLst>
                              <p:par>
                                <p:cTn id="18" presetID="4" presetClass="entr" presetSubtype="16" fill="hold" grpId="0" nodeType="afterEffect">
                                  <p:stCondLst>
                                    <p:cond delay="0"/>
                                  </p:stCondLst>
                                  <p:childTnLst>
                                    <p:set>
                                      <p:cBhvr>
                                        <p:cTn id="19" dur="1" fill="hold">
                                          <p:stCondLst>
                                            <p:cond delay="0"/>
                                          </p:stCondLst>
                                        </p:cTn>
                                        <p:tgtEl>
                                          <p:spTgt spid="191497"/>
                                        </p:tgtEl>
                                        <p:attrNameLst>
                                          <p:attrName>style.visibility</p:attrName>
                                        </p:attrNameLst>
                                      </p:cBhvr>
                                      <p:to>
                                        <p:strVal val="visible"/>
                                      </p:to>
                                    </p:set>
                                    <p:animEffect transition="in" filter="box(in)">
                                      <p:cBhvr>
                                        <p:cTn id="20" dur="500"/>
                                        <p:tgtEl>
                                          <p:spTgt spid="191497"/>
                                        </p:tgtEl>
                                      </p:cBhvr>
                                    </p:animEffect>
                                  </p:childTnLst>
                                </p:cTn>
                              </p:par>
                            </p:childTnLst>
                          </p:cTn>
                        </p:par>
                        <p:par>
                          <p:cTn id="21" fill="hold">
                            <p:stCondLst>
                              <p:cond delay="1000"/>
                            </p:stCondLst>
                            <p:childTnLst>
                              <p:par>
                                <p:cTn id="22" presetID="4" presetClass="entr" presetSubtype="16" fill="hold" grpId="0"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ox(in)">
                                      <p:cBhvr>
                                        <p:cTn id="24" dur="500"/>
                                        <p:tgtEl>
                                          <p:spTgt spid="2"/>
                                        </p:tgtEl>
                                      </p:cBhvr>
                                    </p:animEffect>
                                  </p:childTnLst>
                                </p:cTn>
                              </p:par>
                            </p:childTnLst>
                          </p:cTn>
                        </p:par>
                        <p:par>
                          <p:cTn id="25" fill="hold">
                            <p:stCondLst>
                              <p:cond delay="1500"/>
                            </p:stCondLst>
                            <p:childTnLst>
                              <p:par>
                                <p:cTn id="26" presetID="22" presetClass="entr" presetSubtype="1" fill="hold" grpId="0" nodeType="afterEffect">
                                  <p:stCondLst>
                                    <p:cond delay="0"/>
                                  </p:stCondLst>
                                  <p:childTnLst>
                                    <p:set>
                                      <p:cBhvr>
                                        <p:cTn id="27" dur="1" fill="hold">
                                          <p:stCondLst>
                                            <p:cond delay="0"/>
                                          </p:stCondLst>
                                        </p:cTn>
                                        <p:tgtEl>
                                          <p:spTgt spid="191508"/>
                                        </p:tgtEl>
                                        <p:attrNameLst>
                                          <p:attrName>style.visibility</p:attrName>
                                        </p:attrNameLst>
                                      </p:cBhvr>
                                      <p:to>
                                        <p:strVal val="visible"/>
                                      </p:to>
                                    </p:set>
                                    <p:animEffect transition="in" filter="wipe(up)">
                                      <p:cBhvr>
                                        <p:cTn id="28" dur="1000"/>
                                        <p:tgtEl>
                                          <p:spTgt spid="191508"/>
                                        </p:tgtEl>
                                      </p:cBhvr>
                                    </p:animEffect>
                                  </p:childTnLst>
                                </p:cTn>
                              </p:par>
                            </p:childTnLst>
                          </p:cTn>
                        </p:par>
                        <p:par>
                          <p:cTn id="29" fill="hold">
                            <p:stCondLst>
                              <p:cond delay="2500"/>
                            </p:stCondLst>
                            <p:childTnLst>
                              <p:par>
                                <p:cTn id="30" presetID="1" presetClass="entr" presetSubtype="0" fill="hold" grpId="0" nodeType="afterEffect">
                                  <p:stCondLst>
                                    <p:cond delay="0"/>
                                  </p:stCondLst>
                                  <p:childTnLst>
                                    <p:set>
                                      <p:cBhvr>
                                        <p:cTn id="31" dur="1" fill="hold">
                                          <p:stCondLst>
                                            <p:cond delay="0"/>
                                          </p:stCondLst>
                                        </p:cTn>
                                        <p:tgtEl>
                                          <p:spTgt spid="191504"/>
                                        </p:tgtEl>
                                        <p:attrNameLst>
                                          <p:attrName>style.visibility</p:attrName>
                                        </p:attrNameLst>
                                      </p:cBhvr>
                                      <p:to>
                                        <p:strVal val="visible"/>
                                      </p:to>
                                    </p:set>
                                  </p:childTnLst>
                                </p:cTn>
                              </p:par>
                            </p:childTnLst>
                          </p:cTn>
                        </p:par>
                        <p:par>
                          <p:cTn id="32" fill="hold">
                            <p:stCondLst>
                              <p:cond delay="2500"/>
                            </p:stCondLst>
                            <p:childTnLst>
                              <p:par>
                                <p:cTn id="33" presetID="3" presetClass="entr" presetSubtype="10" fill="hold" grpId="0" nodeType="afterEffect">
                                  <p:stCondLst>
                                    <p:cond delay="0"/>
                                  </p:stCondLst>
                                  <p:childTnLst>
                                    <p:set>
                                      <p:cBhvr>
                                        <p:cTn id="34" dur="1" fill="hold">
                                          <p:stCondLst>
                                            <p:cond delay="0"/>
                                          </p:stCondLst>
                                        </p:cTn>
                                        <p:tgtEl>
                                          <p:spTgt spid="191502"/>
                                        </p:tgtEl>
                                        <p:attrNameLst>
                                          <p:attrName>style.visibility</p:attrName>
                                        </p:attrNameLst>
                                      </p:cBhvr>
                                      <p:to>
                                        <p:strVal val="visible"/>
                                      </p:to>
                                    </p:set>
                                    <p:animEffect transition="in" filter="blinds(horizontal)">
                                      <p:cBhvr>
                                        <p:cTn id="35" dur="500"/>
                                        <p:tgtEl>
                                          <p:spTgt spid="191502"/>
                                        </p:tgtEl>
                                      </p:cBhvr>
                                    </p:animEffect>
                                  </p:childTnLst>
                                </p:cTn>
                              </p:par>
                            </p:childTnLst>
                          </p:cTn>
                        </p:par>
                        <p:par>
                          <p:cTn id="36" fill="hold">
                            <p:stCondLst>
                              <p:cond delay="3000"/>
                            </p:stCondLst>
                            <p:childTnLst>
                              <p:par>
                                <p:cTn id="37" presetID="4" presetClass="entr" presetSubtype="16" fill="hold" grpId="0"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ox(in)">
                                      <p:cBhvr>
                                        <p:cTn id="39" dur="500"/>
                                        <p:tgtEl>
                                          <p:spTgt spid="3"/>
                                        </p:tgtEl>
                                      </p:cBhvr>
                                    </p:animEffect>
                                  </p:childTnLst>
                                </p:cTn>
                              </p:par>
                            </p:childTnLst>
                          </p:cTn>
                        </p:par>
                        <p:par>
                          <p:cTn id="40" fill="hold">
                            <p:stCondLst>
                              <p:cond delay="3500"/>
                            </p:stCondLst>
                            <p:childTnLst>
                              <p:par>
                                <p:cTn id="41" presetID="22" presetClass="entr" presetSubtype="1" fill="hold" grpId="0" nodeType="afterEffect">
                                  <p:stCondLst>
                                    <p:cond delay="0"/>
                                  </p:stCondLst>
                                  <p:childTnLst>
                                    <p:set>
                                      <p:cBhvr>
                                        <p:cTn id="42" dur="1" fill="hold">
                                          <p:stCondLst>
                                            <p:cond delay="0"/>
                                          </p:stCondLst>
                                        </p:cTn>
                                        <p:tgtEl>
                                          <p:spTgt spid="191509"/>
                                        </p:tgtEl>
                                        <p:attrNameLst>
                                          <p:attrName>style.visibility</p:attrName>
                                        </p:attrNameLst>
                                      </p:cBhvr>
                                      <p:to>
                                        <p:strVal val="visible"/>
                                      </p:to>
                                    </p:set>
                                    <p:animEffect transition="in" filter="wipe(up)">
                                      <p:cBhvr>
                                        <p:cTn id="43" dur="1000"/>
                                        <p:tgtEl>
                                          <p:spTgt spid="191509"/>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91510"/>
                                        </p:tgtEl>
                                        <p:attrNameLst>
                                          <p:attrName>style.visibility</p:attrName>
                                        </p:attrNameLst>
                                      </p:cBhvr>
                                      <p:to>
                                        <p:strVal val="visible"/>
                                      </p:to>
                                    </p:set>
                                    <p:animEffect transition="in" filter="wipe(up)">
                                      <p:cBhvr>
                                        <p:cTn id="46" dur="1000"/>
                                        <p:tgtEl>
                                          <p:spTgt spid="191510"/>
                                        </p:tgtEl>
                                      </p:cBhvr>
                                    </p:animEffect>
                                  </p:childTnLst>
                                </p:cTn>
                              </p:par>
                            </p:childTnLst>
                          </p:cTn>
                        </p:par>
                        <p:par>
                          <p:cTn id="47" fill="hold">
                            <p:stCondLst>
                              <p:cond delay="4500"/>
                            </p:stCondLst>
                            <p:childTnLst>
                              <p:par>
                                <p:cTn id="48" presetID="1" presetClass="entr" presetSubtype="0" fill="hold" grpId="0" nodeType="afterEffect">
                                  <p:stCondLst>
                                    <p:cond delay="0"/>
                                  </p:stCondLst>
                                  <p:childTnLst>
                                    <p:set>
                                      <p:cBhvr>
                                        <p:cTn id="49" dur="1" fill="hold">
                                          <p:stCondLst>
                                            <p:cond delay="0"/>
                                          </p:stCondLst>
                                        </p:cTn>
                                        <p:tgtEl>
                                          <p:spTgt spid="191491">
                                            <p:txEl>
                                              <p:pRg st="0" end="0"/>
                                            </p:txEl>
                                          </p:spTgt>
                                        </p:tgtEl>
                                        <p:attrNameLst>
                                          <p:attrName>style.visibility</p:attrName>
                                        </p:attrNameLst>
                                      </p:cBhvr>
                                      <p:to>
                                        <p:strVal val="visible"/>
                                      </p:to>
                                    </p:set>
                                  </p:childTnLst>
                                </p:cTn>
                              </p:par>
                            </p:childTnLst>
                          </p:cTn>
                        </p:par>
                        <p:par>
                          <p:cTn id="50" fill="hold">
                            <p:stCondLst>
                              <p:cond delay="4500"/>
                            </p:stCondLst>
                            <p:childTnLst>
                              <p:par>
                                <p:cTn id="51" presetID="1" presetClass="entr" presetSubtype="0" fill="hold" grpId="0" nodeType="afterEffect">
                                  <p:stCondLst>
                                    <p:cond delay="0"/>
                                  </p:stCondLst>
                                  <p:childTnLst>
                                    <p:set>
                                      <p:cBhvr>
                                        <p:cTn id="52" dur="1" fill="hold">
                                          <p:stCondLst>
                                            <p:cond delay="0"/>
                                          </p:stCondLst>
                                        </p:cTn>
                                        <p:tgtEl>
                                          <p:spTgt spid="191503"/>
                                        </p:tgtEl>
                                        <p:attrNameLst>
                                          <p:attrName>style.visibility</p:attrName>
                                        </p:attrNameLst>
                                      </p:cBhvr>
                                      <p:to>
                                        <p:strVal val="visible"/>
                                      </p:to>
                                    </p:set>
                                  </p:childTnLst>
                                </p:cTn>
                              </p:par>
                            </p:childTnLst>
                          </p:cTn>
                        </p:par>
                        <p:par>
                          <p:cTn id="53" fill="hold">
                            <p:stCondLst>
                              <p:cond delay="4500"/>
                            </p:stCondLst>
                            <p:childTnLst>
                              <p:par>
                                <p:cTn id="54" presetID="37" presetClass="entr" presetSubtype="0" fill="hold" grpId="0" nodeType="afterEffect">
                                  <p:stCondLst>
                                    <p:cond delay="0"/>
                                  </p:stCondLst>
                                  <p:childTnLst>
                                    <p:set>
                                      <p:cBhvr>
                                        <p:cTn id="55" dur="1" fill="hold">
                                          <p:stCondLst>
                                            <p:cond delay="0"/>
                                          </p:stCondLst>
                                        </p:cTn>
                                        <p:tgtEl>
                                          <p:spTgt spid="191496"/>
                                        </p:tgtEl>
                                        <p:attrNameLst>
                                          <p:attrName>style.visibility</p:attrName>
                                        </p:attrNameLst>
                                      </p:cBhvr>
                                      <p:to>
                                        <p:strVal val="visible"/>
                                      </p:to>
                                    </p:set>
                                    <p:animEffect transition="in" filter="fade">
                                      <p:cBhvr>
                                        <p:cTn id="56" dur="1000"/>
                                        <p:tgtEl>
                                          <p:spTgt spid="191496"/>
                                        </p:tgtEl>
                                      </p:cBhvr>
                                    </p:animEffect>
                                    <p:anim calcmode="lin" valueType="num">
                                      <p:cBhvr>
                                        <p:cTn id="57" dur="1000" fill="hold"/>
                                        <p:tgtEl>
                                          <p:spTgt spid="191496"/>
                                        </p:tgtEl>
                                        <p:attrNameLst>
                                          <p:attrName>ppt_x</p:attrName>
                                        </p:attrNameLst>
                                      </p:cBhvr>
                                      <p:tavLst>
                                        <p:tav tm="0">
                                          <p:val>
                                            <p:strVal val="#ppt_x"/>
                                          </p:val>
                                        </p:tav>
                                        <p:tav tm="100000">
                                          <p:val>
                                            <p:strVal val="#ppt_x"/>
                                          </p:val>
                                        </p:tav>
                                      </p:tavLst>
                                    </p:anim>
                                    <p:anim calcmode="lin" valueType="num">
                                      <p:cBhvr>
                                        <p:cTn id="58" dur="900" decel="100000" fill="hold"/>
                                        <p:tgtEl>
                                          <p:spTgt spid="191496"/>
                                        </p:tgtEl>
                                        <p:attrNameLst>
                                          <p:attrName>ppt_y</p:attrName>
                                        </p:attrNameLst>
                                      </p:cBhvr>
                                      <p:tavLst>
                                        <p:tav tm="0">
                                          <p:val>
                                            <p:strVal val="#ppt_y+1"/>
                                          </p:val>
                                        </p:tav>
                                        <p:tav tm="100000">
                                          <p:val>
                                            <p:strVal val="#ppt_y-.03"/>
                                          </p:val>
                                        </p:tav>
                                      </p:tavLst>
                                    </p:anim>
                                    <p:anim calcmode="lin" valueType="num">
                                      <p:cBhvr>
                                        <p:cTn id="59" dur="100" accel="100000" fill="hold">
                                          <p:stCondLst>
                                            <p:cond delay="900"/>
                                          </p:stCondLst>
                                        </p:cTn>
                                        <p:tgtEl>
                                          <p:spTgt spid="191496"/>
                                        </p:tgtEl>
                                        <p:attrNameLst>
                                          <p:attrName>ppt_y</p:attrName>
                                        </p:attrNameLst>
                                      </p:cBhvr>
                                      <p:tavLst>
                                        <p:tav tm="0">
                                          <p:val>
                                            <p:strVal val="#ppt_y-.03"/>
                                          </p:val>
                                        </p:tav>
                                        <p:tav tm="100000">
                                          <p:val>
                                            <p:strVal val="#ppt_y"/>
                                          </p:val>
                                        </p:tav>
                                      </p:tavLst>
                                    </p:anim>
                                  </p:childTnLst>
                                </p:cTn>
                              </p:par>
                            </p:childTnLst>
                          </p:cTn>
                        </p:par>
                        <p:par>
                          <p:cTn id="60" fill="hold">
                            <p:stCondLst>
                              <p:cond delay="5500"/>
                            </p:stCondLst>
                            <p:childTnLst>
                              <p:par>
                                <p:cTn id="61" presetID="37" presetClass="entr" presetSubtype="0" fill="hold" grpId="0" nodeType="afterEffect">
                                  <p:stCondLst>
                                    <p:cond delay="0"/>
                                  </p:stCondLst>
                                  <p:childTnLst>
                                    <p:set>
                                      <p:cBhvr>
                                        <p:cTn id="62" dur="1" fill="hold">
                                          <p:stCondLst>
                                            <p:cond delay="0"/>
                                          </p:stCondLst>
                                        </p:cTn>
                                        <p:tgtEl>
                                          <p:spTgt spid="191498"/>
                                        </p:tgtEl>
                                        <p:attrNameLst>
                                          <p:attrName>style.visibility</p:attrName>
                                        </p:attrNameLst>
                                      </p:cBhvr>
                                      <p:to>
                                        <p:strVal val="visible"/>
                                      </p:to>
                                    </p:set>
                                    <p:animEffect transition="in" filter="fade">
                                      <p:cBhvr>
                                        <p:cTn id="63" dur="1000"/>
                                        <p:tgtEl>
                                          <p:spTgt spid="191498"/>
                                        </p:tgtEl>
                                      </p:cBhvr>
                                    </p:animEffect>
                                    <p:anim calcmode="lin" valueType="num">
                                      <p:cBhvr>
                                        <p:cTn id="64" dur="1000" fill="hold"/>
                                        <p:tgtEl>
                                          <p:spTgt spid="191498"/>
                                        </p:tgtEl>
                                        <p:attrNameLst>
                                          <p:attrName>ppt_x</p:attrName>
                                        </p:attrNameLst>
                                      </p:cBhvr>
                                      <p:tavLst>
                                        <p:tav tm="0">
                                          <p:val>
                                            <p:strVal val="#ppt_x"/>
                                          </p:val>
                                        </p:tav>
                                        <p:tav tm="100000">
                                          <p:val>
                                            <p:strVal val="#ppt_x"/>
                                          </p:val>
                                        </p:tav>
                                      </p:tavLst>
                                    </p:anim>
                                    <p:anim calcmode="lin" valueType="num">
                                      <p:cBhvr>
                                        <p:cTn id="65" dur="900" decel="100000" fill="hold"/>
                                        <p:tgtEl>
                                          <p:spTgt spid="191498"/>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191498"/>
                                        </p:tgtEl>
                                        <p:attrNameLst>
                                          <p:attrName>ppt_y</p:attrName>
                                        </p:attrNameLst>
                                      </p:cBhvr>
                                      <p:tavLst>
                                        <p:tav tm="0">
                                          <p:val>
                                            <p:strVal val="#ppt_y-.03"/>
                                          </p:val>
                                        </p:tav>
                                        <p:tav tm="100000">
                                          <p:val>
                                            <p:strVal val="#ppt_y"/>
                                          </p:val>
                                        </p:tav>
                                      </p:tavLst>
                                    </p:anim>
                                  </p:childTnLst>
                                </p:cTn>
                              </p:par>
                            </p:childTnLst>
                          </p:cTn>
                        </p:par>
                        <p:par>
                          <p:cTn id="67" fill="hold">
                            <p:stCondLst>
                              <p:cond delay="6500"/>
                            </p:stCondLst>
                            <p:childTnLst>
                              <p:par>
                                <p:cTn id="68" presetID="4" presetClass="entr" presetSubtype="16" fill="hold" grpId="0" nodeType="after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box(in)">
                                      <p:cBhvr>
                                        <p:cTn id="7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build="p"/>
      <p:bldP spid="191496" grpId="0" animBg="1"/>
      <p:bldP spid="191497" grpId="0" animBg="1"/>
      <p:bldP spid="191498" grpId="0" animBg="1"/>
      <p:bldP spid="191500" grpId="0" animBg="1"/>
      <p:bldP spid="191501" grpId="0" animBg="1"/>
      <p:bldP spid="191502" grpId="0" animBg="1"/>
      <p:bldP spid="191503" grpId="0"/>
      <p:bldP spid="191504" grpId="0"/>
      <p:bldP spid="191505" grpId="0"/>
      <p:bldP spid="191507" grpId="0" animBg="1"/>
      <p:bldP spid="191508" grpId="0" animBg="1"/>
      <p:bldP spid="191509" grpId="0" animBg="1"/>
      <p:bldP spid="191510" grpId="0" animBg="1"/>
      <p:bldP spid="2"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类模板</a:t>
            </a:r>
            <a:endParaRPr lang="zh-CN" altLang="en-US" dirty="0"/>
          </a:p>
        </p:txBody>
      </p:sp>
      <p:sp>
        <p:nvSpPr>
          <p:cNvPr id="3" name="内容占位符 2"/>
          <p:cNvSpPr>
            <a:spLocks noGrp="1"/>
          </p:cNvSpPr>
          <p:nvPr>
            <p:ph idx="1"/>
          </p:nvPr>
        </p:nvSpPr>
        <p:spPr>
          <a:xfrm>
            <a:off x="457200" y="1600201"/>
            <a:ext cx="8229600" cy="4400567"/>
          </a:xfrm>
        </p:spPr>
        <p:txBody>
          <a:bodyPr>
            <a:normAutofit fontScale="92500" lnSpcReduction="20000"/>
          </a:bodyPr>
          <a:lstStyle/>
          <a:p>
            <a:r>
              <a:rPr lang="zh-CN" altLang="en-US" dirty="0" smtClean="0"/>
              <a:t>类模板不是类，是一类相同属性和功能但不同类型的类的制作模型。用户使用类模板可以为类声明一种模式，使得类中的某些数据成员的类型、某些成员函数的参数类型、某些成员函数的返回值类型，都能取任意类型</a:t>
            </a:r>
            <a:r>
              <a:rPr lang="en-US" altLang="zh-CN" dirty="0" smtClean="0"/>
              <a:t>,</a:t>
            </a:r>
            <a:r>
              <a:rPr lang="zh-CN" altLang="en-US" dirty="0" smtClean="0"/>
              <a:t>从而实现代码重用</a:t>
            </a:r>
          </a:p>
          <a:p>
            <a:r>
              <a:rPr lang="zh-CN" altLang="en-US" dirty="0" smtClean="0"/>
              <a:t>为何要引进类模板？</a:t>
            </a:r>
          </a:p>
          <a:p>
            <a:pPr lvl="1"/>
            <a:r>
              <a:rPr lang="zh-CN" altLang="en-US" dirty="0" smtClean="0"/>
              <a:t>按不同的方式重用相同的代码</a:t>
            </a:r>
          </a:p>
          <a:p>
            <a:pPr lvl="1"/>
            <a:r>
              <a:rPr lang="zh-CN" altLang="en-US" dirty="0" smtClean="0"/>
              <a:t>使代码参数化（通用化），即不受类型和操作的影响</a:t>
            </a:r>
          </a:p>
          <a:p>
            <a:r>
              <a:rPr lang="zh-CN" altLang="en-US" dirty="0" smtClean="0"/>
              <a:t>类模板是一种参数化类型的类，是类的生成器。</a:t>
            </a: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dirty="0" smtClean="0"/>
              <a:t>类</a:t>
            </a:r>
            <a:r>
              <a:rPr lang="zh-CN" altLang="en-US" dirty="0"/>
              <a:t>模板</a:t>
            </a:r>
          </a:p>
        </p:txBody>
      </p:sp>
      <p:sp>
        <p:nvSpPr>
          <p:cNvPr id="8195" name="Rectangle 3"/>
          <p:cNvSpPr>
            <a:spLocks noGrp="1" noChangeArrowheads="1"/>
          </p:cNvSpPr>
          <p:nvPr>
            <p:ph type="body" idx="1"/>
          </p:nvPr>
        </p:nvSpPr>
        <p:spPr>
          <a:xfrm>
            <a:off x="714348" y="1571612"/>
            <a:ext cx="7313612" cy="4410075"/>
          </a:xfrm>
        </p:spPr>
        <p:txBody>
          <a:bodyPr/>
          <a:lstStyle/>
          <a:p>
            <a:pPr>
              <a:buFont typeface="Wingdings" pitchFamily="2" charset="2"/>
              <a:buNone/>
            </a:pPr>
            <a:r>
              <a:rPr lang="en-US" altLang="zh-CN" sz="2500" dirty="0"/>
              <a:t>(1)</a:t>
            </a:r>
            <a:r>
              <a:rPr lang="zh-CN" altLang="en-US" sz="2500" dirty="0"/>
              <a:t>类模板的定义</a:t>
            </a:r>
          </a:p>
          <a:p>
            <a:pPr>
              <a:buFont typeface="Wingdings" pitchFamily="2" charset="2"/>
              <a:buNone/>
            </a:pPr>
            <a:r>
              <a:rPr lang="en-US" altLang="zh-CN" sz="2000" dirty="0">
                <a:solidFill>
                  <a:srgbClr val="3366CC"/>
                </a:solidFill>
              </a:rPr>
              <a:t>template&lt;</a:t>
            </a:r>
            <a:r>
              <a:rPr lang="zh-CN" altLang="en-US" sz="2000" dirty="0">
                <a:solidFill>
                  <a:srgbClr val="3366CC"/>
                </a:solidFill>
              </a:rPr>
              <a:t>模板参数表</a:t>
            </a:r>
            <a:r>
              <a:rPr lang="en-US" altLang="zh-CN" sz="2000" dirty="0">
                <a:solidFill>
                  <a:srgbClr val="3366CC"/>
                </a:solidFill>
              </a:rPr>
              <a:t>&gt;</a:t>
            </a:r>
          </a:p>
          <a:p>
            <a:pPr>
              <a:buFont typeface="Wingdings" pitchFamily="2" charset="2"/>
              <a:buNone/>
            </a:pPr>
            <a:r>
              <a:rPr lang="en-US" altLang="zh-CN" sz="2000" dirty="0">
                <a:solidFill>
                  <a:srgbClr val="3366CC"/>
                </a:solidFill>
              </a:rPr>
              <a:t>class &lt;</a:t>
            </a:r>
            <a:r>
              <a:rPr lang="zh-CN" altLang="en-US" sz="2000" dirty="0">
                <a:solidFill>
                  <a:srgbClr val="3366CC"/>
                </a:solidFill>
              </a:rPr>
              <a:t>类名</a:t>
            </a:r>
            <a:r>
              <a:rPr lang="en-US" altLang="zh-CN" sz="2000" dirty="0">
                <a:solidFill>
                  <a:srgbClr val="3366CC"/>
                </a:solidFill>
              </a:rPr>
              <a:t>&gt;</a:t>
            </a:r>
          </a:p>
          <a:p>
            <a:pPr>
              <a:buFont typeface="Wingdings" pitchFamily="2" charset="2"/>
              <a:buNone/>
            </a:pPr>
            <a:r>
              <a:rPr lang="en-US" altLang="zh-CN" sz="2000" dirty="0">
                <a:solidFill>
                  <a:srgbClr val="3366CC"/>
                </a:solidFill>
              </a:rPr>
              <a:t>{&lt;</a:t>
            </a:r>
            <a:r>
              <a:rPr lang="zh-CN" altLang="en-US" sz="2000" dirty="0">
                <a:solidFill>
                  <a:srgbClr val="3366CC"/>
                </a:solidFill>
              </a:rPr>
              <a:t>类体说明</a:t>
            </a:r>
            <a:r>
              <a:rPr lang="en-US" altLang="zh-CN" sz="2000" dirty="0">
                <a:solidFill>
                  <a:srgbClr val="3366CC"/>
                </a:solidFill>
              </a:rPr>
              <a:t>&gt;};</a:t>
            </a:r>
          </a:p>
          <a:p>
            <a:pPr>
              <a:buFont typeface="Wingdings" pitchFamily="2" charset="2"/>
              <a:buNone/>
            </a:pPr>
            <a:r>
              <a:rPr lang="en-US" altLang="zh-CN" sz="2000" dirty="0">
                <a:solidFill>
                  <a:srgbClr val="3366CC"/>
                </a:solidFill>
              </a:rPr>
              <a:t>//</a:t>
            </a:r>
            <a:r>
              <a:rPr lang="zh-CN" altLang="en-US" sz="2000" dirty="0">
                <a:solidFill>
                  <a:srgbClr val="3366CC"/>
                </a:solidFill>
              </a:rPr>
              <a:t>类体实现</a:t>
            </a:r>
          </a:p>
          <a:p>
            <a:r>
              <a:rPr lang="zh-CN" altLang="en-US" sz="2500" dirty="0"/>
              <a:t>模板参数表</a:t>
            </a:r>
          </a:p>
          <a:p>
            <a:pPr lvl="1"/>
            <a:r>
              <a:rPr lang="en-US" altLang="zh-CN" sz="2100" dirty="0"/>
              <a:t>class &lt;</a:t>
            </a:r>
            <a:r>
              <a:rPr lang="zh-CN" altLang="en-US" sz="2100" dirty="0"/>
              <a:t>标识符</a:t>
            </a:r>
            <a:r>
              <a:rPr lang="en-US" altLang="zh-CN" sz="2100" dirty="0"/>
              <a:t>&gt;</a:t>
            </a:r>
          </a:p>
          <a:p>
            <a:r>
              <a:rPr lang="zh-CN" altLang="en-US" sz="2500" dirty="0"/>
              <a:t>例如，</a:t>
            </a:r>
            <a:r>
              <a:rPr lang="en-US" altLang="zh-CN" sz="2500" dirty="0" err="1"/>
              <a:t>array.h</a:t>
            </a:r>
            <a:r>
              <a:rPr lang="zh-CN" altLang="en-US" sz="2500" dirty="0"/>
              <a:t>文件中类模板的定义</a:t>
            </a:r>
          </a:p>
          <a:p>
            <a:pPr>
              <a:buFont typeface="Wingdings" pitchFamily="2" charset="2"/>
              <a:buNone/>
            </a:pPr>
            <a:r>
              <a:rPr lang="en-US" altLang="zh-CN" sz="2500" dirty="0"/>
              <a:t>(2)</a:t>
            </a:r>
            <a:r>
              <a:rPr lang="zh-CN" altLang="en-US" sz="2500" dirty="0"/>
              <a:t>用类模板定义对象的格式是：</a:t>
            </a:r>
          </a:p>
          <a:p>
            <a:r>
              <a:rPr lang="en-US" altLang="zh-CN" sz="1800" dirty="0">
                <a:solidFill>
                  <a:srgbClr val="3366CC"/>
                </a:solidFill>
              </a:rPr>
              <a:t>&lt;</a:t>
            </a:r>
            <a:r>
              <a:rPr lang="zh-CN" altLang="en-US" sz="1800" dirty="0">
                <a:solidFill>
                  <a:srgbClr val="3366CC"/>
                </a:solidFill>
              </a:rPr>
              <a:t>类名</a:t>
            </a:r>
            <a:r>
              <a:rPr lang="en-US" altLang="zh-CN" sz="1800" dirty="0">
                <a:solidFill>
                  <a:srgbClr val="3366CC"/>
                </a:solidFill>
              </a:rPr>
              <a:t>&gt;&lt;&lt;</a:t>
            </a:r>
            <a:r>
              <a:rPr lang="zh-CN" altLang="en-US" sz="1800" dirty="0">
                <a:solidFill>
                  <a:srgbClr val="3366CC"/>
                </a:solidFill>
              </a:rPr>
              <a:t>模板实参表</a:t>
            </a:r>
            <a:r>
              <a:rPr lang="en-US" altLang="zh-CN" sz="1800" dirty="0">
                <a:solidFill>
                  <a:srgbClr val="3366CC"/>
                </a:solidFill>
              </a:rPr>
              <a:t>&gt;&gt;&lt;</a:t>
            </a:r>
            <a:r>
              <a:rPr lang="zh-CN" altLang="en-US" sz="1800" dirty="0">
                <a:solidFill>
                  <a:srgbClr val="3366CC"/>
                </a:solidFill>
              </a:rPr>
              <a:t>对象名</a:t>
            </a:r>
            <a:r>
              <a:rPr lang="en-US" altLang="zh-CN" sz="1800" dirty="0">
                <a:solidFill>
                  <a:srgbClr val="3366CC"/>
                </a:solidFill>
              </a:rPr>
              <a:t>&gt;(&lt;</a:t>
            </a:r>
            <a:r>
              <a:rPr lang="zh-CN" altLang="en-US" sz="1800" dirty="0">
                <a:solidFill>
                  <a:srgbClr val="3366CC"/>
                </a:solidFill>
              </a:rPr>
              <a:t>构造函数实参表</a:t>
            </a:r>
            <a:r>
              <a:rPr lang="en-US" altLang="zh-CN" sz="1800" dirty="0">
                <a:solidFill>
                  <a:srgbClr val="3366CC"/>
                </a:solidFill>
              </a:rPr>
              <a:t>&gt;)</a:t>
            </a:r>
            <a:r>
              <a:rPr lang="zh-CN" altLang="en-US" sz="1800" dirty="0">
                <a:solidFill>
                  <a:srgbClr val="3366CC"/>
                </a:solidFill>
              </a:rPr>
              <a:t>；</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en-US" dirty="0" smtClean="0"/>
              <a:t>模板</a:t>
            </a:r>
            <a:r>
              <a:rPr lang="zh-CN" altLang="en-US" dirty="0"/>
              <a:t>类</a:t>
            </a:r>
          </a:p>
        </p:txBody>
      </p:sp>
      <p:sp>
        <p:nvSpPr>
          <p:cNvPr id="9219" name="Rectangle 3"/>
          <p:cNvSpPr>
            <a:spLocks noGrp="1" noChangeArrowheads="1"/>
          </p:cNvSpPr>
          <p:nvPr>
            <p:ph type="body" idx="1"/>
          </p:nvPr>
        </p:nvSpPr>
        <p:spPr>
          <a:xfrm>
            <a:off x="571472" y="1571612"/>
            <a:ext cx="7643866" cy="4410075"/>
          </a:xfrm>
        </p:spPr>
        <p:txBody>
          <a:bodyPr/>
          <a:lstStyle/>
          <a:p>
            <a:pPr>
              <a:buFont typeface="Wingdings" pitchFamily="2" charset="2"/>
              <a:buNone/>
            </a:pPr>
            <a:r>
              <a:rPr lang="zh-CN" altLang="en-US" dirty="0"/>
              <a:t>模板类</a:t>
            </a:r>
          </a:p>
          <a:p>
            <a:r>
              <a:rPr lang="zh-CN" altLang="en-US" dirty="0"/>
              <a:t>在定义了类模板后，可根据需要生成相应的模板类。即，对模板参数，指定具体的类型。</a:t>
            </a:r>
          </a:p>
          <a:p>
            <a:pPr lvl="1"/>
            <a:r>
              <a:rPr lang="zh-CN" altLang="en-US" dirty="0"/>
              <a:t>例如，当指定</a:t>
            </a:r>
            <a:r>
              <a:rPr lang="en-US" altLang="zh-CN" dirty="0" err="1"/>
              <a:t>AType</a:t>
            </a:r>
            <a:r>
              <a:rPr lang="en-US" altLang="zh-CN" dirty="0"/>
              <a:t> </a:t>
            </a:r>
            <a:r>
              <a:rPr lang="zh-CN" altLang="en-US" dirty="0"/>
              <a:t>为</a:t>
            </a:r>
            <a:r>
              <a:rPr lang="en-US" altLang="zh-CN" dirty="0" err="1"/>
              <a:t>int</a:t>
            </a:r>
            <a:r>
              <a:rPr lang="zh-CN" altLang="en-US" dirty="0"/>
              <a:t>型时，生成模板类 </a:t>
            </a:r>
            <a:r>
              <a:rPr lang="en-US" altLang="zh-CN" dirty="0"/>
              <a:t>array &lt;</a:t>
            </a:r>
            <a:r>
              <a:rPr lang="en-US" altLang="zh-CN" dirty="0" err="1"/>
              <a:t>int</a:t>
            </a:r>
            <a:r>
              <a:rPr lang="en-US" altLang="zh-CN" dirty="0"/>
              <a:t>&gt;</a:t>
            </a:r>
          </a:p>
          <a:p>
            <a:r>
              <a:rPr lang="zh-CN" altLang="en-US" dirty="0"/>
              <a:t>利用模板类创建对象格式如下：</a:t>
            </a:r>
          </a:p>
          <a:p>
            <a:pPr lvl="1"/>
            <a:r>
              <a:rPr lang="en-US" altLang="zh-CN" dirty="0"/>
              <a:t>array &lt;</a:t>
            </a:r>
            <a:r>
              <a:rPr lang="en-US" altLang="zh-CN" dirty="0" err="1"/>
              <a:t>int</a:t>
            </a:r>
            <a:r>
              <a:rPr lang="en-US" altLang="zh-CN" dirty="0"/>
              <a:t>&gt; a1=10;</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dirty="0" smtClean="0"/>
              <a:t>类</a:t>
            </a:r>
            <a:r>
              <a:rPr lang="zh-CN" altLang="en-US" dirty="0"/>
              <a:t>模板的继承与派生 </a:t>
            </a:r>
          </a:p>
        </p:txBody>
      </p:sp>
      <p:sp>
        <p:nvSpPr>
          <p:cNvPr id="45059" name="Rectangle 3"/>
          <p:cNvSpPr>
            <a:spLocks noGrp="1" noChangeArrowheads="1"/>
          </p:cNvSpPr>
          <p:nvPr>
            <p:ph type="body" idx="1"/>
          </p:nvPr>
        </p:nvSpPr>
        <p:spPr/>
        <p:txBody>
          <a:bodyPr/>
          <a:lstStyle/>
          <a:p>
            <a:pPr>
              <a:lnSpc>
                <a:spcPct val="90000"/>
              </a:lnSpc>
            </a:pPr>
            <a:r>
              <a:rPr lang="zh-CN" altLang="en-US"/>
              <a:t>模板类的派生与普通类一样，也分为公有派生类、保护派生类和私有派生类三种。</a:t>
            </a:r>
          </a:p>
          <a:p>
            <a:pPr>
              <a:lnSpc>
                <a:spcPct val="90000"/>
              </a:lnSpc>
            </a:pPr>
            <a:r>
              <a:rPr lang="zh-CN" altLang="en-US"/>
              <a:t>模板派生类中成员的访问控制规则与普通类也是一样的。</a:t>
            </a:r>
          </a:p>
          <a:p>
            <a:pPr>
              <a:lnSpc>
                <a:spcPct val="90000"/>
              </a:lnSpc>
            </a:pPr>
            <a:r>
              <a:rPr lang="zh-CN" altLang="en-US"/>
              <a:t>下面给出常见的几种情况：</a:t>
            </a:r>
          </a:p>
          <a:p>
            <a:pPr lvl="1">
              <a:lnSpc>
                <a:spcPct val="90000"/>
              </a:lnSpc>
            </a:pPr>
            <a:r>
              <a:rPr lang="zh-CN" altLang="en-US"/>
              <a:t>普通类继承类模板 </a:t>
            </a:r>
          </a:p>
          <a:p>
            <a:pPr lvl="1">
              <a:lnSpc>
                <a:spcPct val="90000"/>
              </a:lnSpc>
            </a:pPr>
            <a:r>
              <a:rPr lang="zh-CN" altLang="en-US"/>
              <a:t>模板类继承普通类</a:t>
            </a:r>
          </a:p>
          <a:p>
            <a:pPr lvl="1">
              <a:lnSpc>
                <a:spcPct val="90000"/>
              </a:lnSpc>
            </a:pPr>
            <a:r>
              <a:rPr lang="zh-CN" altLang="en-US"/>
              <a:t>模板类继承模板类 </a:t>
            </a:r>
          </a:p>
          <a:p>
            <a:pPr lvl="1">
              <a:lnSpc>
                <a:spcPct val="90000"/>
              </a:lnSpc>
            </a:pPr>
            <a:r>
              <a:rPr lang="zh-CN" altLang="en-US"/>
              <a:t>模板类继承模板参数给出的基类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a:t>普通类继承类模板</a:t>
            </a:r>
          </a:p>
        </p:txBody>
      </p:sp>
      <p:sp>
        <p:nvSpPr>
          <p:cNvPr id="47107" name="Rectangle 3"/>
          <p:cNvSpPr>
            <a:spLocks noGrp="1" noChangeArrowheads="1"/>
          </p:cNvSpPr>
          <p:nvPr>
            <p:ph type="body" idx="1"/>
          </p:nvPr>
        </p:nvSpPr>
        <p:spPr>
          <a:xfrm>
            <a:off x="571472" y="1500174"/>
            <a:ext cx="7313613" cy="1447800"/>
          </a:xfrm>
        </p:spPr>
        <p:txBody>
          <a:bodyPr/>
          <a:lstStyle/>
          <a:p>
            <a:r>
              <a:rPr lang="zh-CN" altLang="en-US" dirty="0"/>
              <a:t>可以通过继承类模板的一个实例来声明一个类 ，例如：</a:t>
            </a:r>
          </a:p>
        </p:txBody>
      </p:sp>
      <p:sp>
        <p:nvSpPr>
          <p:cNvPr id="47108" name="Text Box 4"/>
          <p:cNvSpPr txBox="1">
            <a:spLocks noChangeArrowheads="1"/>
          </p:cNvSpPr>
          <p:nvPr/>
        </p:nvSpPr>
        <p:spPr bwMode="auto">
          <a:xfrm>
            <a:off x="714348" y="2971800"/>
            <a:ext cx="7215238" cy="2540000"/>
          </a:xfrm>
          <a:prstGeom prst="rect">
            <a:avLst/>
          </a:prstGeom>
          <a:solidFill>
            <a:schemeClr val="bg1"/>
          </a:solidFill>
          <a:ln w="9525" algn="ctr">
            <a:solidFill>
              <a:srgbClr val="33CCCC"/>
            </a:solidFill>
            <a:miter lim="800000"/>
            <a:headEnd/>
            <a:tailEnd/>
          </a:ln>
          <a:effectLst>
            <a:outerShdw dist="107763" dir="2700000" algn="ctr" rotWithShape="0">
              <a:schemeClr val="bg2">
                <a:alpha val="50000"/>
              </a:schemeClr>
            </a:outerShdw>
          </a:effectLst>
        </p:spPr>
        <p:txBody>
          <a:bodyPr wrap="square">
            <a:spAutoFit/>
          </a:bodyPr>
          <a:lstStyle/>
          <a:p>
            <a:r>
              <a:rPr lang="en-US" altLang="zh-CN" sz="2000" b="1" dirty="0">
                <a:latin typeface="Courier New" pitchFamily="49" charset="0"/>
              </a:rPr>
              <a:t>template&lt;class T&gt;</a:t>
            </a:r>
          </a:p>
          <a:p>
            <a:r>
              <a:rPr lang="en-US" altLang="zh-CN" sz="2000" b="1" dirty="0">
                <a:latin typeface="Courier New" pitchFamily="49" charset="0"/>
              </a:rPr>
              <a:t>class </a:t>
            </a:r>
            <a:r>
              <a:rPr lang="en-US" altLang="zh-CN" sz="2000" b="1" dirty="0" err="1">
                <a:latin typeface="Courier New" pitchFamily="49" charset="0"/>
              </a:rPr>
              <a:t>TBase</a:t>
            </a:r>
            <a:r>
              <a:rPr lang="en-US" altLang="zh-CN" sz="2000" b="1" dirty="0">
                <a:latin typeface="Courier New" pitchFamily="49" charset="0"/>
              </a:rPr>
              <a:t>{</a:t>
            </a:r>
          </a:p>
          <a:p>
            <a:r>
              <a:rPr lang="en-US" altLang="zh-CN" sz="2000" b="1" dirty="0">
                <a:latin typeface="Courier New" pitchFamily="49" charset="0"/>
              </a:rPr>
              <a:t>	T data;</a:t>
            </a:r>
          </a:p>
          <a:p>
            <a:r>
              <a:rPr lang="en-US" altLang="zh-CN" sz="2000" b="1" dirty="0">
                <a:latin typeface="Courier New" pitchFamily="49" charset="0"/>
              </a:rPr>
              <a:t>……</a:t>
            </a:r>
          </a:p>
          <a:p>
            <a:r>
              <a:rPr lang="en-US" altLang="zh-CN" sz="2000" b="1" dirty="0">
                <a:latin typeface="Courier New" pitchFamily="49" charset="0"/>
              </a:rPr>
              <a:t>};</a:t>
            </a:r>
          </a:p>
          <a:p>
            <a:r>
              <a:rPr lang="en-US" altLang="zh-CN" sz="2000" b="1" dirty="0">
                <a:latin typeface="Courier New" pitchFamily="49" charset="0"/>
              </a:rPr>
              <a:t>class </a:t>
            </a:r>
            <a:r>
              <a:rPr lang="en-US" altLang="zh-CN" sz="2000" b="1" dirty="0" err="1">
                <a:latin typeface="Courier New" pitchFamily="49" charset="0"/>
              </a:rPr>
              <a:t>Derived:public</a:t>
            </a:r>
            <a:r>
              <a:rPr lang="en-US" altLang="zh-CN" sz="2000" b="1" dirty="0">
                <a:latin typeface="Courier New" pitchFamily="49" charset="0"/>
              </a:rPr>
              <a:t> </a:t>
            </a:r>
            <a:r>
              <a:rPr lang="en-US" altLang="zh-CN" sz="2000" b="1" dirty="0" err="1">
                <a:latin typeface="Courier New" pitchFamily="49" charset="0"/>
              </a:rPr>
              <a:t>TBase</a:t>
            </a:r>
            <a:r>
              <a:rPr lang="en-US" altLang="zh-CN" sz="2000" b="1" dirty="0">
                <a:latin typeface="Courier New" pitchFamily="49" charset="0"/>
              </a:rPr>
              <a:t>&lt;</a:t>
            </a:r>
            <a:r>
              <a:rPr lang="en-US" altLang="zh-CN" sz="2000" b="1" dirty="0" err="1">
                <a:latin typeface="Courier New" pitchFamily="49" charset="0"/>
              </a:rPr>
              <a:t>int</a:t>
            </a:r>
            <a:r>
              <a:rPr lang="en-US" altLang="zh-CN" sz="2000" b="1" dirty="0">
                <a:latin typeface="Courier New" pitchFamily="49" charset="0"/>
              </a:rPr>
              <a:t>&gt;{</a:t>
            </a:r>
          </a:p>
          <a:p>
            <a:r>
              <a:rPr lang="en-US" altLang="zh-CN" sz="2000" b="1" dirty="0">
                <a:latin typeface="Courier New" pitchFamily="49" charset="0"/>
              </a:rPr>
              <a:t>……</a:t>
            </a:r>
          </a:p>
          <a:p>
            <a:r>
              <a:rPr lang="en-US" altLang="zh-CN" sz="2000" b="1" dirty="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08"/>
                                        </p:tgtEl>
                                        <p:attrNameLst>
                                          <p:attrName>style.visibility</p:attrName>
                                        </p:attrNameLst>
                                      </p:cBhvr>
                                      <p:to>
                                        <p:strVal val="visible"/>
                                      </p:to>
                                    </p:set>
                                    <p:animEffect transition="in" filter="blinds(horizontal)">
                                      <p:cBhvr>
                                        <p:cTn id="7" dur="500"/>
                                        <p:tgtEl>
                                          <p:spTgt spid="4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a:t>模板类继承普通类</a:t>
            </a:r>
          </a:p>
        </p:txBody>
      </p:sp>
      <p:sp>
        <p:nvSpPr>
          <p:cNvPr id="48131" name="Rectangle 3"/>
          <p:cNvSpPr>
            <a:spLocks noGrp="1" noChangeArrowheads="1"/>
          </p:cNvSpPr>
          <p:nvPr>
            <p:ph type="body" idx="1"/>
          </p:nvPr>
        </p:nvSpPr>
        <p:spPr>
          <a:xfrm>
            <a:off x="857224" y="1571612"/>
            <a:ext cx="7313612" cy="1296987"/>
          </a:xfrm>
        </p:spPr>
        <p:txBody>
          <a:bodyPr/>
          <a:lstStyle/>
          <a:p>
            <a:r>
              <a:rPr lang="zh-CN" altLang="en-US" dirty="0"/>
              <a:t>模板类</a:t>
            </a:r>
            <a:r>
              <a:rPr lang="en-US" altLang="zh-CN" dirty="0" err="1"/>
              <a:t>TDerived</a:t>
            </a:r>
            <a:r>
              <a:rPr lang="zh-CN" altLang="en-US" dirty="0"/>
              <a:t>继承了普通类</a:t>
            </a:r>
            <a:r>
              <a:rPr lang="en-US" altLang="zh-CN" dirty="0" err="1"/>
              <a:t>TBase</a:t>
            </a:r>
            <a:r>
              <a:rPr lang="zh-CN" altLang="en-US" dirty="0"/>
              <a:t>，这种情况十分常见。 例如：</a:t>
            </a:r>
          </a:p>
        </p:txBody>
      </p:sp>
      <p:sp>
        <p:nvSpPr>
          <p:cNvPr id="48132" name="Text Box 4"/>
          <p:cNvSpPr txBox="1">
            <a:spLocks noChangeArrowheads="1"/>
          </p:cNvSpPr>
          <p:nvPr/>
        </p:nvSpPr>
        <p:spPr bwMode="auto">
          <a:xfrm>
            <a:off x="1219200" y="2971800"/>
            <a:ext cx="7416800" cy="2540000"/>
          </a:xfrm>
          <a:prstGeom prst="rect">
            <a:avLst/>
          </a:prstGeom>
          <a:solidFill>
            <a:schemeClr val="bg1"/>
          </a:solidFill>
          <a:ln w="9525" algn="ctr">
            <a:solidFill>
              <a:srgbClr val="33CCCC"/>
            </a:solidFill>
            <a:miter lim="800000"/>
            <a:headEnd/>
            <a:tailEnd/>
          </a:ln>
          <a:effectLst>
            <a:outerShdw dist="107763" dir="2700000" algn="ctr" rotWithShape="0">
              <a:schemeClr val="bg2">
                <a:alpha val="50000"/>
              </a:schemeClr>
            </a:outerShdw>
          </a:effectLst>
        </p:spPr>
        <p:txBody>
          <a:bodyPr>
            <a:spAutoFit/>
          </a:bodyPr>
          <a:lstStyle/>
          <a:p>
            <a:r>
              <a:rPr lang="en-US" altLang="zh-CN" sz="2000" b="1">
                <a:latin typeface="Courier New" pitchFamily="49" charset="0"/>
              </a:rPr>
              <a:t>class TBase{</a:t>
            </a:r>
          </a:p>
          <a:p>
            <a:r>
              <a:rPr lang="en-US" altLang="zh-CN" sz="2000" b="1">
                <a:latin typeface="Courier New" pitchFamily="49" charset="0"/>
              </a:rPr>
              <a:t>……</a:t>
            </a:r>
          </a:p>
          <a:p>
            <a:r>
              <a:rPr lang="en-US" altLang="zh-CN" sz="2000" b="1">
                <a:latin typeface="Courier New" pitchFamily="49" charset="0"/>
              </a:rPr>
              <a:t>};</a:t>
            </a:r>
          </a:p>
          <a:p>
            <a:r>
              <a:rPr lang="en-US" altLang="zh-CN" sz="2000" b="1">
                <a:latin typeface="Courier New" pitchFamily="49" charset="0"/>
              </a:rPr>
              <a:t>template&lt;class T&gt;</a:t>
            </a:r>
          </a:p>
          <a:p>
            <a:r>
              <a:rPr lang="en-US" altLang="zh-CN" sz="2000" b="1">
                <a:latin typeface="Courier New" pitchFamily="49" charset="0"/>
              </a:rPr>
              <a:t>class TDerived:public TBase{</a:t>
            </a:r>
          </a:p>
          <a:p>
            <a:r>
              <a:rPr lang="en-US" altLang="zh-CN" sz="2000" b="1">
                <a:latin typeface="Courier New" pitchFamily="49" charset="0"/>
              </a:rPr>
              <a:t>T data;</a:t>
            </a:r>
          </a:p>
          <a:p>
            <a:r>
              <a:rPr lang="en-US" altLang="zh-CN" sz="2000" b="1">
                <a:latin typeface="Courier New" pitchFamily="49" charset="0"/>
              </a:rPr>
              <a:t>……</a:t>
            </a:r>
          </a:p>
          <a:p>
            <a:r>
              <a:rPr lang="en-US" altLang="zh-CN" sz="2000" b="1">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8132"/>
                                        </p:tgtEl>
                                        <p:attrNameLst>
                                          <p:attrName>style.visibility</p:attrName>
                                        </p:attrNameLst>
                                      </p:cBhvr>
                                      <p:to>
                                        <p:strVal val="visible"/>
                                      </p:to>
                                    </p:set>
                                    <p:animEffect transition="in" filter="blinds(horizontal)">
                                      <p:cBhvr>
                                        <p:cTn id="7" dur="500"/>
                                        <p:tgtEl>
                                          <p:spTgt spid="48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a:t>模板类继承模板类</a:t>
            </a:r>
          </a:p>
        </p:txBody>
      </p:sp>
      <p:sp>
        <p:nvSpPr>
          <p:cNvPr id="49155" name="Rectangle 3"/>
          <p:cNvSpPr>
            <a:spLocks noGrp="1" noChangeArrowheads="1"/>
          </p:cNvSpPr>
          <p:nvPr>
            <p:ph type="body" idx="1"/>
          </p:nvPr>
        </p:nvSpPr>
        <p:spPr>
          <a:xfrm>
            <a:off x="428596" y="1357298"/>
            <a:ext cx="7313612" cy="687387"/>
          </a:xfrm>
        </p:spPr>
        <p:txBody>
          <a:bodyPr/>
          <a:lstStyle/>
          <a:p>
            <a:r>
              <a:rPr lang="zh-CN" altLang="en-US"/>
              <a:t>例如：</a:t>
            </a:r>
          </a:p>
        </p:txBody>
      </p:sp>
      <p:sp>
        <p:nvSpPr>
          <p:cNvPr id="49156" name="Text Box 4"/>
          <p:cNvSpPr txBox="1">
            <a:spLocks noChangeArrowheads="1"/>
          </p:cNvSpPr>
          <p:nvPr/>
        </p:nvSpPr>
        <p:spPr bwMode="auto">
          <a:xfrm>
            <a:off x="785786" y="2143116"/>
            <a:ext cx="7416800" cy="3149600"/>
          </a:xfrm>
          <a:prstGeom prst="rect">
            <a:avLst/>
          </a:prstGeom>
          <a:solidFill>
            <a:schemeClr val="bg1"/>
          </a:solidFill>
          <a:ln w="9525" algn="ctr">
            <a:solidFill>
              <a:srgbClr val="33CCCC"/>
            </a:solidFill>
            <a:miter lim="800000"/>
            <a:headEnd/>
            <a:tailEnd/>
          </a:ln>
          <a:effectLst>
            <a:outerShdw dist="107763" dir="2700000" algn="ctr" rotWithShape="0">
              <a:schemeClr val="bg2">
                <a:alpha val="50000"/>
              </a:schemeClr>
            </a:outerShdw>
          </a:effectLst>
        </p:spPr>
        <p:txBody>
          <a:bodyPr>
            <a:spAutoFit/>
          </a:bodyPr>
          <a:lstStyle/>
          <a:p>
            <a:r>
              <a:rPr lang="en-US" altLang="zh-CN" sz="2000" b="1" dirty="0">
                <a:latin typeface="Courier New" pitchFamily="49" charset="0"/>
              </a:rPr>
              <a:t>template&lt;class T&gt;</a:t>
            </a:r>
          </a:p>
          <a:p>
            <a:r>
              <a:rPr lang="en-US" altLang="zh-CN" sz="2000" b="1" dirty="0">
                <a:latin typeface="Courier New" pitchFamily="49" charset="0"/>
              </a:rPr>
              <a:t>class </a:t>
            </a:r>
            <a:r>
              <a:rPr lang="en-US" altLang="zh-CN" sz="2000" b="1" dirty="0" err="1">
                <a:latin typeface="Courier New" pitchFamily="49" charset="0"/>
              </a:rPr>
              <a:t>TBase</a:t>
            </a:r>
            <a:r>
              <a:rPr lang="en-US" altLang="zh-CN" sz="2000" b="1" dirty="0">
                <a:latin typeface="Courier New" pitchFamily="49" charset="0"/>
              </a:rPr>
              <a:t>{</a:t>
            </a:r>
          </a:p>
          <a:p>
            <a:r>
              <a:rPr lang="en-US" altLang="zh-CN" sz="2000" b="1" dirty="0">
                <a:latin typeface="Courier New" pitchFamily="49" charset="0"/>
              </a:rPr>
              <a:t>T data1;</a:t>
            </a:r>
          </a:p>
          <a:p>
            <a:r>
              <a:rPr lang="en-US" altLang="zh-CN" sz="2000" b="1" dirty="0">
                <a:latin typeface="Courier New" pitchFamily="49" charset="0"/>
              </a:rPr>
              <a:t>……</a:t>
            </a:r>
          </a:p>
          <a:p>
            <a:r>
              <a:rPr lang="en-US" altLang="zh-CN" sz="2000" b="1" dirty="0">
                <a:latin typeface="Courier New" pitchFamily="49" charset="0"/>
              </a:rPr>
              <a:t>};</a:t>
            </a:r>
          </a:p>
          <a:p>
            <a:r>
              <a:rPr lang="en-US" altLang="zh-CN" sz="2000" b="1" dirty="0">
                <a:latin typeface="Courier New" pitchFamily="49" charset="0"/>
              </a:rPr>
              <a:t>template&lt;class T1,class T2&gt;</a:t>
            </a:r>
          </a:p>
          <a:p>
            <a:r>
              <a:rPr lang="en-US" altLang="zh-CN" sz="2000" b="1" dirty="0">
                <a:latin typeface="Courier New" pitchFamily="49" charset="0"/>
              </a:rPr>
              <a:t>class </a:t>
            </a:r>
            <a:r>
              <a:rPr lang="en-US" altLang="zh-CN" sz="2000" b="1" dirty="0" err="1">
                <a:latin typeface="Courier New" pitchFamily="49" charset="0"/>
              </a:rPr>
              <a:t>TDerived:public</a:t>
            </a:r>
            <a:r>
              <a:rPr lang="en-US" altLang="zh-CN" sz="2000" b="1" dirty="0">
                <a:latin typeface="Courier New" pitchFamily="49" charset="0"/>
              </a:rPr>
              <a:t> </a:t>
            </a:r>
            <a:r>
              <a:rPr lang="en-US" altLang="zh-CN" sz="2000" b="1" dirty="0" err="1">
                <a:latin typeface="Courier New" pitchFamily="49" charset="0"/>
              </a:rPr>
              <a:t>TBase</a:t>
            </a:r>
            <a:r>
              <a:rPr lang="en-US" altLang="zh-CN" sz="2000" b="1" dirty="0">
                <a:latin typeface="Courier New" pitchFamily="49" charset="0"/>
              </a:rPr>
              <a:t>&lt;T1&gt;{</a:t>
            </a:r>
          </a:p>
          <a:p>
            <a:r>
              <a:rPr lang="en-US" altLang="zh-CN" sz="2000" b="1" dirty="0">
                <a:latin typeface="Courier New" pitchFamily="49" charset="0"/>
              </a:rPr>
              <a:t>T2 data2;</a:t>
            </a:r>
          </a:p>
          <a:p>
            <a:r>
              <a:rPr lang="en-US" altLang="zh-CN" sz="2000" b="1" dirty="0">
                <a:latin typeface="Courier New" pitchFamily="49" charset="0"/>
              </a:rPr>
              <a:t>……</a:t>
            </a:r>
          </a:p>
          <a:p>
            <a:r>
              <a:rPr lang="en-US" altLang="zh-CN" sz="2000" b="1" dirty="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6"/>
                                        </p:tgtEl>
                                        <p:attrNameLst>
                                          <p:attrName>style.visibility</p:attrName>
                                        </p:attrNameLst>
                                      </p:cBhvr>
                                      <p:to>
                                        <p:strVal val="visible"/>
                                      </p:to>
                                    </p:set>
                                    <p:animEffect transition="in" filter="blinds(horizontal)">
                                      <p:cBhvr>
                                        <p:cTn id="7" dur="500"/>
                                        <p:tgtEl>
                                          <p:spTgt spid="49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a:t>类模板和模板类小结</a:t>
            </a:r>
          </a:p>
        </p:txBody>
      </p:sp>
      <p:sp>
        <p:nvSpPr>
          <p:cNvPr id="10243" name="Rectangle 3"/>
          <p:cNvSpPr>
            <a:spLocks noGrp="1" noChangeArrowheads="1"/>
          </p:cNvSpPr>
          <p:nvPr>
            <p:ph type="body" idx="1"/>
          </p:nvPr>
        </p:nvSpPr>
        <p:spPr/>
        <p:txBody>
          <a:bodyPr/>
          <a:lstStyle/>
          <a:p>
            <a:r>
              <a:rPr lang="zh-CN" altLang="en-US"/>
              <a:t>类模板是一个类型参数化的样板，它是一组模板类的集合。</a:t>
            </a:r>
          </a:p>
          <a:p>
            <a:r>
              <a:rPr lang="zh-CN" altLang="en-US"/>
              <a:t>模板类是某个类模板的实例。</a:t>
            </a:r>
          </a:p>
          <a:p>
            <a:r>
              <a:rPr lang="zh-CN" altLang="en-US"/>
              <a:t>使用某个具体的类型来替换某个类模板的模板参数可以生产该类模板的一个模板类。</a:t>
            </a:r>
          </a:p>
          <a:p>
            <a:r>
              <a:rPr lang="zh-CN" altLang="en-US"/>
              <a:t>可以通过模板类再创建具体的对象。</a:t>
            </a:r>
          </a:p>
          <a:p>
            <a:r>
              <a:rPr lang="zh-CN" altLang="en-US"/>
              <a:t>类模板的作用：让类参数化，以加强其通用性，提供代码的重用率。</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函数模板</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函数模板是通过对参数类型进行参数化后，获取有相同形式的函数体。</a:t>
            </a:r>
          </a:p>
          <a:p>
            <a:r>
              <a:rPr lang="zh-CN" altLang="en-US" dirty="0" smtClean="0"/>
              <a:t>它是一个通用函数，它可适应一定范围内的不同类型对象的操作。</a:t>
            </a:r>
          </a:p>
          <a:p>
            <a:r>
              <a:rPr lang="zh-CN" altLang="en-US" dirty="0" smtClean="0"/>
              <a:t>函数模板将代表着不同类型的一组函数，它们都使用相同的代码，这样可以实现代码重用，避免重复劳动，又可增强程序的安全性。 </a:t>
            </a:r>
            <a:endParaRPr lang="en-US" altLang="zh-CN" dirty="0" smtClean="0"/>
          </a:p>
          <a:p>
            <a:r>
              <a:rPr lang="zh-CN" altLang="en-US" dirty="0" smtClean="0"/>
              <a:t>函数模板对于写出通用型算法至关重要。</a:t>
            </a:r>
            <a:endParaRPr lang="en-US" altLang="zh-CN" dirty="0" smtClean="0"/>
          </a:p>
          <a:p>
            <a:endParaRPr lang="zh-CN" altLang="en-US" dirty="0" smtClean="0"/>
          </a:p>
          <a:p>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zh-CN" altLang="en-US" dirty="0" smtClean="0"/>
              <a:t>函数模板的定义格式</a:t>
            </a:r>
            <a:endParaRPr lang="zh-CN" altLang="en-US" dirty="0"/>
          </a:p>
        </p:txBody>
      </p:sp>
      <p:sp>
        <p:nvSpPr>
          <p:cNvPr id="23557" name="Rectangle 5"/>
          <p:cNvSpPr>
            <a:spLocks noChangeArrowheads="1"/>
          </p:cNvSpPr>
          <p:nvPr/>
        </p:nvSpPr>
        <p:spPr bwMode="auto">
          <a:xfrm>
            <a:off x="357158" y="1714488"/>
            <a:ext cx="7921625" cy="4071966"/>
          </a:xfrm>
          <a:prstGeom prst="rect">
            <a:avLst/>
          </a:prstGeom>
          <a:solidFill>
            <a:schemeClr val="accent1"/>
          </a:solidFill>
          <a:ln w="38100">
            <a:solidFill>
              <a:schemeClr val="tx1"/>
            </a:solidFill>
            <a:miter lim="800000"/>
            <a:headEnd/>
            <a:tailEnd/>
          </a:ln>
          <a:effectLst/>
        </p:spPr>
        <p:txBody>
          <a:bodyPr wrap="none" anchor="ctr"/>
          <a:lstStyle/>
          <a:p>
            <a:r>
              <a:rPr lang="zh-CN" altLang="en-US" sz="2000" dirty="0"/>
              <a:t>函数模板的定义格式：</a:t>
            </a:r>
          </a:p>
          <a:p>
            <a:r>
              <a:rPr lang="en-US" altLang="zh-CN" sz="2000" dirty="0"/>
              <a:t>template &lt;(</a:t>
            </a:r>
            <a:r>
              <a:rPr lang="zh-CN" altLang="en-US" sz="2000" dirty="0"/>
              <a:t>参数化类型名表</a:t>
            </a:r>
            <a:r>
              <a:rPr lang="en-US" altLang="zh-CN" sz="2000" dirty="0"/>
              <a:t>)&gt;&lt;</a:t>
            </a:r>
            <a:r>
              <a:rPr lang="zh-CN" altLang="en-US" sz="2000" dirty="0"/>
              <a:t>类型</a:t>
            </a:r>
            <a:r>
              <a:rPr lang="en-US" altLang="zh-CN" sz="2000" dirty="0"/>
              <a:t>&gt; &lt;</a:t>
            </a:r>
            <a:r>
              <a:rPr lang="zh-CN" altLang="en-US" sz="2000" dirty="0"/>
              <a:t>函数名</a:t>
            </a:r>
            <a:r>
              <a:rPr lang="en-US" altLang="zh-CN" sz="2000" dirty="0"/>
              <a:t>&gt;(&lt;</a:t>
            </a:r>
            <a:r>
              <a:rPr lang="zh-CN" altLang="en-US" sz="2000" dirty="0"/>
              <a:t>模板参数表</a:t>
            </a:r>
            <a:r>
              <a:rPr lang="en-US" altLang="zh-CN" sz="2000" dirty="0"/>
              <a:t>&gt;)</a:t>
            </a:r>
          </a:p>
          <a:p>
            <a:r>
              <a:rPr lang="en-US" altLang="zh-CN" sz="2000" dirty="0"/>
              <a:t>  {</a:t>
            </a:r>
          </a:p>
          <a:p>
            <a:r>
              <a:rPr lang="en-US" altLang="zh-CN" sz="2000" dirty="0"/>
              <a:t>     &lt;</a:t>
            </a:r>
            <a:r>
              <a:rPr lang="zh-CN" altLang="en-US" sz="2000" dirty="0"/>
              <a:t>函数体</a:t>
            </a:r>
            <a:r>
              <a:rPr lang="en-US" altLang="zh-CN" sz="2000" dirty="0"/>
              <a:t>&gt;</a:t>
            </a:r>
          </a:p>
          <a:p>
            <a:r>
              <a:rPr lang="en-US" altLang="zh-CN" sz="2000" dirty="0"/>
              <a:t>  }</a:t>
            </a:r>
          </a:p>
          <a:p>
            <a:r>
              <a:rPr lang="zh-CN" altLang="en-US" sz="2000" dirty="0"/>
              <a:t>参数化类型名表又称模板参数表，多个表项用逗号分隔。</a:t>
            </a:r>
          </a:p>
          <a:p>
            <a:r>
              <a:rPr lang="zh-CN" altLang="en-US" sz="2000" dirty="0"/>
              <a:t>每个表项称为一个模板参数（模板形参）。格式如下：</a:t>
            </a:r>
          </a:p>
          <a:p>
            <a:r>
              <a:rPr lang="en-US" altLang="zh-CN" sz="2000" dirty="0"/>
              <a:t>class &lt;</a:t>
            </a:r>
            <a:r>
              <a:rPr lang="zh-CN" altLang="en-US" sz="2000" dirty="0"/>
              <a:t>参数名</a:t>
            </a:r>
            <a:r>
              <a:rPr lang="en-US" altLang="zh-CN" sz="2000" dirty="0"/>
              <a:t>&gt;</a:t>
            </a:r>
          </a:p>
          <a:p>
            <a:r>
              <a:rPr lang="zh-CN" altLang="en-US" sz="2000" dirty="0"/>
              <a:t>或</a:t>
            </a:r>
            <a:r>
              <a:rPr lang="en-US" altLang="zh-CN" sz="2000" dirty="0" err="1"/>
              <a:t>typename</a:t>
            </a:r>
            <a:r>
              <a:rPr lang="en-US" altLang="zh-CN" sz="2000" dirty="0"/>
              <a:t>&lt;</a:t>
            </a:r>
            <a:r>
              <a:rPr lang="zh-CN" altLang="en-US" sz="2000" dirty="0"/>
              <a:t>参数名</a:t>
            </a:r>
            <a:r>
              <a:rPr lang="en-US" altLang="zh-CN" sz="2000" dirty="0"/>
              <a:t>&gt;</a:t>
            </a:r>
          </a:p>
          <a:p>
            <a:r>
              <a:rPr lang="zh-CN" altLang="en-US" sz="2000" dirty="0"/>
              <a:t>或</a:t>
            </a:r>
            <a:r>
              <a:rPr lang="en-US" altLang="zh-CN" sz="2000" dirty="0"/>
              <a:t>&lt;</a:t>
            </a:r>
            <a:r>
              <a:rPr lang="zh-CN" altLang="en-US" sz="2000" dirty="0"/>
              <a:t>类型修饰</a:t>
            </a:r>
            <a:r>
              <a:rPr lang="en-US" altLang="zh-CN" sz="2000" dirty="0"/>
              <a:t>&gt; &lt;</a:t>
            </a:r>
            <a:r>
              <a:rPr lang="zh-CN" altLang="en-US" sz="2000" dirty="0"/>
              <a:t>参数名</a:t>
            </a:r>
            <a:r>
              <a:rPr lang="en-US" altLang="zh-CN" sz="2000" dirty="0"/>
              <a:t>&gt;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类型推断</a:t>
            </a:r>
            <a:endParaRPr lang="zh-CN" altLang="en-US" dirty="0"/>
          </a:p>
        </p:txBody>
      </p:sp>
      <p:sp>
        <p:nvSpPr>
          <p:cNvPr id="3" name="内容占位符 2"/>
          <p:cNvSpPr>
            <a:spLocks noGrp="1"/>
          </p:cNvSpPr>
          <p:nvPr>
            <p:ph idx="1"/>
          </p:nvPr>
        </p:nvSpPr>
        <p:spPr>
          <a:xfrm>
            <a:off x="457200" y="1600201"/>
            <a:ext cx="8229600" cy="2257427"/>
          </a:xfrm>
        </p:spPr>
        <p:txBody>
          <a:bodyPr>
            <a:normAutofit fontScale="92500" lnSpcReduction="10000"/>
          </a:bodyPr>
          <a:lstStyle/>
          <a:p>
            <a:r>
              <a:rPr lang="zh-CN" altLang="en-US" dirty="0" smtClean="0"/>
              <a:t>在调用模板函数时，函数参数的类型决定到底使用模板的哪个版本，即，模板的参数是由函数参数推断出来的。</a:t>
            </a:r>
            <a:endParaRPr lang="en-US" altLang="zh-CN" dirty="0" smtClean="0"/>
          </a:p>
          <a:p>
            <a:r>
              <a:rPr lang="zh-CN" altLang="en-US" dirty="0" smtClean="0"/>
              <a:t>编译器能够从一个调用推断出类型参数和非类型参数。</a:t>
            </a:r>
            <a:endParaRPr lang="en-US" altLang="zh-CN" dirty="0" smtClean="0"/>
          </a:p>
          <a:p>
            <a:pPr lvl="3">
              <a:buNone/>
            </a:pPr>
            <a:endParaRPr lang="zh-CN" altLang="en-US" dirty="0" smtClean="0"/>
          </a:p>
          <a:p>
            <a:endParaRPr lang="zh-CN" altLang="en-US" dirty="0" smtClean="0"/>
          </a:p>
          <a:p>
            <a:endParaRPr lang="en-US" altLang="zh-CN" dirty="0" smtClean="0"/>
          </a:p>
          <a:p>
            <a:endParaRPr lang="zh-CN" altLang="en-US" dirty="0"/>
          </a:p>
        </p:txBody>
      </p:sp>
      <p:sp>
        <p:nvSpPr>
          <p:cNvPr id="5" name="TextBox 4"/>
          <p:cNvSpPr txBox="1"/>
          <p:nvPr/>
        </p:nvSpPr>
        <p:spPr>
          <a:xfrm>
            <a:off x="785786" y="4000504"/>
            <a:ext cx="8072494" cy="2246769"/>
          </a:xfrm>
          <a:prstGeom prst="rect">
            <a:avLst/>
          </a:prstGeom>
          <a:noFill/>
          <a:ln>
            <a:solidFill>
              <a:schemeClr val="accent1"/>
            </a:solidFill>
          </a:ln>
        </p:spPr>
        <p:txBody>
          <a:bodyPr wrap="square" rtlCol="0">
            <a:spAutoFit/>
          </a:bodyPr>
          <a:lstStyle/>
          <a:p>
            <a:r>
              <a:rPr lang="en-US" altLang="zh-CN" sz="2000" dirty="0" smtClean="0"/>
              <a:t>template&lt;class T, </a:t>
            </a:r>
            <a:r>
              <a:rPr lang="en-US" altLang="zh-CN" sz="2000" dirty="0" err="1" smtClean="0"/>
              <a:t>int</a:t>
            </a:r>
            <a:r>
              <a:rPr lang="en-US" altLang="zh-CN" sz="2000" dirty="0" smtClean="0"/>
              <a:t> </a:t>
            </a:r>
            <a:r>
              <a:rPr lang="en-US" altLang="zh-CN" sz="2000" dirty="0" err="1" smtClean="0"/>
              <a:t>i</a:t>
            </a:r>
            <a:r>
              <a:rPr lang="en-US" altLang="zh-CN" sz="2000" dirty="0" smtClean="0"/>
              <a:t>&gt; T&amp; lookup(Buffer&lt;T, </a:t>
            </a:r>
            <a:r>
              <a:rPr lang="en-US" altLang="zh-CN" sz="2000" dirty="0" err="1" smtClean="0"/>
              <a:t>i</a:t>
            </a:r>
            <a:r>
              <a:rPr lang="en-US" altLang="zh-CN" sz="2000" dirty="0" smtClean="0"/>
              <a:t>&gt;&amp; b, const char* p);</a:t>
            </a:r>
          </a:p>
          <a:p>
            <a:r>
              <a:rPr lang="en-US" altLang="zh-CN" sz="2000" dirty="0" smtClean="0"/>
              <a:t>class Record{</a:t>
            </a:r>
          </a:p>
          <a:p>
            <a:r>
              <a:rPr lang="en-US" altLang="zh-CN" sz="2000" dirty="0" smtClean="0"/>
              <a:t>	const char v[12];</a:t>
            </a:r>
          </a:p>
          <a:p>
            <a:r>
              <a:rPr lang="en-US" altLang="zh-CN" sz="2000" dirty="0" smtClean="0"/>
              <a:t>};</a:t>
            </a:r>
          </a:p>
          <a:p>
            <a:r>
              <a:rPr lang="en-US" altLang="zh-CN" sz="2000" dirty="0" smtClean="0"/>
              <a:t>Record&amp; f(Buffer&lt;Record, 128&gt;&amp; </a:t>
            </a:r>
            <a:r>
              <a:rPr lang="en-US" altLang="zh-CN" sz="2000" dirty="0" err="1" smtClean="0"/>
              <a:t>buf</a:t>
            </a:r>
            <a:r>
              <a:rPr lang="en-US" altLang="zh-CN" sz="2000" dirty="0" smtClean="0"/>
              <a:t>, const char* p){</a:t>
            </a:r>
          </a:p>
          <a:p>
            <a:r>
              <a:rPr lang="en-US" altLang="zh-CN" sz="2000" dirty="0" smtClean="0"/>
              <a:t>	return lookup(</a:t>
            </a:r>
            <a:r>
              <a:rPr lang="en-US" altLang="zh-CN" sz="2000" dirty="0" err="1" smtClean="0"/>
              <a:t>buf</a:t>
            </a:r>
            <a:r>
              <a:rPr lang="en-US" altLang="zh-CN" sz="2000" dirty="0" smtClean="0"/>
              <a:t>, p);//</a:t>
            </a:r>
            <a:r>
              <a:rPr lang="zh-CN" altLang="en-US" sz="2000" dirty="0" smtClean="0"/>
              <a:t>使用</a:t>
            </a:r>
            <a:r>
              <a:rPr lang="en-US" altLang="zh-CN" sz="2000" dirty="0" smtClean="0"/>
              <a:t>lookup,</a:t>
            </a:r>
            <a:r>
              <a:rPr lang="zh-CN" altLang="en-US" sz="2000" dirty="0" smtClean="0"/>
              <a:t>其中</a:t>
            </a:r>
            <a:r>
              <a:rPr lang="en-US" altLang="zh-CN" sz="2000" dirty="0" smtClean="0"/>
              <a:t>T</a:t>
            </a:r>
            <a:r>
              <a:rPr lang="zh-CN" altLang="en-US" sz="2000" dirty="0" smtClean="0"/>
              <a:t>是</a:t>
            </a:r>
            <a:r>
              <a:rPr lang="en-US" altLang="zh-CN" sz="2000" dirty="0" smtClean="0"/>
              <a:t>Record</a:t>
            </a:r>
            <a:r>
              <a:rPr lang="zh-CN" altLang="en-US" sz="2000" dirty="0" smtClean="0"/>
              <a:t>类型， </a:t>
            </a:r>
            <a:r>
              <a:rPr lang="en-US" altLang="zh-CN" sz="2000" dirty="0" err="1" smtClean="0"/>
              <a:t>i</a:t>
            </a:r>
            <a:r>
              <a:rPr lang="zh-CN" altLang="en-US" sz="2000" dirty="0" smtClean="0"/>
              <a:t>是</a:t>
            </a:r>
            <a:r>
              <a:rPr lang="en-US" altLang="zh-CN" sz="2000" dirty="0" smtClean="0"/>
              <a:t>128</a:t>
            </a:r>
          </a:p>
          <a:p>
            <a:r>
              <a:rPr lang="en-US" altLang="zh-CN" sz="2000" dirty="0" smtClean="0"/>
              <a:t>}</a:t>
            </a:r>
            <a:endParaRPr lang="zh-CN"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不能进行类型推断</a:t>
            </a:r>
            <a:r>
              <a:rPr lang="en-US" altLang="zh-CN" dirty="0" smtClean="0"/>
              <a:t>(</a:t>
            </a:r>
            <a:r>
              <a:rPr lang="zh-CN" altLang="en-US" dirty="0" smtClean="0"/>
              <a:t>省略类型参数</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smtClean="0"/>
              <a:t>以下四种情况模板实参不能省略</a:t>
            </a:r>
            <a:r>
              <a:rPr lang="en-US" altLang="zh-CN" dirty="0" smtClean="0"/>
              <a:t>:</a:t>
            </a:r>
          </a:p>
          <a:p>
            <a:pPr lvl="1"/>
            <a:r>
              <a:rPr lang="zh-CN" altLang="en-US" dirty="0" smtClean="0"/>
              <a:t>从模板函数实参表获得的信息有矛盾。 </a:t>
            </a:r>
          </a:p>
          <a:p>
            <a:pPr lvl="1"/>
            <a:r>
              <a:rPr lang="zh-CN" altLang="en-US" dirty="0" smtClean="0"/>
              <a:t>需要获得特定类型的返回值，而不管参数的类型如何。 </a:t>
            </a:r>
          </a:p>
          <a:p>
            <a:pPr lvl="1"/>
            <a:r>
              <a:rPr lang="zh-CN" altLang="en-US" dirty="0" smtClean="0"/>
              <a:t>虚拟类型参数没有出现在模板函数的形参表中。 </a:t>
            </a:r>
          </a:p>
          <a:p>
            <a:pPr lvl="1"/>
            <a:r>
              <a:rPr lang="zh-CN" altLang="en-US" dirty="0" smtClean="0"/>
              <a:t>函数模板含有常规形参。 </a:t>
            </a:r>
          </a:p>
          <a:p>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sz="3200"/>
              <a:t>从模板函数实参表获得的信息有矛盾。 </a:t>
            </a:r>
          </a:p>
        </p:txBody>
      </p:sp>
      <p:sp>
        <p:nvSpPr>
          <p:cNvPr id="32771" name="Rectangle 3"/>
          <p:cNvSpPr>
            <a:spLocks noGrp="1" noChangeArrowheads="1"/>
          </p:cNvSpPr>
          <p:nvPr>
            <p:ph type="body" idx="1"/>
          </p:nvPr>
        </p:nvSpPr>
        <p:spPr>
          <a:xfrm>
            <a:off x="357159" y="1643051"/>
            <a:ext cx="8143932" cy="4605350"/>
          </a:xfrm>
        </p:spPr>
        <p:txBody>
          <a:bodyPr/>
          <a:lstStyle/>
          <a:p>
            <a:pPr lvl="1">
              <a:lnSpc>
                <a:spcPct val="90000"/>
              </a:lnSpc>
              <a:buNone/>
            </a:pPr>
            <a:r>
              <a:rPr lang="en-US" altLang="zh-CN" dirty="0" smtClean="0"/>
              <a:t>template&lt;</a:t>
            </a:r>
            <a:r>
              <a:rPr lang="en-US" altLang="zh-CN" dirty="0" err="1" smtClean="0"/>
              <a:t>typename</a:t>
            </a:r>
            <a:r>
              <a:rPr lang="en-US" altLang="zh-CN" dirty="0" smtClean="0"/>
              <a:t> T&gt; </a:t>
            </a:r>
          </a:p>
          <a:p>
            <a:pPr lvl="1">
              <a:lnSpc>
                <a:spcPct val="90000"/>
              </a:lnSpc>
              <a:buNone/>
            </a:pPr>
            <a:r>
              <a:rPr lang="en-US" altLang="zh-CN" dirty="0" smtClean="0"/>
              <a:t>T </a:t>
            </a:r>
            <a:r>
              <a:rPr lang="en-US" altLang="zh-CN" dirty="0"/>
              <a:t>add(T </a:t>
            </a:r>
            <a:r>
              <a:rPr lang="en-US" altLang="zh-CN" dirty="0" err="1"/>
              <a:t>a,T</a:t>
            </a:r>
            <a:r>
              <a:rPr lang="en-US" altLang="zh-CN" dirty="0"/>
              <a:t> b){return </a:t>
            </a:r>
            <a:r>
              <a:rPr lang="en-US" altLang="zh-CN" dirty="0" err="1"/>
              <a:t>a+b</a:t>
            </a:r>
            <a:r>
              <a:rPr lang="en-US" altLang="zh-CN" dirty="0"/>
              <a:t>;}</a:t>
            </a:r>
          </a:p>
          <a:p>
            <a:pPr lvl="2">
              <a:lnSpc>
                <a:spcPct val="90000"/>
              </a:lnSpc>
            </a:pPr>
            <a:r>
              <a:rPr lang="zh-CN" altLang="en-US" dirty="0"/>
              <a:t>若调用函数的语句为：</a:t>
            </a:r>
            <a:r>
              <a:rPr lang="en-US" altLang="zh-CN" dirty="0" err="1"/>
              <a:t>cout</a:t>
            </a:r>
            <a:r>
              <a:rPr lang="en-US" altLang="zh-CN" dirty="0"/>
              <a:t>&lt;&lt;add(3,5);</a:t>
            </a:r>
          </a:p>
          <a:p>
            <a:pPr lvl="3">
              <a:lnSpc>
                <a:spcPct val="90000"/>
              </a:lnSpc>
            </a:pPr>
            <a:r>
              <a:rPr lang="zh-CN" altLang="en-US" dirty="0"/>
              <a:t>则编译系统无论是从</a:t>
            </a:r>
            <a:r>
              <a:rPr lang="en-US" altLang="zh-CN" dirty="0"/>
              <a:t>3</a:t>
            </a:r>
            <a:r>
              <a:rPr lang="zh-CN" altLang="en-US" dirty="0"/>
              <a:t>还是</a:t>
            </a:r>
            <a:r>
              <a:rPr lang="en-US" altLang="zh-CN" dirty="0"/>
              <a:t>5</a:t>
            </a:r>
            <a:r>
              <a:rPr lang="zh-CN" altLang="en-US" dirty="0"/>
              <a:t>所获得的信息都是</a:t>
            </a:r>
            <a:r>
              <a:rPr lang="en-US" altLang="zh-CN" dirty="0"/>
              <a:t>T</a:t>
            </a:r>
            <a:r>
              <a:rPr lang="zh-CN" altLang="en-US" dirty="0"/>
              <a:t>对应于</a:t>
            </a:r>
            <a:r>
              <a:rPr lang="en-US" altLang="zh-CN" dirty="0" err="1"/>
              <a:t>int</a:t>
            </a:r>
            <a:r>
              <a:rPr lang="zh-CN" altLang="en-US" dirty="0"/>
              <a:t>，因此可顺利地生成如下模板函数：</a:t>
            </a:r>
            <a:r>
              <a:rPr lang="en-US" altLang="zh-CN" dirty="0" err="1"/>
              <a:t>int</a:t>
            </a:r>
            <a:r>
              <a:rPr lang="en-US" altLang="zh-CN" dirty="0"/>
              <a:t> add(</a:t>
            </a:r>
            <a:r>
              <a:rPr lang="en-US" altLang="zh-CN" dirty="0" err="1"/>
              <a:t>int</a:t>
            </a:r>
            <a:r>
              <a:rPr lang="en-US" altLang="zh-CN" dirty="0"/>
              <a:t> a, </a:t>
            </a:r>
            <a:r>
              <a:rPr lang="en-US" altLang="zh-CN" dirty="0" err="1"/>
              <a:t>int</a:t>
            </a:r>
            <a:r>
              <a:rPr lang="en-US" altLang="zh-CN" dirty="0"/>
              <a:t> b){return </a:t>
            </a:r>
            <a:r>
              <a:rPr lang="en-US" altLang="zh-CN" dirty="0" err="1"/>
              <a:t>a+b</a:t>
            </a:r>
            <a:r>
              <a:rPr lang="en-US" altLang="zh-CN" dirty="0"/>
              <a:t>;}</a:t>
            </a:r>
          </a:p>
          <a:p>
            <a:pPr lvl="2">
              <a:lnSpc>
                <a:spcPct val="90000"/>
              </a:lnSpc>
            </a:pPr>
            <a:r>
              <a:rPr lang="zh-CN" altLang="en-US" dirty="0"/>
              <a:t>调用语句变为：</a:t>
            </a:r>
          </a:p>
          <a:p>
            <a:pPr lvl="3">
              <a:lnSpc>
                <a:spcPct val="90000"/>
              </a:lnSpc>
              <a:buNone/>
            </a:pPr>
            <a:r>
              <a:rPr lang="en-US" altLang="zh-CN" dirty="0" err="1"/>
              <a:t>cout</a:t>
            </a:r>
            <a:r>
              <a:rPr lang="en-US" altLang="zh-CN" dirty="0"/>
              <a:t>&lt;&lt;add&lt;</a:t>
            </a:r>
            <a:r>
              <a:rPr lang="en-US" altLang="zh-CN" dirty="0" err="1"/>
              <a:t>int</a:t>
            </a:r>
            <a:r>
              <a:rPr lang="en-US" altLang="zh-CN" dirty="0"/>
              <a:t>&gt;(3.0,5</a:t>
            </a:r>
            <a:r>
              <a:rPr lang="en-US" altLang="zh-CN" dirty="0" smtClean="0"/>
              <a:t>);</a:t>
            </a:r>
          </a:p>
          <a:p>
            <a:pPr lvl="3">
              <a:lnSpc>
                <a:spcPct val="90000"/>
              </a:lnSpc>
              <a:buNone/>
            </a:pPr>
            <a:r>
              <a:rPr lang="zh-CN" altLang="en-US" dirty="0" smtClean="0"/>
              <a:t>其中，紧跟在函数名后的</a:t>
            </a:r>
            <a:r>
              <a:rPr lang="en-US" altLang="zh-CN" dirty="0" smtClean="0"/>
              <a:t>&lt;</a:t>
            </a:r>
            <a:r>
              <a:rPr lang="en-US" altLang="zh-CN" dirty="0" err="1" smtClean="0"/>
              <a:t>int</a:t>
            </a:r>
            <a:r>
              <a:rPr lang="en-US" altLang="zh-CN" dirty="0" smtClean="0"/>
              <a:t>&gt;</a:t>
            </a:r>
            <a:r>
              <a:rPr lang="zh-CN" altLang="en-US" dirty="0" smtClean="0"/>
              <a:t>就是模板实参表，此时，编译系统生成如下的模板函数：</a:t>
            </a:r>
          </a:p>
          <a:p>
            <a:pPr lvl="4">
              <a:lnSpc>
                <a:spcPct val="90000"/>
              </a:lnSpc>
              <a:buNone/>
            </a:pPr>
            <a:r>
              <a:rPr lang="en-US" altLang="zh-CN" dirty="0" err="1" smtClean="0"/>
              <a:t>int</a:t>
            </a:r>
            <a:r>
              <a:rPr lang="en-US" altLang="zh-CN" dirty="0" smtClean="0"/>
              <a:t> add(</a:t>
            </a:r>
            <a:r>
              <a:rPr lang="en-US" altLang="zh-CN" dirty="0" err="1" smtClean="0"/>
              <a:t>int</a:t>
            </a:r>
            <a:r>
              <a:rPr lang="en-US" altLang="zh-CN" dirty="0" smtClean="0"/>
              <a:t> </a:t>
            </a:r>
            <a:r>
              <a:rPr lang="en-US" altLang="zh-CN" dirty="0" err="1" smtClean="0"/>
              <a:t>a,int</a:t>
            </a:r>
            <a:r>
              <a:rPr lang="en-US" altLang="zh-CN" dirty="0" smtClean="0"/>
              <a:t> b){return </a:t>
            </a:r>
            <a:r>
              <a:rPr lang="en-US" altLang="zh-CN" dirty="0" err="1" smtClean="0"/>
              <a:t>a+b</a:t>
            </a:r>
            <a:r>
              <a:rPr lang="en-US" altLang="zh-CN" dirty="0" smtClean="0"/>
              <a:t>;}</a:t>
            </a:r>
            <a:endParaRPr lang="en-US" altLang="zh-CN"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z="3200" dirty="0" smtClean="0"/>
              <a:t>获得</a:t>
            </a:r>
            <a:r>
              <a:rPr lang="zh-CN" altLang="en-US" sz="3200" dirty="0"/>
              <a:t>特定类型的返回</a:t>
            </a:r>
            <a:r>
              <a:rPr lang="zh-CN" altLang="en-US" sz="3200" dirty="0" smtClean="0"/>
              <a:t>值</a:t>
            </a:r>
            <a:endParaRPr lang="zh-CN" altLang="en-US" sz="3200" dirty="0"/>
          </a:p>
        </p:txBody>
      </p:sp>
      <p:sp>
        <p:nvSpPr>
          <p:cNvPr id="33795" name="Rectangle 3"/>
          <p:cNvSpPr>
            <a:spLocks noGrp="1" noChangeArrowheads="1"/>
          </p:cNvSpPr>
          <p:nvPr>
            <p:ph type="body" idx="1"/>
          </p:nvPr>
        </p:nvSpPr>
        <p:spPr/>
        <p:txBody>
          <a:bodyPr/>
          <a:lstStyle/>
          <a:p>
            <a:r>
              <a:rPr lang="zh-CN" altLang="en-US" dirty="0" smtClean="0"/>
              <a:t>需要获得特定类型的返回值，而不管参数的类型如何。 </a:t>
            </a:r>
            <a:endParaRPr lang="en-US" altLang="zh-CN" dirty="0" smtClean="0"/>
          </a:p>
          <a:p>
            <a:r>
              <a:rPr lang="zh-CN" altLang="en-US" dirty="0" smtClean="0"/>
              <a:t>例如</a:t>
            </a:r>
            <a:r>
              <a:rPr lang="zh-CN" altLang="en-US" dirty="0"/>
              <a:t>，</a:t>
            </a:r>
          </a:p>
          <a:p>
            <a:pPr lvl="1"/>
            <a:r>
              <a:rPr lang="zh-CN" altLang="en-US" dirty="0"/>
              <a:t>如果需要</a:t>
            </a:r>
            <a:r>
              <a:rPr lang="en-US" altLang="zh-CN" dirty="0"/>
              <a:t>add</a:t>
            </a:r>
            <a:r>
              <a:rPr lang="zh-CN" altLang="en-US" dirty="0"/>
              <a:t>返回一个</a:t>
            </a:r>
            <a:r>
              <a:rPr lang="en-US" altLang="zh-CN" dirty="0" err="1"/>
              <a:t>int</a:t>
            </a:r>
            <a:r>
              <a:rPr lang="zh-CN" altLang="en-US" dirty="0"/>
              <a:t>型的值，</a:t>
            </a:r>
          </a:p>
          <a:p>
            <a:pPr lvl="1"/>
            <a:r>
              <a:rPr lang="zh-CN" altLang="en-US" dirty="0"/>
              <a:t>那么直接以</a:t>
            </a:r>
            <a:r>
              <a:rPr lang="en-US" altLang="zh-CN" dirty="0"/>
              <a:t>add&lt;</a:t>
            </a:r>
            <a:r>
              <a:rPr lang="en-US" altLang="zh-CN" dirty="0" err="1"/>
              <a:t>int</a:t>
            </a:r>
            <a:r>
              <a:rPr lang="en-US" altLang="zh-CN" dirty="0"/>
              <a:t>&gt;(</a:t>
            </a:r>
            <a:r>
              <a:rPr lang="en-US" altLang="zh-CN" dirty="0" err="1"/>
              <a:t>a,b</a:t>
            </a:r>
            <a:r>
              <a:rPr lang="en-US" altLang="zh-CN" dirty="0"/>
              <a:t>);</a:t>
            </a:r>
            <a:r>
              <a:rPr lang="zh-CN" altLang="en-US" dirty="0"/>
              <a:t>形式调用即可。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0" y="357166"/>
            <a:ext cx="8572528" cy="928695"/>
          </a:xfrm>
        </p:spPr>
        <p:txBody>
          <a:bodyPr/>
          <a:lstStyle/>
          <a:p>
            <a:r>
              <a:rPr lang="zh-CN" altLang="en-US" sz="3200" dirty="0"/>
              <a:t>虚拟类型参数没有出现在模板函数的形参表</a:t>
            </a:r>
            <a:r>
              <a:rPr lang="zh-CN" altLang="en-US" sz="3200" dirty="0" smtClean="0"/>
              <a:t>中</a:t>
            </a:r>
            <a:endParaRPr lang="zh-CN" altLang="en-US" sz="3200" dirty="0"/>
          </a:p>
        </p:txBody>
      </p:sp>
      <p:sp>
        <p:nvSpPr>
          <p:cNvPr id="35843" name="Rectangle 3"/>
          <p:cNvSpPr>
            <a:spLocks noGrp="1" noChangeArrowheads="1"/>
          </p:cNvSpPr>
          <p:nvPr>
            <p:ph type="body" idx="1"/>
          </p:nvPr>
        </p:nvSpPr>
        <p:spPr>
          <a:xfrm>
            <a:off x="428596" y="1357299"/>
            <a:ext cx="8143932" cy="1857387"/>
          </a:xfrm>
        </p:spPr>
        <p:txBody>
          <a:bodyPr>
            <a:normAutofit lnSpcReduction="10000"/>
          </a:bodyPr>
          <a:lstStyle/>
          <a:p>
            <a:r>
              <a:rPr lang="zh-CN" altLang="en-US" dirty="0"/>
              <a:t>由于虚拟类型参数没有出现在模板函数的形参表中，所以调用时不可能从模板函数的实参表中获得相应的信息，因此无法省略</a:t>
            </a:r>
            <a:r>
              <a:rPr lang="zh-CN" altLang="en-US" dirty="0" smtClean="0"/>
              <a:t>。</a:t>
            </a:r>
            <a:endParaRPr lang="zh-CN" altLang="en-US" dirty="0"/>
          </a:p>
        </p:txBody>
      </p:sp>
      <p:sp>
        <p:nvSpPr>
          <p:cNvPr id="35844" name="Text Box 4"/>
          <p:cNvSpPr txBox="1">
            <a:spLocks noChangeArrowheads="1"/>
          </p:cNvSpPr>
          <p:nvPr/>
        </p:nvSpPr>
        <p:spPr bwMode="auto">
          <a:xfrm>
            <a:off x="1066800" y="3214686"/>
            <a:ext cx="7467600" cy="3287714"/>
          </a:xfrm>
          <a:prstGeom prst="rect">
            <a:avLst/>
          </a:prstGeom>
          <a:solidFill>
            <a:schemeClr val="bg1"/>
          </a:solidFill>
          <a:ln w="9525" algn="ctr">
            <a:solidFill>
              <a:srgbClr val="33CCCC"/>
            </a:solidFill>
            <a:miter lim="800000"/>
            <a:headEnd/>
            <a:tailEnd/>
          </a:ln>
          <a:effectLst>
            <a:outerShdw dist="107763" dir="2700000" algn="ctr" rotWithShape="0">
              <a:schemeClr val="bg2">
                <a:alpha val="50000"/>
              </a:schemeClr>
            </a:outerShdw>
          </a:effectLst>
        </p:spPr>
        <p:txBody>
          <a:bodyPr wrap="square">
            <a:spAutoFit/>
          </a:bodyPr>
          <a:lstStyle/>
          <a:p>
            <a:r>
              <a:rPr lang="en-US" altLang="zh-CN" sz="2000" b="1" dirty="0">
                <a:latin typeface="Courier New" pitchFamily="49" charset="0"/>
              </a:rPr>
              <a:t>#include&lt;</a:t>
            </a:r>
            <a:r>
              <a:rPr lang="en-US" altLang="zh-CN" sz="2000" b="1" dirty="0" err="1">
                <a:latin typeface="Courier New" pitchFamily="49" charset="0"/>
              </a:rPr>
              <a:t>iostream</a:t>
            </a:r>
            <a:r>
              <a:rPr lang="en-US" altLang="zh-CN" sz="2000" b="1" dirty="0">
                <a:latin typeface="Courier New" pitchFamily="49" charset="0"/>
              </a:rPr>
              <a:t>&gt;</a:t>
            </a:r>
          </a:p>
          <a:p>
            <a:r>
              <a:rPr lang="en-US" altLang="zh-CN" sz="2000" b="1" dirty="0">
                <a:latin typeface="Courier New" pitchFamily="49" charset="0"/>
              </a:rPr>
              <a:t>using namespace std;</a:t>
            </a:r>
          </a:p>
          <a:p>
            <a:r>
              <a:rPr lang="en-US" altLang="zh-CN" sz="2000" b="1" dirty="0">
                <a:latin typeface="Courier New" pitchFamily="49" charset="0"/>
              </a:rPr>
              <a:t>template&lt;</a:t>
            </a:r>
            <a:r>
              <a:rPr lang="en-US" altLang="zh-CN" sz="2000" b="1" dirty="0" err="1">
                <a:latin typeface="Courier New" pitchFamily="49" charset="0"/>
              </a:rPr>
              <a:t>typename</a:t>
            </a:r>
            <a:r>
              <a:rPr lang="en-US" altLang="zh-CN" sz="2000" b="1" dirty="0">
                <a:latin typeface="Courier New" pitchFamily="49" charset="0"/>
              </a:rPr>
              <a:t> T1,typename T2,typename T3&gt;</a:t>
            </a:r>
          </a:p>
          <a:p>
            <a:r>
              <a:rPr lang="en-US" altLang="zh-CN" sz="2000" b="1" dirty="0">
                <a:latin typeface="Courier New" pitchFamily="49" charset="0"/>
              </a:rPr>
              <a:t>T2 add(T1 a,T3 b){return </a:t>
            </a:r>
            <a:r>
              <a:rPr lang="en-US" altLang="zh-CN" sz="2000" b="1" dirty="0" err="1">
                <a:latin typeface="Courier New" pitchFamily="49" charset="0"/>
              </a:rPr>
              <a:t>a+b</a:t>
            </a:r>
            <a:r>
              <a:rPr lang="en-US" altLang="zh-CN" sz="2000" b="1" dirty="0">
                <a:latin typeface="Courier New" pitchFamily="49" charset="0"/>
              </a:rPr>
              <a:t>;}</a:t>
            </a:r>
          </a:p>
          <a:p>
            <a:r>
              <a:rPr lang="en-US" altLang="zh-CN" sz="2000" b="1" dirty="0">
                <a:latin typeface="Courier New" pitchFamily="49" charset="0"/>
              </a:rPr>
              <a:t>void main()</a:t>
            </a:r>
          </a:p>
          <a:p>
            <a:r>
              <a:rPr lang="en-US" altLang="zh-CN" sz="2000" b="1" dirty="0">
                <a:latin typeface="Courier New" pitchFamily="49" charset="0"/>
              </a:rPr>
              <a:t>{</a:t>
            </a:r>
          </a:p>
          <a:p>
            <a:r>
              <a:rPr lang="en-US" altLang="zh-CN" sz="2000" b="1" dirty="0">
                <a:latin typeface="Courier New" pitchFamily="49" charset="0"/>
              </a:rPr>
              <a:t>	</a:t>
            </a:r>
            <a:r>
              <a:rPr lang="en-US" altLang="zh-CN" sz="2000" b="1" dirty="0" err="1">
                <a:latin typeface="Courier New" pitchFamily="49" charset="0"/>
              </a:rPr>
              <a:t>cout</a:t>
            </a:r>
            <a:r>
              <a:rPr lang="en-US" altLang="zh-CN" sz="2000" b="1" dirty="0">
                <a:latin typeface="Courier New" pitchFamily="49" charset="0"/>
              </a:rPr>
              <a:t>&lt;&lt;</a:t>
            </a:r>
            <a:r>
              <a:rPr lang="en-US" altLang="zh-CN" sz="2000" b="1" dirty="0" err="1">
                <a:latin typeface="Courier New" pitchFamily="49" charset="0"/>
              </a:rPr>
              <a:t>showpoint</a:t>
            </a:r>
            <a:r>
              <a:rPr lang="en-US" altLang="zh-CN" sz="2000" b="1" dirty="0">
                <a:latin typeface="Courier New" pitchFamily="49" charset="0"/>
              </a:rPr>
              <a:t>;</a:t>
            </a:r>
          </a:p>
          <a:p>
            <a:r>
              <a:rPr lang="en-US" altLang="zh-CN" sz="2000" b="1" dirty="0">
                <a:latin typeface="Courier New" pitchFamily="49" charset="0"/>
              </a:rPr>
              <a:t>	</a:t>
            </a:r>
            <a:r>
              <a:rPr lang="en-US" altLang="zh-CN" sz="2000" b="1" dirty="0" err="1">
                <a:latin typeface="Courier New" pitchFamily="49" charset="0"/>
              </a:rPr>
              <a:t>cout</a:t>
            </a:r>
            <a:r>
              <a:rPr lang="en-US" altLang="zh-CN" sz="2000" b="1" dirty="0">
                <a:latin typeface="Courier New" pitchFamily="49" charset="0"/>
              </a:rPr>
              <a:t>&lt;&lt;add&lt;</a:t>
            </a:r>
            <a:r>
              <a:rPr lang="en-US" altLang="zh-CN" sz="2000" b="1" dirty="0" err="1">
                <a:latin typeface="Courier New" pitchFamily="49" charset="0"/>
              </a:rPr>
              <a:t>double,int</a:t>
            </a:r>
            <a:r>
              <a:rPr lang="en-US" altLang="zh-CN" sz="2000" b="1" dirty="0">
                <a:latin typeface="Courier New" pitchFamily="49" charset="0"/>
              </a:rPr>
              <a:t>&gt;(3,5L)&lt;&lt;</a:t>
            </a:r>
            <a:r>
              <a:rPr lang="en-US" altLang="zh-CN" sz="2000" b="1" dirty="0" err="1">
                <a:latin typeface="Courier New" pitchFamily="49" charset="0"/>
              </a:rPr>
              <a:t>endl</a:t>
            </a:r>
            <a:r>
              <a:rPr lang="en-US" altLang="zh-CN" sz="2000" b="1" dirty="0">
                <a:latin typeface="Courier New" pitchFamily="49" charset="0"/>
              </a:rPr>
              <a:t>;</a:t>
            </a:r>
          </a:p>
          <a:p>
            <a:r>
              <a:rPr lang="en-US" altLang="zh-CN" sz="2000" b="1" dirty="0">
                <a:latin typeface="Courier New" pitchFamily="49" charset="0"/>
              </a:rPr>
              <a:t>	</a:t>
            </a:r>
            <a:r>
              <a:rPr lang="en-US" altLang="zh-CN" sz="2000" b="1" dirty="0" err="1">
                <a:latin typeface="Courier New" pitchFamily="49" charset="0"/>
              </a:rPr>
              <a:t>cout</a:t>
            </a:r>
            <a:r>
              <a:rPr lang="en-US" altLang="zh-CN" sz="2000" b="1" dirty="0">
                <a:latin typeface="Courier New" pitchFamily="49" charset="0"/>
              </a:rPr>
              <a:t>&lt;&lt;add&lt;</a:t>
            </a:r>
            <a:r>
              <a:rPr lang="en-US" altLang="zh-CN" sz="2000" b="1" dirty="0" err="1">
                <a:latin typeface="Courier New" pitchFamily="49" charset="0"/>
              </a:rPr>
              <a:t>int,double,long</a:t>
            </a:r>
            <a:r>
              <a:rPr lang="en-US" altLang="zh-CN" sz="2000" b="1" dirty="0">
                <a:latin typeface="Courier New" pitchFamily="49" charset="0"/>
              </a:rPr>
              <a:t>&gt;(3,5L)&lt;&lt;</a:t>
            </a:r>
            <a:r>
              <a:rPr lang="en-US" altLang="zh-CN" sz="2000" b="1" dirty="0" err="1">
                <a:latin typeface="Courier New" pitchFamily="49" charset="0"/>
              </a:rPr>
              <a:t>endl</a:t>
            </a:r>
            <a:r>
              <a:rPr lang="en-US" altLang="zh-CN" sz="2000" b="1" dirty="0">
                <a:latin typeface="Courier New" pitchFamily="49" charset="0"/>
              </a:rPr>
              <a:t>;</a:t>
            </a:r>
          </a:p>
          <a:p>
            <a:r>
              <a:rPr lang="en-US" altLang="zh-CN" sz="2000" b="1" dirty="0">
                <a:latin typeface="Courier New" pitchFamily="49"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blinds(horizontal)">
                                      <p:cBhvr>
                                        <p:cTn id="7"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zh-CN" altLang="en-US"/>
              <a:t>函数模板含有常规形参。 </a:t>
            </a:r>
          </a:p>
        </p:txBody>
      </p:sp>
      <p:sp>
        <p:nvSpPr>
          <p:cNvPr id="37891" name="Rectangle 3"/>
          <p:cNvSpPr>
            <a:spLocks noGrp="1" noChangeArrowheads="1"/>
          </p:cNvSpPr>
          <p:nvPr>
            <p:ph type="body" idx="1"/>
          </p:nvPr>
        </p:nvSpPr>
        <p:spPr>
          <a:xfrm>
            <a:off x="457200" y="1600201"/>
            <a:ext cx="8229600" cy="1328733"/>
          </a:xfrm>
        </p:spPr>
        <p:txBody>
          <a:bodyPr>
            <a:normAutofit fontScale="85000" lnSpcReduction="10000"/>
          </a:bodyPr>
          <a:lstStyle/>
          <a:p>
            <a:r>
              <a:rPr lang="zh-CN" altLang="en-US" dirty="0"/>
              <a:t>当函数模板含有常规形参时，如果常规参数的信息无法从模板函数的实参表中获得，则在调用时必须显式的给出对应于常规参数的模板实参</a:t>
            </a:r>
            <a:r>
              <a:rPr lang="zh-CN" altLang="en-US" dirty="0" smtClean="0"/>
              <a:t>。</a:t>
            </a:r>
            <a:endParaRPr lang="zh-CN" altLang="en-US" dirty="0"/>
          </a:p>
        </p:txBody>
      </p:sp>
      <p:sp>
        <p:nvSpPr>
          <p:cNvPr id="37892" name="Text Box 4"/>
          <p:cNvSpPr txBox="1">
            <a:spLocks noChangeArrowheads="1"/>
          </p:cNvSpPr>
          <p:nvPr/>
        </p:nvSpPr>
        <p:spPr bwMode="auto">
          <a:xfrm>
            <a:off x="785786" y="2764572"/>
            <a:ext cx="7467600" cy="4093428"/>
          </a:xfrm>
          <a:prstGeom prst="rect">
            <a:avLst/>
          </a:prstGeom>
          <a:solidFill>
            <a:schemeClr val="bg1"/>
          </a:solidFill>
          <a:ln w="9525" algn="ctr">
            <a:solidFill>
              <a:srgbClr val="33CCCC"/>
            </a:solidFill>
            <a:miter lim="800000"/>
            <a:headEnd/>
            <a:tailEnd/>
          </a:ln>
          <a:effectLst>
            <a:outerShdw dist="107763" dir="2700000" algn="ctr" rotWithShape="0">
              <a:schemeClr val="bg2">
                <a:alpha val="50000"/>
              </a:schemeClr>
            </a:outerShdw>
          </a:effectLst>
        </p:spPr>
        <p:txBody>
          <a:bodyPr wrap="square">
            <a:spAutoFit/>
          </a:bodyPr>
          <a:lstStyle/>
          <a:p>
            <a:r>
              <a:rPr lang="en-US" altLang="zh-CN" sz="2000" b="1" dirty="0">
                <a:latin typeface="Courier New" pitchFamily="49" charset="0"/>
              </a:rPr>
              <a:t>#include&lt;</a:t>
            </a:r>
            <a:r>
              <a:rPr lang="en-US" altLang="zh-CN" sz="2000" b="1" dirty="0" err="1">
                <a:latin typeface="Courier New" pitchFamily="49" charset="0"/>
              </a:rPr>
              <a:t>iostream</a:t>
            </a:r>
            <a:r>
              <a:rPr lang="en-US" altLang="zh-CN" sz="2000" b="1" dirty="0">
                <a:latin typeface="Courier New" pitchFamily="49" charset="0"/>
              </a:rPr>
              <a:t>&gt;</a:t>
            </a:r>
          </a:p>
          <a:p>
            <a:r>
              <a:rPr lang="en-US" altLang="zh-CN" sz="2000" b="1" dirty="0">
                <a:latin typeface="Courier New" pitchFamily="49" charset="0"/>
              </a:rPr>
              <a:t>using namespace std;</a:t>
            </a:r>
          </a:p>
          <a:p>
            <a:r>
              <a:rPr lang="en-US" altLang="zh-CN" sz="2000" b="1" dirty="0">
                <a:latin typeface="Courier New" pitchFamily="49" charset="0"/>
              </a:rPr>
              <a:t>template &lt;class </a:t>
            </a:r>
            <a:r>
              <a:rPr lang="en-US" altLang="zh-CN" sz="2000" b="1" dirty="0" err="1">
                <a:latin typeface="Courier New" pitchFamily="49" charset="0"/>
              </a:rPr>
              <a:t>T,int</a:t>
            </a:r>
            <a:r>
              <a:rPr lang="en-US" altLang="zh-CN" sz="2000" b="1" dirty="0">
                <a:latin typeface="Courier New" pitchFamily="49" charset="0"/>
              </a:rPr>
              <a:t> rows&gt; </a:t>
            </a:r>
          </a:p>
          <a:p>
            <a:r>
              <a:rPr lang="en-US" altLang="zh-CN" sz="2000" b="1" dirty="0">
                <a:latin typeface="Courier New" pitchFamily="49" charset="0"/>
              </a:rPr>
              <a:t>sum(T data[],T &amp;result)</a:t>
            </a:r>
          </a:p>
          <a:p>
            <a:r>
              <a:rPr lang="en-US" altLang="zh-CN" sz="2000" b="1" dirty="0">
                <a:latin typeface="Courier New" pitchFamily="49" charset="0"/>
              </a:rPr>
              <a:t>{result=0;</a:t>
            </a:r>
          </a:p>
          <a:p>
            <a:r>
              <a:rPr lang="en-US" altLang="zh-CN" sz="2000" b="1" dirty="0">
                <a:latin typeface="Courier New" pitchFamily="49" charset="0"/>
              </a:rPr>
              <a:t> for(</a:t>
            </a:r>
            <a:r>
              <a:rPr lang="en-US" altLang="zh-CN" sz="2000" b="1" dirty="0" err="1">
                <a:latin typeface="Courier New" pitchFamily="49" charset="0"/>
              </a:rPr>
              <a:t>int</a:t>
            </a:r>
            <a:r>
              <a:rPr lang="en-US" altLang="zh-CN" sz="2000" b="1" dirty="0">
                <a:latin typeface="Courier New" pitchFamily="49" charset="0"/>
              </a:rPr>
              <a:t> </a:t>
            </a:r>
            <a:r>
              <a:rPr lang="en-US" altLang="zh-CN" sz="2000" b="1" dirty="0" err="1">
                <a:latin typeface="Courier New" pitchFamily="49" charset="0"/>
              </a:rPr>
              <a:t>i</a:t>
            </a:r>
            <a:r>
              <a:rPr lang="en-US" altLang="zh-CN" sz="2000" b="1" dirty="0">
                <a:latin typeface="Courier New" pitchFamily="49" charset="0"/>
              </a:rPr>
              <a:t>=0;i&lt;</a:t>
            </a:r>
            <a:r>
              <a:rPr lang="en-US" altLang="zh-CN" sz="2000" b="1" dirty="0" err="1">
                <a:latin typeface="Courier New" pitchFamily="49" charset="0"/>
              </a:rPr>
              <a:t>rows;i</a:t>
            </a:r>
            <a:r>
              <a:rPr lang="en-US" altLang="zh-CN" sz="2000" b="1" dirty="0">
                <a:latin typeface="Courier New" pitchFamily="49" charset="0"/>
              </a:rPr>
              <a:t>++)		</a:t>
            </a:r>
          </a:p>
          <a:p>
            <a:r>
              <a:rPr lang="en-US" altLang="zh-CN" sz="2000" b="1" dirty="0">
                <a:latin typeface="Courier New" pitchFamily="49" charset="0"/>
              </a:rPr>
              <a:t>	result+=data[</a:t>
            </a:r>
            <a:r>
              <a:rPr lang="en-US" altLang="zh-CN" sz="2000" b="1" dirty="0" err="1">
                <a:latin typeface="Courier New" pitchFamily="49" charset="0"/>
              </a:rPr>
              <a:t>i</a:t>
            </a:r>
            <a:r>
              <a:rPr lang="en-US" altLang="zh-CN" sz="2000" b="1" dirty="0">
                <a:latin typeface="Courier New" pitchFamily="49" charset="0"/>
              </a:rPr>
              <a:t>];}</a:t>
            </a:r>
          </a:p>
          <a:p>
            <a:r>
              <a:rPr lang="en-US" altLang="zh-CN" sz="2000" b="1" dirty="0" err="1">
                <a:latin typeface="Courier New" pitchFamily="49" charset="0"/>
              </a:rPr>
              <a:t>int</a:t>
            </a:r>
            <a:r>
              <a:rPr lang="en-US" altLang="zh-CN" sz="2000" b="1" dirty="0">
                <a:latin typeface="Courier New" pitchFamily="49" charset="0"/>
              </a:rPr>
              <a:t> main()</a:t>
            </a:r>
          </a:p>
          <a:p>
            <a:r>
              <a:rPr lang="en-US" altLang="zh-CN" sz="2000" b="1" dirty="0">
                <a:latin typeface="Courier New" pitchFamily="49" charset="0"/>
              </a:rPr>
              <a:t>{</a:t>
            </a:r>
            <a:r>
              <a:rPr lang="en-US" altLang="zh-CN" sz="2000" b="1" dirty="0" err="1">
                <a:latin typeface="Courier New" pitchFamily="49" charset="0"/>
              </a:rPr>
              <a:t>int</a:t>
            </a:r>
            <a:r>
              <a:rPr lang="en-US" altLang="zh-CN" sz="2000" b="1" dirty="0">
                <a:latin typeface="Courier New" pitchFamily="49" charset="0"/>
              </a:rPr>
              <a:t> d[3]={1,2,3};</a:t>
            </a:r>
            <a:r>
              <a:rPr lang="en-US" altLang="zh-CN" sz="2000" b="1" dirty="0" err="1">
                <a:latin typeface="Courier New" pitchFamily="49" charset="0"/>
              </a:rPr>
              <a:t>int</a:t>
            </a:r>
            <a:r>
              <a:rPr lang="en-US" altLang="zh-CN" sz="2000" b="1" dirty="0">
                <a:latin typeface="Courier New" pitchFamily="49" charset="0"/>
              </a:rPr>
              <a:t> r;</a:t>
            </a:r>
          </a:p>
          <a:p>
            <a:r>
              <a:rPr lang="en-US" altLang="zh-CN" sz="2000" b="1" dirty="0">
                <a:latin typeface="Courier New" pitchFamily="49" charset="0"/>
              </a:rPr>
              <a:t> </a:t>
            </a:r>
            <a:r>
              <a:rPr lang="en-US" altLang="zh-CN" b="1" dirty="0"/>
              <a:t>//</a:t>
            </a:r>
            <a:r>
              <a:rPr lang="zh-CN" altLang="en-US" b="1" dirty="0"/>
              <a:t>此处必须显式给出对应于常规参数的模板实参</a:t>
            </a:r>
          </a:p>
          <a:p>
            <a:r>
              <a:rPr lang="zh-CN" altLang="en-US" sz="2000" b="1" dirty="0">
                <a:latin typeface="Courier New" pitchFamily="49" charset="0"/>
              </a:rPr>
              <a:t> </a:t>
            </a:r>
            <a:r>
              <a:rPr lang="en-US" altLang="zh-CN" sz="2000" b="1" dirty="0">
                <a:latin typeface="Courier New" pitchFamily="49" charset="0"/>
              </a:rPr>
              <a:t>sum&lt;int,3&gt;(</a:t>
            </a:r>
            <a:r>
              <a:rPr lang="en-US" altLang="zh-CN" sz="2000" b="1" dirty="0" err="1">
                <a:latin typeface="Courier New" pitchFamily="49" charset="0"/>
              </a:rPr>
              <a:t>d,r</a:t>
            </a:r>
            <a:r>
              <a:rPr lang="en-US" altLang="zh-CN" sz="2000" b="1" dirty="0">
                <a:latin typeface="Courier New" pitchFamily="49" charset="0"/>
              </a:rPr>
              <a:t>); </a:t>
            </a:r>
          </a:p>
          <a:p>
            <a:r>
              <a:rPr lang="en-US" altLang="zh-CN" sz="2000" b="1" dirty="0">
                <a:latin typeface="Courier New" pitchFamily="49" charset="0"/>
              </a:rPr>
              <a:t> </a:t>
            </a:r>
            <a:r>
              <a:rPr lang="en-US" altLang="zh-CN" sz="2000" b="1" dirty="0" err="1">
                <a:latin typeface="Courier New" pitchFamily="49" charset="0"/>
              </a:rPr>
              <a:t>cout</a:t>
            </a:r>
            <a:r>
              <a:rPr lang="en-US" altLang="zh-CN" sz="2000" b="1" dirty="0">
                <a:latin typeface="Courier New" pitchFamily="49" charset="0"/>
              </a:rPr>
              <a:t>&lt;&lt;"sum="&lt;&lt;r&lt;&lt;</a:t>
            </a:r>
            <a:r>
              <a:rPr lang="en-US" altLang="zh-CN" sz="2000" b="1" dirty="0" err="1">
                <a:latin typeface="Courier New" pitchFamily="49" charset="0"/>
              </a:rPr>
              <a:t>endl</a:t>
            </a:r>
            <a:r>
              <a:rPr lang="en-US" altLang="zh-CN" sz="2000" b="1" dirty="0">
                <a:latin typeface="Courier New" pitchFamily="49" charset="0"/>
              </a:rPr>
              <a:t>;</a:t>
            </a:r>
          </a:p>
          <a:p>
            <a:r>
              <a:rPr lang="en-US" altLang="zh-CN" sz="2000" b="1" dirty="0">
                <a:latin typeface="Courier New" pitchFamily="49" charset="0"/>
              </a:rPr>
              <a:t> return 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92"/>
                                        </p:tgtEl>
                                        <p:attrNameLst>
                                          <p:attrName>style.visibility</p:attrName>
                                        </p:attrNameLst>
                                      </p:cBhvr>
                                      <p:to>
                                        <p:strVal val="visible"/>
                                      </p:to>
                                    </p:set>
                                    <p:animEffect transition="in" filter="blinds(horizontal)">
                                      <p:cBhvr>
                                        <p:cTn id="7"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特化和偏特化</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类模板的专门化</a:t>
            </a:r>
            <a:r>
              <a:rPr lang="en-US" altLang="zh-CN" dirty="0" smtClean="0"/>
              <a:t>(</a:t>
            </a:r>
            <a:r>
              <a:rPr lang="zh-CN" altLang="en-US" dirty="0" smtClean="0"/>
              <a:t>特化</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smtClean="0"/>
              <a:t>完全专门化</a:t>
            </a:r>
            <a:r>
              <a:rPr lang="en-US" altLang="zh-CN" dirty="0" smtClean="0"/>
              <a:t>(</a:t>
            </a:r>
            <a:r>
              <a:rPr lang="zh-CN" altLang="en-US" dirty="0" smtClean="0"/>
              <a:t>特化</a:t>
            </a:r>
            <a:r>
              <a:rPr lang="en-US" altLang="zh-CN" dirty="0" smtClean="0"/>
              <a:t>)</a:t>
            </a:r>
          </a:p>
          <a:p>
            <a:pPr lvl="1"/>
            <a:r>
              <a:rPr lang="en-US" altLang="zh-CN" dirty="0" smtClean="0"/>
              <a:t>template&lt;&gt;</a:t>
            </a:r>
            <a:r>
              <a:rPr lang="zh-CN" altLang="en-US" dirty="0" smtClean="0"/>
              <a:t>表示这是一个专门化，可以不用模板参数描述</a:t>
            </a:r>
          </a:p>
          <a:p>
            <a:r>
              <a:rPr lang="zh-CN" altLang="en-US" dirty="0" smtClean="0"/>
              <a:t>部分专门化</a:t>
            </a:r>
            <a:r>
              <a:rPr lang="en-US" altLang="zh-CN" dirty="0" smtClean="0"/>
              <a:t>(</a:t>
            </a:r>
            <a:r>
              <a:rPr lang="zh-CN" altLang="en-US" dirty="0" smtClean="0"/>
              <a:t>偏特化</a:t>
            </a:r>
            <a:r>
              <a:rPr lang="en-US" altLang="zh-CN" dirty="0" smtClean="0"/>
              <a:t>)</a:t>
            </a:r>
          </a:p>
          <a:p>
            <a:pPr lvl="1"/>
            <a:r>
              <a:rPr lang="en-US" altLang="zh-CN" dirty="0" smtClean="0"/>
              <a:t>template&lt;class T&gt; class Vector&lt;T*&gt;{};</a:t>
            </a:r>
          </a:p>
          <a:p>
            <a:endParaRPr lang="zh-CN" alt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示例</a:t>
            </a:r>
            <a:endParaRPr lang="zh-CN" altLang="en-US" dirty="0"/>
          </a:p>
        </p:txBody>
      </p:sp>
      <p:sp>
        <p:nvSpPr>
          <p:cNvPr id="4" name="TextBox 3"/>
          <p:cNvSpPr txBox="1"/>
          <p:nvPr/>
        </p:nvSpPr>
        <p:spPr>
          <a:xfrm>
            <a:off x="285720" y="1428736"/>
            <a:ext cx="8429684" cy="5170646"/>
          </a:xfrm>
          <a:prstGeom prst="rect">
            <a:avLst/>
          </a:prstGeom>
          <a:noFill/>
          <a:ln>
            <a:solidFill>
              <a:schemeClr val="accent1"/>
            </a:solidFill>
          </a:ln>
        </p:spPr>
        <p:txBody>
          <a:bodyPr wrap="square" rtlCol="0">
            <a:spAutoFit/>
          </a:bodyPr>
          <a:lstStyle/>
          <a:p>
            <a:r>
              <a:rPr lang="en-US" altLang="zh-CN" sz="2400" dirty="0" smtClean="0">
                <a:latin typeface="Arial" pitchFamily="34" charset="0"/>
                <a:cs typeface="Arial" pitchFamily="34" charset="0"/>
              </a:rPr>
              <a:t>template &lt; </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T &gt;class Type{</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public:static</a:t>
            </a:r>
            <a:r>
              <a:rPr lang="en-US" altLang="zh-CN" sz="2400" dirty="0" smtClean="0">
                <a:latin typeface="Arial" pitchFamily="34" charset="0"/>
                <a:cs typeface="Arial" pitchFamily="34" charset="0"/>
              </a:rPr>
              <a:t> string name(){return </a:t>
            </a:r>
            <a:r>
              <a:rPr lang="en-US" altLang="zh-CN" sz="2400" dirty="0" err="1" smtClean="0">
                <a:latin typeface="Arial" pitchFamily="34" charset="0"/>
                <a:cs typeface="Arial" pitchFamily="34" charset="0"/>
              </a:rPr>
              <a:t>typeid</a:t>
            </a:r>
            <a:r>
              <a:rPr lang="en-US" altLang="zh-CN" sz="2400" dirty="0" smtClean="0">
                <a:latin typeface="Arial" pitchFamily="34" charset="0"/>
                <a:cs typeface="Arial" pitchFamily="34" charset="0"/>
              </a:rPr>
              <a:t>(T).name();}};</a:t>
            </a:r>
          </a:p>
          <a:p>
            <a:r>
              <a:rPr lang="en-US" altLang="zh-CN" sz="2400" dirty="0" smtClean="0">
                <a:latin typeface="Arial" pitchFamily="34" charset="0"/>
                <a:cs typeface="Arial" pitchFamily="34" charset="0"/>
              </a:rPr>
              <a:t>template &lt;&gt;class Type&lt;char&gt;{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public:static</a:t>
            </a:r>
            <a:r>
              <a:rPr lang="en-US" altLang="zh-CN" sz="2400" dirty="0" smtClean="0">
                <a:latin typeface="Arial" pitchFamily="34" charset="0"/>
                <a:cs typeface="Arial" pitchFamily="34" charset="0"/>
              </a:rPr>
              <a:t> string name(){return "char";}};</a:t>
            </a:r>
          </a:p>
          <a:p>
            <a:r>
              <a:rPr lang="en-US" altLang="zh-CN" sz="2400" dirty="0" smtClean="0">
                <a:latin typeface="Arial" pitchFamily="34" charset="0"/>
                <a:cs typeface="Arial" pitchFamily="34" charset="0"/>
              </a:rPr>
              <a:t>template &lt;&gt;class Type&lt;double&gt;{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public:static</a:t>
            </a:r>
            <a:r>
              <a:rPr lang="en-US" altLang="zh-CN" sz="2400" dirty="0" smtClean="0">
                <a:latin typeface="Arial" pitchFamily="34" charset="0"/>
                <a:cs typeface="Arial" pitchFamily="34" charset="0"/>
              </a:rPr>
              <a:t> string name(){return "double";}};</a:t>
            </a:r>
          </a:p>
          <a:p>
            <a:r>
              <a:rPr lang="en-US" altLang="zh-CN" sz="2400" dirty="0" smtClean="0">
                <a:latin typeface="Arial" pitchFamily="34" charset="0"/>
                <a:cs typeface="Arial" pitchFamily="34" charset="0"/>
              </a:rPr>
              <a:t>template &lt;&gt;class Type&lt;</a:t>
            </a:r>
            <a:r>
              <a:rPr lang="en-US" altLang="zh-CN" sz="2400" dirty="0" err="1" smtClean="0">
                <a:latin typeface="Arial" pitchFamily="34" charset="0"/>
                <a:cs typeface="Arial" pitchFamily="34" charset="0"/>
              </a:rPr>
              <a:t>int</a:t>
            </a:r>
            <a:r>
              <a:rPr lang="en-US" altLang="zh-CN" sz="2400" dirty="0" smtClean="0">
                <a:latin typeface="Arial" pitchFamily="34" charset="0"/>
                <a:cs typeface="Arial" pitchFamily="34" charset="0"/>
              </a:rPr>
              <a:t>&gt;{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public:static</a:t>
            </a:r>
            <a:r>
              <a:rPr lang="en-US" altLang="zh-CN" sz="2400" dirty="0" smtClean="0">
                <a:latin typeface="Arial" pitchFamily="34" charset="0"/>
                <a:cs typeface="Arial" pitchFamily="34" charset="0"/>
              </a:rPr>
              <a:t> string name(){return "</a:t>
            </a:r>
            <a:r>
              <a:rPr lang="en-US" altLang="zh-CN" sz="2400" dirty="0" err="1" smtClean="0">
                <a:latin typeface="Arial" pitchFamily="34" charset="0"/>
                <a:cs typeface="Arial" pitchFamily="34" charset="0"/>
              </a:rPr>
              <a:t>int</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template &lt;&gt;class Type&lt;</a:t>
            </a:r>
            <a:r>
              <a:rPr lang="en-US" altLang="zh-CN" sz="2400" dirty="0" err="1" smtClean="0">
                <a:latin typeface="Arial" pitchFamily="34" charset="0"/>
                <a:cs typeface="Arial" pitchFamily="34" charset="0"/>
              </a:rPr>
              <a:t>bool</a:t>
            </a:r>
            <a:r>
              <a:rPr lang="en-US" altLang="zh-CN" sz="2400" dirty="0" smtClean="0">
                <a:latin typeface="Arial" pitchFamily="34" charset="0"/>
                <a:cs typeface="Arial" pitchFamily="34" charset="0"/>
              </a:rPr>
              <a:t>&gt;{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public:static</a:t>
            </a:r>
            <a:r>
              <a:rPr lang="en-US" altLang="zh-CN" sz="2400" dirty="0" smtClean="0">
                <a:latin typeface="Arial" pitchFamily="34" charset="0"/>
                <a:cs typeface="Arial" pitchFamily="34" charset="0"/>
              </a:rPr>
              <a:t> string name(){return "</a:t>
            </a:r>
            <a:r>
              <a:rPr lang="en-US" altLang="zh-CN" sz="2400" dirty="0" err="1" smtClean="0">
                <a:latin typeface="Arial" pitchFamily="34" charset="0"/>
                <a:cs typeface="Arial" pitchFamily="34" charset="0"/>
              </a:rPr>
              <a:t>bool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template &lt;</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T&gt;class Type&lt;T*&gt;{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public:static</a:t>
            </a:r>
            <a:r>
              <a:rPr lang="en-US" altLang="zh-CN" sz="2400" dirty="0" smtClean="0">
                <a:latin typeface="Arial" pitchFamily="34" charset="0"/>
                <a:cs typeface="Arial" pitchFamily="34" charset="0"/>
              </a:rPr>
              <a:t> string name(){</a:t>
            </a:r>
          </a:p>
          <a:p>
            <a:r>
              <a:rPr lang="en-US" altLang="zh-CN" sz="2400" dirty="0">
                <a:latin typeface="Arial" pitchFamily="34" charset="0"/>
                <a:cs typeface="Arial" pitchFamily="34" charset="0"/>
              </a:rPr>
              <a:t>	</a:t>
            </a:r>
            <a:r>
              <a:rPr lang="en-US" altLang="zh-CN" sz="2400" dirty="0" smtClean="0">
                <a:latin typeface="Arial" pitchFamily="34" charset="0"/>
                <a:cs typeface="Arial" pitchFamily="34" charset="0"/>
              </a:rPr>
              <a:t>	return Type&lt;T&gt;::name()+" pointer";}};</a:t>
            </a:r>
            <a:endParaRPr lang="zh-CN" altLang="en-US" sz="2400" dirty="0" smtClean="0">
              <a:latin typeface="Arial" pitchFamily="34" charset="0"/>
              <a:cs typeface="Arial" pitchFamily="34" charset="0"/>
            </a:endParaRPr>
          </a:p>
          <a:p>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看看如何调用</a:t>
            </a:r>
            <a:endParaRPr lang="zh-CN" altLang="en-US" dirty="0"/>
          </a:p>
        </p:txBody>
      </p:sp>
      <p:sp>
        <p:nvSpPr>
          <p:cNvPr id="4" name="TextBox 3"/>
          <p:cNvSpPr txBox="1"/>
          <p:nvPr/>
        </p:nvSpPr>
        <p:spPr>
          <a:xfrm>
            <a:off x="357158" y="1428736"/>
            <a:ext cx="7786742" cy="3693319"/>
          </a:xfrm>
          <a:prstGeom prst="rect">
            <a:avLst/>
          </a:prstGeom>
          <a:noFill/>
          <a:ln>
            <a:solidFill>
              <a:schemeClr val="accent1"/>
            </a:solidFill>
          </a:ln>
        </p:spPr>
        <p:txBody>
          <a:bodyPr wrap="square" rtlCol="0">
            <a:spAutoFit/>
          </a:bodyPr>
          <a:lstStyle/>
          <a:p>
            <a:r>
              <a:rPr lang="en-US" altLang="zh-CN" sz="2400" dirty="0" err="1" smtClean="0">
                <a:latin typeface="Arial" pitchFamily="34" charset="0"/>
                <a:cs typeface="Arial" pitchFamily="34" charset="0"/>
              </a:rPr>
              <a:t>int</a:t>
            </a:r>
            <a:r>
              <a:rPr lang="en-US" altLang="zh-CN" sz="2400" dirty="0" smtClean="0">
                <a:latin typeface="Arial" pitchFamily="34" charset="0"/>
                <a:cs typeface="Arial" pitchFamily="34" charset="0"/>
              </a:rPr>
              <a:t> main()</a:t>
            </a:r>
          </a:p>
          <a:p>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 &lt;&lt; Type&lt;double&gt;::name() &lt;&lt; </a:t>
            </a:r>
            <a:r>
              <a:rPr lang="en-US" altLang="zh-CN" sz="2400" dirty="0" err="1" smtClean="0">
                <a:latin typeface="Arial" pitchFamily="34" charset="0"/>
                <a:cs typeface="Arial" pitchFamily="34" charset="0"/>
              </a:rPr>
              <a:t>endl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 &lt;&lt; Type&lt;char&gt;::name() &lt;&lt; </a:t>
            </a:r>
            <a:r>
              <a:rPr lang="en-US" altLang="zh-CN" sz="2400" dirty="0" err="1" smtClean="0">
                <a:latin typeface="Arial" pitchFamily="34" charset="0"/>
                <a:cs typeface="Arial" pitchFamily="34" charset="0"/>
              </a:rPr>
              <a:t>endl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 &lt;&lt; Type&lt;</a:t>
            </a:r>
            <a:r>
              <a:rPr lang="en-US" altLang="zh-CN" sz="2400" dirty="0" err="1" smtClean="0">
                <a:latin typeface="Arial" pitchFamily="34" charset="0"/>
                <a:cs typeface="Arial" pitchFamily="34" charset="0"/>
              </a:rPr>
              <a:t>bool</a:t>
            </a:r>
            <a:r>
              <a:rPr lang="en-US" altLang="zh-CN" sz="2400" dirty="0" smtClean="0">
                <a:latin typeface="Arial" pitchFamily="34" charset="0"/>
                <a:cs typeface="Arial" pitchFamily="34" charset="0"/>
              </a:rPr>
              <a:t>&gt;::name() &lt;&lt; </a:t>
            </a:r>
            <a:r>
              <a:rPr lang="en-US" altLang="zh-CN" sz="2400" dirty="0" err="1" smtClean="0">
                <a:latin typeface="Arial" pitchFamily="34" charset="0"/>
                <a:cs typeface="Arial" pitchFamily="34" charset="0"/>
              </a:rPr>
              <a:t>endl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 &lt;&lt; Type&lt;</a:t>
            </a:r>
            <a:r>
              <a:rPr lang="en-US" altLang="zh-CN" sz="2400" dirty="0" err="1" smtClean="0">
                <a:latin typeface="Arial" pitchFamily="34" charset="0"/>
                <a:cs typeface="Arial" pitchFamily="34" charset="0"/>
              </a:rPr>
              <a:t>int</a:t>
            </a:r>
            <a:r>
              <a:rPr lang="en-US" altLang="zh-CN" sz="2400" dirty="0" smtClean="0">
                <a:latin typeface="Arial" pitchFamily="34" charset="0"/>
                <a:cs typeface="Arial" pitchFamily="34" charset="0"/>
              </a:rPr>
              <a:t>*&gt;::name() &lt;&lt; </a:t>
            </a:r>
            <a:r>
              <a:rPr lang="en-US" altLang="zh-CN" sz="2400" dirty="0" err="1" smtClean="0">
                <a:latin typeface="Arial" pitchFamily="34" charset="0"/>
                <a:cs typeface="Arial" pitchFamily="34" charset="0"/>
              </a:rPr>
              <a:t>endl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 &lt;&lt; Type&lt;double*&gt;::name() &lt;&lt; </a:t>
            </a:r>
            <a:r>
              <a:rPr lang="en-US" altLang="zh-CN" sz="2400" dirty="0" err="1" smtClean="0">
                <a:latin typeface="Arial" pitchFamily="34" charset="0"/>
                <a:cs typeface="Arial" pitchFamily="34" charset="0"/>
              </a:rPr>
              <a:t>endl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 &lt;&lt; Type&lt;</a:t>
            </a:r>
            <a:r>
              <a:rPr lang="en-US" altLang="zh-CN" sz="2400" dirty="0" err="1" smtClean="0">
                <a:latin typeface="Arial" pitchFamily="34" charset="0"/>
                <a:cs typeface="Arial" pitchFamily="34" charset="0"/>
              </a:rPr>
              <a:t>bool</a:t>
            </a:r>
            <a:r>
              <a:rPr lang="en-US" altLang="zh-CN" sz="2400" dirty="0" smtClean="0">
                <a:latin typeface="Arial" pitchFamily="34" charset="0"/>
                <a:cs typeface="Arial" pitchFamily="34" charset="0"/>
              </a:rPr>
              <a:t>**&gt;::name() &lt;&lt; </a:t>
            </a:r>
            <a:r>
              <a:rPr lang="en-US" altLang="zh-CN" sz="2400" dirty="0" err="1" smtClean="0">
                <a:latin typeface="Arial" pitchFamily="34" charset="0"/>
                <a:cs typeface="Arial" pitchFamily="34" charset="0"/>
              </a:rPr>
              <a:t>endl</a:t>
            </a:r>
            <a:r>
              <a:rPr lang="en-US" altLang="zh-CN" sz="2400" dirty="0" smtClean="0">
                <a:latin typeface="Arial" pitchFamily="34" charset="0"/>
                <a:cs typeface="Arial" pitchFamily="34" charset="0"/>
              </a:rPr>
              <a:t>;</a:t>
            </a:r>
          </a:p>
          <a:p>
            <a:r>
              <a:rPr lang="en-US" altLang="zh-CN" sz="2400" dirty="0" smtClean="0">
                <a:latin typeface="Arial" pitchFamily="34" charset="0"/>
                <a:cs typeface="Arial" pitchFamily="34" charset="0"/>
              </a:rPr>
              <a:t>}</a:t>
            </a:r>
            <a:endParaRPr lang="zh-CN" altLang="en-US" sz="2400" dirty="0" smtClean="0">
              <a:latin typeface="Arial" pitchFamily="34" charset="0"/>
              <a:cs typeface="Arial" pitchFamily="34" charset="0"/>
            </a:endParaRPr>
          </a:p>
          <a:p>
            <a:endParaRPr lang="zh-CN"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函数模板的专门化</a:t>
            </a:r>
            <a:r>
              <a:rPr lang="en-US" altLang="zh-CN" dirty="0" smtClean="0"/>
              <a:t>(</a:t>
            </a:r>
            <a:r>
              <a:rPr lang="zh-CN" altLang="en-US" dirty="0" smtClean="0"/>
              <a:t>特化</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smtClean="0"/>
              <a:t>函数模板的专门化与类模板的专门化相似</a:t>
            </a:r>
            <a:endParaRPr lang="en-US" altLang="zh-CN" dirty="0" smtClean="0"/>
          </a:p>
          <a:p>
            <a:r>
              <a:rPr lang="zh-CN" altLang="en-US" dirty="0" smtClean="0"/>
              <a:t>函数模板的专门化其本质是函数的重载</a:t>
            </a:r>
            <a:endParaRPr lang="en-US" altLang="zh-CN" dirty="0" smtClean="0"/>
          </a:p>
          <a:p>
            <a:r>
              <a:rPr lang="zh-CN" altLang="en-US" dirty="0" smtClean="0"/>
              <a:t>调用函数时，非模板函数具体最高优先权。其次是最匹配的和最特化的那个</a:t>
            </a:r>
            <a:endParaRPr lang="en-US" altLang="zh-CN" dirty="0" smtClean="0"/>
          </a:p>
          <a:p>
            <a:endParaRPr lang="zh-CN"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示例</a:t>
            </a:r>
            <a:endParaRPr lang="zh-CN" altLang="en-US" dirty="0"/>
          </a:p>
        </p:txBody>
      </p:sp>
      <p:sp>
        <p:nvSpPr>
          <p:cNvPr id="4" name="TextBox 3"/>
          <p:cNvSpPr txBox="1"/>
          <p:nvPr/>
        </p:nvSpPr>
        <p:spPr>
          <a:xfrm>
            <a:off x="214282" y="1285860"/>
            <a:ext cx="8572560" cy="4893647"/>
          </a:xfrm>
          <a:prstGeom prst="rect">
            <a:avLst/>
          </a:prstGeom>
          <a:noFill/>
        </p:spPr>
        <p:txBody>
          <a:bodyPr wrap="square" rtlCol="0">
            <a:spAutoFit/>
          </a:bodyPr>
          <a:lstStyle/>
          <a:p>
            <a:r>
              <a:rPr lang="en-US" altLang="zh-CN" sz="2400" dirty="0" smtClean="0">
                <a:latin typeface="Arial" pitchFamily="34" charset="0"/>
                <a:cs typeface="Arial" pitchFamily="34" charset="0"/>
              </a:rPr>
              <a:t>template &lt;</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T&gt;const T&amp; min(const T&amp; a, const T&amp; b)</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&lt;&lt;'</a:t>
            </a:r>
            <a:r>
              <a:rPr lang="en-US" altLang="zh-CN" sz="2400" dirty="0" err="1" smtClean="0">
                <a:latin typeface="Arial" pitchFamily="34" charset="0"/>
                <a:cs typeface="Arial" pitchFamily="34" charset="0"/>
              </a:rPr>
              <a:t>A';return</a:t>
            </a:r>
            <a:r>
              <a:rPr lang="en-US" altLang="zh-CN" sz="2400" dirty="0" smtClean="0">
                <a:latin typeface="Arial" pitchFamily="34" charset="0"/>
                <a:cs typeface="Arial" pitchFamily="34" charset="0"/>
              </a:rPr>
              <a:t> a&lt;</a:t>
            </a:r>
            <a:r>
              <a:rPr lang="en-US" altLang="zh-CN" sz="2400" dirty="0" err="1" smtClean="0">
                <a:latin typeface="Arial" pitchFamily="34" charset="0"/>
                <a:cs typeface="Arial" pitchFamily="34" charset="0"/>
              </a:rPr>
              <a:t>b?a:b</a:t>
            </a:r>
            <a:r>
              <a:rPr lang="en-US" altLang="zh-CN" sz="2400" dirty="0" smtClean="0">
                <a:latin typeface="Arial" pitchFamily="34" charset="0"/>
                <a:cs typeface="Arial" pitchFamily="34" charset="0"/>
              </a:rPr>
              <a:t>;	}</a:t>
            </a:r>
          </a:p>
          <a:p>
            <a:r>
              <a:rPr lang="en-US" altLang="zh-CN" sz="2400" dirty="0" smtClean="0">
                <a:latin typeface="Arial" pitchFamily="34" charset="0"/>
                <a:cs typeface="Arial" pitchFamily="34" charset="0"/>
              </a:rPr>
              <a:t>const char* min(const char* a, const char* b)</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&lt;&lt;'</a:t>
            </a:r>
            <a:r>
              <a:rPr lang="en-US" altLang="zh-CN" sz="2400" dirty="0" err="1" smtClean="0">
                <a:latin typeface="Arial" pitchFamily="34" charset="0"/>
                <a:cs typeface="Arial" pitchFamily="34" charset="0"/>
              </a:rPr>
              <a:t>D';return</a:t>
            </a:r>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strcmp</a:t>
            </a:r>
            <a:r>
              <a:rPr lang="en-US" altLang="zh-CN" sz="2400" dirty="0" smtClean="0">
                <a:latin typeface="Arial" pitchFamily="34" charset="0"/>
                <a:cs typeface="Arial" pitchFamily="34" charset="0"/>
              </a:rPr>
              <a:t>(</a:t>
            </a:r>
            <a:r>
              <a:rPr lang="en-US" altLang="zh-CN" sz="2400" dirty="0" err="1" smtClean="0">
                <a:latin typeface="Arial" pitchFamily="34" charset="0"/>
                <a:cs typeface="Arial" pitchFamily="34" charset="0"/>
              </a:rPr>
              <a:t>a,b</a:t>
            </a:r>
            <a:r>
              <a:rPr lang="en-US" altLang="zh-CN" sz="2400" dirty="0" smtClean="0">
                <a:latin typeface="Arial" pitchFamily="34" charset="0"/>
                <a:cs typeface="Arial" pitchFamily="34" charset="0"/>
              </a:rPr>
              <a:t>)&lt;0?a:b;	}</a:t>
            </a:r>
          </a:p>
          <a:p>
            <a:r>
              <a:rPr lang="en-US" altLang="zh-CN" sz="2400" dirty="0" smtClean="0">
                <a:latin typeface="Arial" pitchFamily="34" charset="0"/>
                <a:cs typeface="Arial" pitchFamily="34" charset="0"/>
              </a:rPr>
              <a:t>template &lt;</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T&gt;T&amp; min(T&amp; a, T&amp; b)</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&lt;&lt;'</a:t>
            </a:r>
            <a:r>
              <a:rPr lang="en-US" altLang="zh-CN" sz="2400" dirty="0" err="1" smtClean="0">
                <a:latin typeface="Arial" pitchFamily="34" charset="0"/>
                <a:cs typeface="Arial" pitchFamily="34" charset="0"/>
              </a:rPr>
              <a:t>B';return</a:t>
            </a:r>
            <a:r>
              <a:rPr lang="en-US" altLang="zh-CN" sz="2400" dirty="0" smtClean="0">
                <a:latin typeface="Arial" pitchFamily="34" charset="0"/>
                <a:cs typeface="Arial" pitchFamily="34" charset="0"/>
              </a:rPr>
              <a:t> a&lt;</a:t>
            </a:r>
            <a:r>
              <a:rPr lang="en-US" altLang="zh-CN" sz="2400" dirty="0" err="1" smtClean="0">
                <a:latin typeface="Arial" pitchFamily="34" charset="0"/>
                <a:cs typeface="Arial" pitchFamily="34" charset="0"/>
              </a:rPr>
              <a:t>b?a:b</a:t>
            </a:r>
            <a:r>
              <a:rPr lang="en-US" altLang="zh-CN" sz="2400" dirty="0" smtClean="0">
                <a:latin typeface="Arial" pitchFamily="34" charset="0"/>
                <a:cs typeface="Arial" pitchFamily="34" charset="0"/>
              </a:rPr>
              <a:t>;	}</a:t>
            </a:r>
          </a:p>
          <a:p>
            <a:r>
              <a:rPr lang="en-US" altLang="zh-CN" sz="2400" dirty="0" smtClean="0">
                <a:latin typeface="Arial" pitchFamily="34" charset="0"/>
                <a:cs typeface="Arial" pitchFamily="34" charset="0"/>
              </a:rPr>
              <a:t>template &lt;</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T, </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U&gt;</a:t>
            </a:r>
          </a:p>
          <a:p>
            <a:r>
              <a:rPr lang="en-US" altLang="zh-CN" sz="2400" dirty="0" smtClean="0">
                <a:latin typeface="Arial" pitchFamily="34" charset="0"/>
                <a:cs typeface="Arial" pitchFamily="34" charset="0"/>
              </a:rPr>
              <a:t>T min(const T&amp; a, const U&amp; b)</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&lt;&lt;'</a:t>
            </a:r>
            <a:r>
              <a:rPr lang="en-US" altLang="zh-CN" sz="2400" dirty="0" err="1" smtClean="0">
                <a:latin typeface="Arial" pitchFamily="34" charset="0"/>
                <a:cs typeface="Arial" pitchFamily="34" charset="0"/>
              </a:rPr>
              <a:t>C';return</a:t>
            </a:r>
            <a:r>
              <a:rPr lang="en-US" altLang="zh-CN" sz="2400" dirty="0" smtClean="0">
                <a:latin typeface="Arial" pitchFamily="34" charset="0"/>
                <a:cs typeface="Arial" pitchFamily="34" charset="0"/>
              </a:rPr>
              <a:t> a&lt;</a:t>
            </a:r>
            <a:r>
              <a:rPr lang="en-US" altLang="zh-CN" sz="2400" dirty="0" err="1" smtClean="0">
                <a:latin typeface="Arial" pitchFamily="34" charset="0"/>
                <a:cs typeface="Arial" pitchFamily="34" charset="0"/>
              </a:rPr>
              <a:t>b?a:T</a:t>
            </a:r>
            <a:r>
              <a:rPr lang="en-US" altLang="zh-CN" sz="2400" dirty="0" smtClean="0">
                <a:latin typeface="Arial" pitchFamily="34" charset="0"/>
                <a:cs typeface="Arial" pitchFamily="34" charset="0"/>
              </a:rPr>
              <a:t>(b);	}</a:t>
            </a:r>
          </a:p>
          <a:p>
            <a:r>
              <a:rPr lang="en-US" altLang="zh-CN" sz="2400" dirty="0" smtClean="0">
                <a:latin typeface="Arial" pitchFamily="34" charset="0"/>
                <a:cs typeface="Arial" pitchFamily="34" charset="0"/>
              </a:rPr>
              <a:t>template &lt;</a:t>
            </a:r>
            <a:r>
              <a:rPr lang="en-US" altLang="zh-CN" sz="2400" dirty="0" err="1" smtClean="0">
                <a:latin typeface="Arial" pitchFamily="34" charset="0"/>
                <a:cs typeface="Arial" pitchFamily="34" charset="0"/>
              </a:rPr>
              <a:t>typename</a:t>
            </a:r>
            <a:r>
              <a:rPr lang="en-US" altLang="zh-CN" sz="2400" dirty="0" smtClean="0">
                <a:latin typeface="Arial" pitchFamily="34" charset="0"/>
                <a:cs typeface="Arial" pitchFamily="34" charset="0"/>
              </a:rPr>
              <a:t> T&gt;T min(const T&amp; a, char b)</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&lt;&lt;'</a:t>
            </a:r>
            <a:r>
              <a:rPr lang="en-US" altLang="zh-CN" sz="2400" dirty="0" err="1" smtClean="0">
                <a:latin typeface="Arial" pitchFamily="34" charset="0"/>
                <a:cs typeface="Arial" pitchFamily="34" charset="0"/>
              </a:rPr>
              <a:t>E';return</a:t>
            </a:r>
            <a:r>
              <a:rPr lang="en-US" altLang="zh-CN" sz="2400" dirty="0" smtClean="0">
                <a:latin typeface="Arial" pitchFamily="34" charset="0"/>
                <a:cs typeface="Arial" pitchFamily="34" charset="0"/>
              </a:rPr>
              <a:t> a&lt;</a:t>
            </a:r>
            <a:r>
              <a:rPr lang="en-US" altLang="zh-CN" sz="2400" dirty="0" err="1" smtClean="0">
                <a:latin typeface="Arial" pitchFamily="34" charset="0"/>
                <a:cs typeface="Arial" pitchFamily="34" charset="0"/>
              </a:rPr>
              <a:t>b?a:T</a:t>
            </a:r>
            <a:r>
              <a:rPr lang="en-US" altLang="zh-CN" sz="2400" dirty="0" smtClean="0">
                <a:latin typeface="Arial" pitchFamily="34" charset="0"/>
                <a:cs typeface="Arial" pitchFamily="34" charset="0"/>
              </a:rPr>
              <a:t>(b);	} </a:t>
            </a:r>
          </a:p>
          <a:p>
            <a:r>
              <a:rPr lang="en-US" altLang="zh-CN" sz="2400" dirty="0" smtClean="0">
                <a:latin typeface="Arial" pitchFamily="34" charset="0"/>
                <a:cs typeface="Arial" pitchFamily="34" charset="0"/>
              </a:rPr>
              <a:t>template &lt;&gt;double&amp; min(double&amp; a, double&amp; b)</a:t>
            </a:r>
          </a:p>
          <a:p>
            <a:r>
              <a:rPr lang="en-US" altLang="zh-CN" sz="2400" dirty="0" smtClean="0">
                <a:latin typeface="Arial" pitchFamily="34" charset="0"/>
                <a:cs typeface="Arial" pitchFamily="34" charset="0"/>
              </a:rPr>
              <a:t>{	</a:t>
            </a:r>
            <a:r>
              <a:rPr lang="en-US" altLang="zh-CN" sz="2400" dirty="0" err="1" smtClean="0">
                <a:latin typeface="Arial" pitchFamily="34" charset="0"/>
                <a:cs typeface="Arial" pitchFamily="34" charset="0"/>
              </a:rPr>
              <a:t>cout</a:t>
            </a:r>
            <a:r>
              <a:rPr lang="en-US" altLang="zh-CN" sz="2400" dirty="0" smtClean="0">
                <a:latin typeface="Arial" pitchFamily="34" charset="0"/>
                <a:cs typeface="Arial" pitchFamily="34" charset="0"/>
              </a:rPr>
              <a:t>&lt;&lt;'</a:t>
            </a:r>
            <a:r>
              <a:rPr lang="en-US" altLang="zh-CN" sz="2400" dirty="0" err="1" smtClean="0">
                <a:latin typeface="Arial" pitchFamily="34" charset="0"/>
                <a:cs typeface="Arial" pitchFamily="34" charset="0"/>
              </a:rPr>
              <a:t>F';</a:t>
            </a:r>
            <a:r>
              <a:rPr lang="en-US" altLang="zh-CN" sz="2400" dirty="0" err="1">
                <a:latin typeface="Arial" pitchFamily="34" charset="0"/>
                <a:cs typeface="Arial" pitchFamily="34" charset="0"/>
              </a:rPr>
              <a:t>return</a:t>
            </a:r>
            <a:r>
              <a:rPr lang="en-US" altLang="zh-CN" sz="2400" dirty="0">
                <a:latin typeface="Arial" pitchFamily="34" charset="0"/>
                <a:cs typeface="Arial" pitchFamily="34" charset="0"/>
              </a:rPr>
              <a:t> a&lt;</a:t>
            </a:r>
            <a:r>
              <a:rPr lang="en-US" altLang="zh-CN" sz="2400" dirty="0" err="1">
                <a:latin typeface="Arial" pitchFamily="34" charset="0"/>
                <a:cs typeface="Arial" pitchFamily="34" charset="0"/>
              </a:rPr>
              <a:t>b?a:b</a:t>
            </a:r>
            <a:r>
              <a:rPr lang="en-US" altLang="zh-CN" sz="2400" dirty="0" smtClean="0">
                <a:latin typeface="Arial" pitchFamily="34" charset="0"/>
                <a:cs typeface="Arial" pitchFamily="34" charset="0"/>
              </a:rPr>
              <a:t>;	}</a:t>
            </a:r>
            <a:endParaRPr lang="zh-CN" altLang="en-US" sz="240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如何调用</a:t>
            </a:r>
            <a:endParaRPr lang="zh-CN" altLang="en-US" dirty="0"/>
          </a:p>
        </p:txBody>
      </p:sp>
      <p:sp>
        <p:nvSpPr>
          <p:cNvPr id="4" name="内容占位符 2"/>
          <p:cNvSpPr>
            <a:spLocks noGrp="1"/>
          </p:cNvSpPr>
          <p:nvPr>
            <p:ph idx="1"/>
          </p:nvPr>
        </p:nvSpPr>
        <p:spPr>
          <a:xfrm>
            <a:off x="457200" y="1643050"/>
            <a:ext cx="8229600" cy="4483113"/>
          </a:xfrm>
        </p:spPr>
        <p:txBody>
          <a:bodyPr>
            <a:normAutofit fontScale="85000" lnSpcReduction="20000"/>
          </a:bodyPr>
          <a:lstStyle/>
          <a:p>
            <a:pPr lvl="1">
              <a:buNone/>
            </a:pPr>
            <a:r>
              <a:rPr lang="en-US" altLang="zh-CN" dirty="0" err="1" smtClean="0"/>
              <a:t>int</a:t>
            </a:r>
            <a:r>
              <a:rPr lang="en-US" altLang="zh-CN" dirty="0" smtClean="0"/>
              <a:t> main()</a:t>
            </a:r>
          </a:p>
          <a:p>
            <a:pPr lvl="1">
              <a:buNone/>
            </a:pPr>
            <a:r>
              <a:rPr lang="en-US" altLang="zh-CN" dirty="0" smtClean="0"/>
              <a:t>{</a:t>
            </a:r>
          </a:p>
          <a:p>
            <a:pPr lvl="1">
              <a:buNone/>
            </a:pPr>
            <a:r>
              <a:rPr lang="en-US" altLang="zh-CN" dirty="0" smtClean="0"/>
              <a:t>	</a:t>
            </a:r>
            <a:r>
              <a:rPr lang="en-US" altLang="zh-CN" dirty="0" err="1" smtClean="0"/>
              <a:t>int</a:t>
            </a:r>
            <a:r>
              <a:rPr lang="en-US" altLang="zh-CN" dirty="0" smtClean="0"/>
              <a:t> m=20, n=10;</a:t>
            </a:r>
          </a:p>
          <a:p>
            <a:pPr lvl="1">
              <a:buNone/>
            </a:pPr>
            <a:r>
              <a:rPr lang="en-US" altLang="zh-CN" dirty="0" smtClean="0"/>
              <a:t>	double x=1.1, y=2.2;</a:t>
            </a:r>
          </a:p>
          <a:p>
            <a:pPr lvl="1">
              <a:buNone/>
            </a:pPr>
            <a:r>
              <a:rPr lang="en-US" altLang="zh-CN" dirty="0" smtClean="0"/>
              <a:t>	</a:t>
            </a:r>
            <a:r>
              <a:rPr lang="en-US" altLang="zh-CN" dirty="0" err="1" smtClean="0"/>
              <a:t>cout</a:t>
            </a:r>
            <a:r>
              <a:rPr lang="en-US" altLang="zh-CN" dirty="0" smtClean="0"/>
              <a:t> &lt;&lt; min(</a:t>
            </a:r>
            <a:r>
              <a:rPr lang="en-US" altLang="zh-CN" dirty="0" err="1" smtClean="0"/>
              <a:t>m,n</a:t>
            </a:r>
            <a:r>
              <a:rPr lang="en-US" altLang="zh-CN" dirty="0" smtClean="0"/>
              <a:t>) &lt;&lt; </a:t>
            </a:r>
            <a:r>
              <a:rPr lang="en-US" altLang="zh-CN" dirty="0" err="1" smtClean="0"/>
              <a:t>endl</a:t>
            </a:r>
            <a:r>
              <a:rPr lang="en-US" altLang="zh-CN" dirty="0" smtClean="0"/>
              <a:t>;</a:t>
            </a:r>
          </a:p>
          <a:p>
            <a:pPr lvl="1">
              <a:buNone/>
            </a:pPr>
            <a:r>
              <a:rPr lang="en-US" altLang="zh-CN" dirty="0" smtClean="0"/>
              <a:t>	</a:t>
            </a:r>
            <a:r>
              <a:rPr lang="en-US" altLang="zh-CN" dirty="0" err="1" smtClean="0"/>
              <a:t>cout</a:t>
            </a:r>
            <a:r>
              <a:rPr lang="en-US" altLang="zh-CN" dirty="0" smtClean="0"/>
              <a:t> &lt;&lt; min(</a:t>
            </a:r>
            <a:r>
              <a:rPr lang="en-US" altLang="zh-CN" dirty="0" err="1" smtClean="0"/>
              <a:t>x,y</a:t>
            </a:r>
            <a:r>
              <a:rPr lang="en-US" altLang="zh-CN" dirty="0" smtClean="0"/>
              <a:t>) &lt;&lt; </a:t>
            </a:r>
            <a:r>
              <a:rPr lang="en-US" altLang="zh-CN" dirty="0" err="1" smtClean="0"/>
              <a:t>endl</a:t>
            </a:r>
            <a:r>
              <a:rPr lang="en-US" altLang="zh-CN" dirty="0" smtClean="0"/>
              <a:t>;</a:t>
            </a:r>
          </a:p>
          <a:p>
            <a:pPr lvl="1">
              <a:buNone/>
            </a:pPr>
            <a:r>
              <a:rPr lang="en-US" altLang="zh-CN" dirty="0" smtClean="0"/>
              <a:t>	</a:t>
            </a:r>
            <a:r>
              <a:rPr lang="en-US" altLang="zh-CN" dirty="0" err="1" smtClean="0"/>
              <a:t>cout</a:t>
            </a:r>
            <a:r>
              <a:rPr lang="en-US" altLang="zh-CN" dirty="0" smtClean="0"/>
              <a:t> &lt;&lt; min(30,40) &lt;&lt; </a:t>
            </a:r>
            <a:r>
              <a:rPr lang="en-US" altLang="zh-CN" dirty="0" err="1" smtClean="0"/>
              <a:t>endl</a:t>
            </a:r>
            <a:r>
              <a:rPr lang="en-US" altLang="zh-CN" dirty="0" smtClean="0"/>
              <a:t>;</a:t>
            </a:r>
          </a:p>
          <a:p>
            <a:pPr lvl="1">
              <a:buNone/>
            </a:pPr>
            <a:r>
              <a:rPr lang="en-US" altLang="zh-CN" dirty="0" smtClean="0"/>
              <a:t>	</a:t>
            </a:r>
            <a:r>
              <a:rPr lang="en-US" altLang="zh-CN" dirty="0" err="1" smtClean="0"/>
              <a:t>cout</a:t>
            </a:r>
            <a:r>
              <a:rPr lang="en-US" altLang="zh-CN" dirty="0" smtClean="0"/>
              <a:t> &lt;&lt; min(5.9,6) &lt;&lt; </a:t>
            </a:r>
            <a:r>
              <a:rPr lang="en-US" altLang="zh-CN" dirty="0" err="1" smtClean="0"/>
              <a:t>endl</a:t>
            </a:r>
            <a:r>
              <a:rPr lang="en-US" altLang="zh-CN" dirty="0" smtClean="0"/>
              <a:t>;</a:t>
            </a:r>
          </a:p>
          <a:p>
            <a:pPr lvl="1">
              <a:buNone/>
            </a:pPr>
            <a:r>
              <a:rPr lang="en-US" altLang="zh-CN" dirty="0" smtClean="0"/>
              <a:t>	</a:t>
            </a:r>
            <a:r>
              <a:rPr lang="en-US" altLang="zh-CN" dirty="0" err="1" smtClean="0"/>
              <a:t>cout</a:t>
            </a:r>
            <a:r>
              <a:rPr lang="en-US" altLang="zh-CN" dirty="0" smtClean="0"/>
              <a:t> &lt;&lt; min("</a:t>
            </a:r>
            <a:r>
              <a:rPr lang="en-US" altLang="zh-CN" dirty="0" err="1" smtClean="0"/>
              <a:t>hello","world</a:t>
            </a:r>
            <a:r>
              <a:rPr lang="en-US" altLang="zh-CN" dirty="0" smtClean="0"/>
              <a:t>") &lt;&lt; </a:t>
            </a:r>
            <a:r>
              <a:rPr lang="en-US" altLang="zh-CN" dirty="0" err="1" smtClean="0"/>
              <a:t>endl</a:t>
            </a:r>
            <a:r>
              <a:rPr lang="en-US" altLang="zh-CN" dirty="0" smtClean="0"/>
              <a:t>;</a:t>
            </a:r>
          </a:p>
          <a:p>
            <a:pPr lvl="1">
              <a:buNone/>
            </a:pPr>
            <a:r>
              <a:rPr lang="en-US" altLang="zh-CN" dirty="0" smtClean="0"/>
              <a:t>	</a:t>
            </a:r>
            <a:r>
              <a:rPr lang="en-US" altLang="zh-CN" dirty="0" err="1" smtClean="0"/>
              <a:t>cout</a:t>
            </a:r>
            <a:r>
              <a:rPr lang="en-US" altLang="zh-CN" dirty="0" smtClean="0"/>
              <a:t> &lt;&lt; min&lt;&gt;("</a:t>
            </a:r>
            <a:r>
              <a:rPr lang="en-US" altLang="zh-CN" dirty="0" err="1" smtClean="0"/>
              <a:t>hello","world</a:t>
            </a:r>
            <a:r>
              <a:rPr lang="en-US" altLang="zh-CN" dirty="0" smtClean="0"/>
              <a:t>") &lt;&lt; </a:t>
            </a:r>
            <a:r>
              <a:rPr lang="en-US" altLang="zh-CN" dirty="0" err="1" smtClean="0"/>
              <a:t>endl</a:t>
            </a:r>
            <a:r>
              <a:rPr lang="en-US" altLang="zh-CN" dirty="0" smtClean="0"/>
              <a:t>;</a:t>
            </a:r>
          </a:p>
          <a:p>
            <a:pPr lvl="1">
              <a:buNone/>
            </a:pPr>
            <a:r>
              <a:rPr lang="en-US" altLang="zh-CN" dirty="0" smtClean="0"/>
              <a:t>	</a:t>
            </a:r>
            <a:r>
              <a:rPr lang="en-US" altLang="zh-CN" dirty="0" err="1" smtClean="0"/>
              <a:t>cout</a:t>
            </a:r>
            <a:r>
              <a:rPr lang="en-US" altLang="zh-CN" dirty="0" smtClean="0"/>
              <a:t> &lt;&lt; min(123,'x') &lt;&lt; </a:t>
            </a:r>
            <a:r>
              <a:rPr lang="en-US" altLang="zh-CN" dirty="0" err="1" smtClean="0"/>
              <a:t>endl</a:t>
            </a:r>
            <a:r>
              <a:rPr lang="en-US" altLang="zh-CN" dirty="0" smtClean="0"/>
              <a:t>;</a:t>
            </a:r>
          </a:p>
          <a:p>
            <a:pPr lvl="1">
              <a:buNone/>
            </a:pP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补充</a:t>
            </a:r>
            <a:r>
              <a:rPr lang="en-US" altLang="zh-CN" dirty="0" smtClean="0"/>
              <a:t>—</a:t>
            </a:r>
            <a:r>
              <a:rPr lang="zh-CN" altLang="en-US" dirty="0" smtClean="0"/>
              <a:t>智能指针的实现</a:t>
            </a:r>
            <a:endParaRPr lang="zh-CN" altLang="en-US" dirty="0"/>
          </a:p>
        </p:txBody>
      </p:sp>
      <p:sp>
        <p:nvSpPr>
          <p:cNvPr id="5" name="文本占位符 4"/>
          <p:cNvSpPr>
            <a:spLocks noGrp="1"/>
          </p:cNvSpPr>
          <p:nvPr>
            <p:ph type="body"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auto_ptr</a:t>
            </a:r>
            <a:r>
              <a:rPr lang="zh-CN" altLang="en-US" dirty="0" smtClean="0"/>
              <a:t>实现原理</a:t>
            </a:r>
            <a:endParaRPr lang="zh-CN" altLang="en-US" dirty="0"/>
          </a:p>
        </p:txBody>
      </p:sp>
      <p:sp>
        <p:nvSpPr>
          <p:cNvPr id="3" name="内容占位符 2"/>
          <p:cNvSpPr>
            <a:spLocks noGrp="1"/>
          </p:cNvSpPr>
          <p:nvPr>
            <p:ph idx="1"/>
          </p:nvPr>
        </p:nvSpPr>
        <p:spPr/>
        <p:txBody>
          <a:bodyPr/>
          <a:lstStyle/>
          <a:p>
            <a:r>
              <a:rPr lang="zh-CN" altLang="en-US" dirty="0" smtClean="0"/>
              <a:t>定义在头文件</a:t>
            </a:r>
            <a:r>
              <a:rPr lang="en-US" altLang="zh-CN" dirty="0" smtClean="0"/>
              <a:t>&lt;memory&gt;</a:t>
            </a:r>
          </a:p>
          <a:p>
            <a:r>
              <a:rPr lang="en-US" altLang="zh-CN" dirty="0" err="1" smtClean="0"/>
              <a:t>auto_ptr</a:t>
            </a:r>
            <a:r>
              <a:rPr lang="zh-CN" altLang="en-US" dirty="0" smtClean="0"/>
              <a:t>类对象释放时，会自动调用所指对象的</a:t>
            </a:r>
            <a:r>
              <a:rPr lang="en-US" altLang="zh-CN" dirty="0" smtClean="0"/>
              <a:t>delete</a:t>
            </a:r>
          </a:p>
          <a:p>
            <a:pPr lvl="1"/>
            <a:r>
              <a:rPr lang="en-US" altLang="zh-CN" dirty="0" err="1" smtClean="0"/>
              <a:t>auto_ptr</a:t>
            </a:r>
            <a:r>
              <a:rPr lang="en-US" altLang="zh-CN" dirty="0" smtClean="0"/>
              <a:t>&lt;Integer&gt; </a:t>
            </a:r>
            <a:r>
              <a:rPr lang="en-US" altLang="zh-CN" dirty="0" err="1" smtClean="0"/>
              <a:t>ptrToInteger</a:t>
            </a:r>
            <a:r>
              <a:rPr lang="en-US" altLang="zh-CN" dirty="0" smtClean="0"/>
              <a:t>(new Integer(8));</a:t>
            </a:r>
          </a:p>
          <a:p>
            <a:pPr lvl="1"/>
            <a:r>
              <a:rPr lang="en-US" altLang="zh-CN" dirty="0" err="1" smtClean="0"/>
              <a:t>ptrToInteger</a:t>
            </a:r>
            <a:r>
              <a:rPr lang="en-US" altLang="zh-CN" dirty="0" smtClean="0"/>
              <a:t>-&gt;</a:t>
            </a:r>
            <a:r>
              <a:rPr lang="en-US" altLang="zh-CN" dirty="0" err="1" smtClean="0"/>
              <a:t>setInteger</a:t>
            </a:r>
            <a:r>
              <a:rPr lang="en-US" altLang="zh-CN" dirty="0" smtClean="0"/>
              <a:t>(99);</a:t>
            </a:r>
          </a:p>
          <a:p>
            <a:pPr lvl="1"/>
            <a:endParaRPr lang="zh-CN" alt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实现原理</a:t>
            </a:r>
            <a:endParaRPr lang="zh-CN" altLang="en-US" dirty="0"/>
          </a:p>
        </p:txBody>
      </p:sp>
      <p:sp>
        <p:nvSpPr>
          <p:cNvPr id="5" name="内容占位符 2"/>
          <p:cNvSpPr>
            <a:spLocks noGrp="1"/>
          </p:cNvSpPr>
          <p:nvPr>
            <p:ph idx="1"/>
          </p:nvPr>
        </p:nvSpPr>
        <p:spPr>
          <a:xfrm>
            <a:off x="357158" y="1428736"/>
            <a:ext cx="8229600" cy="5000625"/>
          </a:xfrm>
        </p:spPr>
        <p:txBody>
          <a:bodyPr>
            <a:normAutofit fontScale="92500" lnSpcReduction="20000"/>
          </a:bodyPr>
          <a:lstStyle/>
          <a:p>
            <a:pPr lvl="2">
              <a:buNone/>
            </a:pPr>
            <a:r>
              <a:rPr lang="en-US" altLang="zh-CN" dirty="0" smtClean="0"/>
              <a:t>template &lt;</a:t>
            </a:r>
            <a:r>
              <a:rPr lang="en-US" altLang="zh-CN" dirty="0" err="1" smtClean="0"/>
              <a:t>typename</a:t>
            </a:r>
            <a:r>
              <a:rPr lang="en-US" altLang="zh-CN" dirty="0" smtClean="0"/>
              <a:t> T&gt;class </a:t>
            </a:r>
            <a:r>
              <a:rPr lang="en-US" altLang="zh-CN" dirty="0" err="1" smtClean="0"/>
              <a:t>autoptr</a:t>
            </a:r>
            <a:r>
              <a:rPr lang="en-US" altLang="zh-CN" dirty="0" smtClean="0"/>
              <a:t>{</a:t>
            </a:r>
          </a:p>
          <a:p>
            <a:pPr lvl="3">
              <a:buNone/>
            </a:pPr>
            <a:r>
              <a:rPr lang="en-US" altLang="zh-CN" b="1" dirty="0" smtClean="0"/>
              <a:t>T* p;</a:t>
            </a:r>
          </a:p>
          <a:p>
            <a:pPr lvl="2">
              <a:buNone/>
            </a:pPr>
            <a:r>
              <a:rPr lang="en-US" altLang="zh-CN" dirty="0" smtClean="0"/>
              <a:t>public:</a:t>
            </a:r>
          </a:p>
          <a:p>
            <a:pPr lvl="2">
              <a:buNone/>
            </a:pPr>
            <a:r>
              <a:rPr lang="en-US" altLang="zh-CN" dirty="0" smtClean="0"/>
              <a:t>	</a:t>
            </a:r>
            <a:r>
              <a:rPr lang="en-US" altLang="zh-CN" dirty="0" err="1" smtClean="0"/>
              <a:t>autoptr</a:t>
            </a:r>
            <a:r>
              <a:rPr lang="en-US" altLang="zh-CN" dirty="0" smtClean="0"/>
              <a:t>(T* p):p(p){}</a:t>
            </a:r>
          </a:p>
          <a:p>
            <a:pPr lvl="2">
              <a:buNone/>
            </a:pPr>
            <a:r>
              <a:rPr lang="en-US" altLang="zh-CN" dirty="0" smtClean="0"/>
              <a:t>	~</a:t>
            </a:r>
            <a:r>
              <a:rPr lang="en-US" altLang="zh-CN" dirty="0" err="1" smtClean="0"/>
              <a:t>autoptr</a:t>
            </a:r>
            <a:r>
              <a:rPr lang="en-US" altLang="zh-CN" dirty="0" smtClean="0"/>
              <a:t>(){delete p;}</a:t>
            </a:r>
          </a:p>
          <a:p>
            <a:pPr lvl="2">
              <a:buNone/>
            </a:pPr>
            <a:r>
              <a:rPr lang="en-US" altLang="zh-CN" dirty="0" smtClean="0"/>
              <a:t>	</a:t>
            </a:r>
            <a:r>
              <a:rPr lang="en-US" altLang="zh-CN" dirty="0" err="1" smtClean="0"/>
              <a:t>autoptr</a:t>
            </a:r>
            <a:r>
              <a:rPr lang="en-US" altLang="zh-CN" dirty="0" smtClean="0"/>
              <a:t>(</a:t>
            </a:r>
            <a:r>
              <a:rPr lang="en-US" altLang="zh-CN" dirty="0" err="1" smtClean="0"/>
              <a:t>autoptr</a:t>
            </a:r>
            <a:r>
              <a:rPr lang="en-US" altLang="zh-CN" dirty="0" smtClean="0"/>
              <a:t>&amp; a):p(0){operator=(a);}</a:t>
            </a:r>
          </a:p>
          <a:p>
            <a:pPr lvl="2">
              <a:buNone/>
            </a:pPr>
            <a:r>
              <a:rPr lang="en-US" altLang="zh-CN" dirty="0" smtClean="0"/>
              <a:t>	</a:t>
            </a:r>
            <a:r>
              <a:rPr lang="en-US" altLang="zh-CN" dirty="0" err="1" smtClean="0"/>
              <a:t>autoptr</a:t>
            </a:r>
            <a:r>
              <a:rPr lang="en-US" altLang="zh-CN" dirty="0" smtClean="0"/>
              <a:t>&amp; operator=(</a:t>
            </a:r>
            <a:r>
              <a:rPr lang="en-US" altLang="zh-CN" dirty="0" err="1" smtClean="0"/>
              <a:t>autoptr</a:t>
            </a:r>
            <a:r>
              <a:rPr lang="en-US" altLang="zh-CN" dirty="0" smtClean="0"/>
              <a:t>&amp; a){</a:t>
            </a:r>
          </a:p>
          <a:p>
            <a:pPr lvl="2">
              <a:buNone/>
            </a:pPr>
            <a:r>
              <a:rPr lang="en-US" altLang="zh-CN" dirty="0" smtClean="0"/>
              <a:t>		if(this==&amp;a) return *this;</a:t>
            </a:r>
          </a:p>
          <a:p>
            <a:pPr lvl="2">
              <a:buNone/>
            </a:pPr>
            <a:r>
              <a:rPr lang="en-US" altLang="zh-CN" dirty="0" smtClean="0"/>
              <a:t>		if(p!=NULL) delete p;</a:t>
            </a:r>
          </a:p>
          <a:p>
            <a:pPr lvl="2">
              <a:buNone/>
            </a:pPr>
            <a:r>
              <a:rPr lang="en-US" altLang="zh-CN" dirty="0" smtClean="0"/>
              <a:t>		p = </a:t>
            </a:r>
            <a:r>
              <a:rPr lang="en-US" altLang="zh-CN" dirty="0" err="1" smtClean="0"/>
              <a:t>a.p</a:t>
            </a:r>
            <a:r>
              <a:rPr lang="en-US" altLang="zh-CN" dirty="0" smtClean="0"/>
              <a:t>;</a:t>
            </a:r>
          </a:p>
          <a:p>
            <a:pPr lvl="2">
              <a:buNone/>
            </a:pPr>
            <a:r>
              <a:rPr lang="en-US" altLang="zh-CN" dirty="0" smtClean="0"/>
              <a:t>		</a:t>
            </a:r>
            <a:r>
              <a:rPr lang="en-US" altLang="zh-CN" dirty="0" err="1" smtClean="0"/>
              <a:t>a.p</a:t>
            </a:r>
            <a:r>
              <a:rPr lang="en-US" altLang="zh-CN" dirty="0" smtClean="0"/>
              <a:t> = NULL;</a:t>
            </a:r>
          </a:p>
          <a:p>
            <a:pPr lvl="2">
              <a:buNone/>
            </a:pPr>
            <a:r>
              <a:rPr lang="en-US" altLang="zh-CN" dirty="0" smtClean="0"/>
              <a:t>		return *this;}</a:t>
            </a:r>
          </a:p>
          <a:p>
            <a:pPr lvl="2">
              <a:buNone/>
            </a:pPr>
            <a:r>
              <a:rPr lang="en-US" altLang="zh-CN" dirty="0" smtClean="0"/>
              <a:t>	T&amp; operator*()const{return *p;}</a:t>
            </a:r>
          </a:p>
          <a:p>
            <a:pPr lvl="2">
              <a:buNone/>
            </a:pPr>
            <a:r>
              <a:rPr lang="en-US" altLang="zh-CN" dirty="0" smtClean="0"/>
              <a:t>	T* operator-&gt;()const{return p;}};</a:t>
            </a:r>
            <a:endParaRPr lang="zh-CN" alt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smtClean="0"/>
              <a:t>STL</a:t>
            </a:r>
            <a:endParaRPr lang="zh-CN" altLang="en-US" dirty="0"/>
          </a:p>
        </p:txBody>
      </p:sp>
      <p:sp>
        <p:nvSpPr>
          <p:cNvPr id="5" name="文本占位符 4"/>
          <p:cNvSpPr>
            <a:spLocks noGrp="1"/>
          </p:cNvSpPr>
          <p:nvPr>
            <p:ph type="body" idx="1"/>
          </p:nvPr>
        </p:nvSpPr>
        <p:spPr/>
        <p:txBody>
          <a:bodyPr/>
          <a:lstStyle/>
          <a:p>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en-US" altLang="zh-CN" smtClean="0"/>
              <a:t>STL</a:t>
            </a:r>
            <a:endParaRPr lang="zh-CN" altLang="en-US" smtClean="0"/>
          </a:p>
        </p:txBody>
      </p:sp>
      <p:sp>
        <p:nvSpPr>
          <p:cNvPr id="5123" name="内容占位符 2"/>
          <p:cNvSpPr>
            <a:spLocks noGrp="1"/>
          </p:cNvSpPr>
          <p:nvPr>
            <p:ph idx="1"/>
          </p:nvPr>
        </p:nvSpPr>
        <p:spPr/>
        <p:txBody>
          <a:bodyPr>
            <a:normAutofit fontScale="85000" lnSpcReduction="20000"/>
          </a:bodyPr>
          <a:lstStyle/>
          <a:p>
            <a:r>
              <a:rPr lang="zh-CN" altLang="en-US" dirty="0" smtClean="0"/>
              <a:t>标准模板库</a:t>
            </a:r>
            <a:r>
              <a:rPr lang="en-US" altLang="zh-CN" dirty="0" smtClean="0"/>
              <a:t>(Standard Template Library)</a:t>
            </a:r>
          </a:p>
          <a:p>
            <a:r>
              <a:rPr lang="zh-CN" altLang="en-US" dirty="0" smtClean="0"/>
              <a:t>效率是</a:t>
            </a:r>
            <a:r>
              <a:rPr lang="en-US" altLang="zh-CN" dirty="0" smtClean="0"/>
              <a:t>STL</a:t>
            </a:r>
            <a:r>
              <a:rPr lang="zh-CN" altLang="en-US" dirty="0" smtClean="0"/>
              <a:t>设计的关键考虑因素</a:t>
            </a:r>
            <a:endParaRPr lang="en-US" altLang="zh-CN" dirty="0" smtClean="0"/>
          </a:p>
          <a:p>
            <a:r>
              <a:rPr lang="en-US" altLang="zh-CN" dirty="0" smtClean="0"/>
              <a:t>STL</a:t>
            </a:r>
            <a:r>
              <a:rPr lang="zh-CN" altLang="en-US" dirty="0" smtClean="0"/>
              <a:t>包含很多最流行的数据结构，例如容器，并且提供了多种常用的算法来处理这些容器中的数据</a:t>
            </a:r>
            <a:endParaRPr lang="en-US" altLang="zh-CN" dirty="0" smtClean="0"/>
          </a:p>
          <a:p>
            <a:r>
              <a:rPr lang="en-US" altLang="zh-CN" dirty="0" smtClean="0"/>
              <a:t>STL</a:t>
            </a:r>
            <a:r>
              <a:rPr lang="zh-CN" altLang="en-US" dirty="0" smtClean="0"/>
              <a:t>的三种关键组件</a:t>
            </a:r>
            <a:endParaRPr lang="en-US" altLang="zh-CN" dirty="0" smtClean="0"/>
          </a:p>
          <a:p>
            <a:pPr lvl="1"/>
            <a:r>
              <a:rPr lang="zh-CN" altLang="en-US" dirty="0" smtClean="0"/>
              <a:t>容器</a:t>
            </a:r>
            <a:endParaRPr lang="en-US" altLang="zh-CN" dirty="0" smtClean="0"/>
          </a:p>
          <a:p>
            <a:pPr lvl="1"/>
            <a:r>
              <a:rPr lang="zh-CN" altLang="en-US" dirty="0" smtClean="0"/>
              <a:t>迭代器</a:t>
            </a:r>
            <a:endParaRPr lang="en-US" altLang="zh-CN" dirty="0" smtClean="0"/>
          </a:p>
          <a:p>
            <a:pPr lvl="1"/>
            <a:r>
              <a:rPr lang="zh-CN" altLang="en-US" dirty="0" smtClean="0"/>
              <a:t>算法</a:t>
            </a:r>
            <a:endParaRPr lang="en-US" altLang="zh-CN" dirty="0" smtClean="0"/>
          </a:p>
          <a:p>
            <a:r>
              <a:rPr lang="zh-CN" altLang="en-US" dirty="0" smtClean="0"/>
              <a:t>类模板通常称为容器，函数模板都是通用算法</a:t>
            </a:r>
            <a:endParaRPr lang="en-US" altLang="zh-CN" dirty="0" smtClean="0"/>
          </a:p>
          <a:p>
            <a:pPr lvl="1"/>
            <a:r>
              <a:rPr lang="zh-CN" altLang="en-US" dirty="0" smtClean="0"/>
              <a:t>类模板主要是对数据结构的设计</a:t>
            </a:r>
          </a:p>
          <a:p>
            <a:pPr lvl="1"/>
            <a:r>
              <a:rPr lang="zh-CN" altLang="en-US" dirty="0" smtClean="0"/>
              <a:t>函数模板主要是通用算法的设计</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smtClean="0"/>
              <a:t>容器</a:t>
            </a:r>
          </a:p>
        </p:txBody>
      </p:sp>
      <p:sp>
        <p:nvSpPr>
          <p:cNvPr id="6147" name="内容占位符 2"/>
          <p:cNvSpPr>
            <a:spLocks noGrp="1"/>
          </p:cNvSpPr>
          <p:nvPr>
            <p:ph idx="1"/>
          </p:nvPr>
        </p:nvSpPr>
        <p:spPr/>
        <p:txBody>
          <a:bodyPr>
            <a:normAutofit fontScale="92500" lnSpcReduction="10000"/>
          </a:bodyPr>
          <a:lstStyle/>
          <a:p>
            <a:r>
              <a:rPr lang="zh-CN" altLang="en-US" smtClean="0"/>
              <a:t>标准容器</a:t>
            </a:r>
            <a:endParaRPr lang="en-US" altLang="zh-CN" smtClean="0"/>
          </a:p>
          <a:p>
            <a:pPr lvl="1"/>
            <a:r>
              <a:rPr lang="zh-CN" altLang="en-US" smtClean="0"/>
              <a:t>序列容器</a:t>
            </a:r>
            <a:endParaRPr lang="en-US" altLang="zh-CN" smtClean="0"/>
          </a:p>
          <a:p>
            <a:pPr lvl="1"/>
            <a:r>
              <a:rPr lang="zh-CN" altLang="en-US" smtClean="0"/>
              <a:t>关联式容器</a:t>
            </a:r>
            <a:endParaRPr lang="en-US" altLang="zh-CN" smtClean="0"/>
          </a:p>
          <a:p>
            <a:pPr lvl="1"/>
            <a:r>
              <a:rPr lang="zh-CN" altLang="en-US" smtClean="0"/>
              <a:t>迭代器</a:t>
            </a:r>
            <a:endParaRPr lang="en-US" altLang="zh-CN" smtClean="0"/>
          </a:p>
          <a:p>
            <a:pPr lvl="1"/>
            <a:r>
              <a:rPr lang="en-US" altLang="zh-CN" smtClean="0"/>
              <a:t>…</a:t>
            </a:r>
          </a:p>
          <a:p>
            <a:r>
              <a:rPr lang="zh-CN" altLang="en-US" smtClean="0"/>
              <a:t>容器适配器</a:t>
            </a:r>
            <a:r>
              <a:rPr lang="en-US" altLang="zh-CN" smtClean="0"/>
              <a:t>(</a:t>
            </a:r>
            <a:r>
              <a:rPr lang="zh-CN" altLang="en-US" smtClean="0"/>
              <a:t>特殊容器</a:t>
            </a:r>
            <a:r>
              <a:rPr lang="en-US" altLang="zh-CN" smtClean="0"/>
              <a:t>),</a:t>
            </a:r>
          </a:p>
          <a:p>
            <a:r>
              <a:rPr lang="zh-CN" altLang="en-US" smtClean="0"/>
              <a:t>函数对象</a:t>
            </a:r>
            <a:endParaRPr lang="en-US" altLang="zh-CN" smtClean="0"/>
          </a:p>
          <a:p>
            <a:r>
              <a:rPr lang="zh-CN" altLang="en-US" smtClean="0"/>
              <a:t>内存分配器</a:t>
            </a:r>
            <a:endParaRPr lang="en-US" altLang="zh-CN" smtClean="0"/>
          </a:p>
          <a:p>
            <a:r>
              <a:rPr lang="en-US" altLang="zh-CN" smtClean="0"/>
              <a:t>…</a:t>
            </a:r>
            <a:endParaRPr lang="zh-CN" altLang="en-US" smtClean="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101600" y="0"/>
          <a:ext cx="9042400" cy="6429396"/>
        </p:xfrm>
        <a:graphic>
          <a:graphicData uri="http://schemas.openxmlformats.org/presentationml/2006/ole">
            <p:oleObj spid="_x0000_s1026" name="文档" r:id="rId3" imgW="8940165" imgH="7320153" progId="Word.Document.12">
              <p:embed/>
            </p:oleObj>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smtClean="0"/>
              <a:t>迭代器</a:t>
            </a:r>
          </a:p>
        </p:txBody>
      </p:sp>
      <p:sp>
        <p:nvSpPr>
          <p:cNvPr id="7171" name="内容占位符 2"/>
          <p:cNvSpPr>
            <a:spLocks noGrp="1"/>
          </p:cNvSpPr>
          <p:nvPr>
            <p:ph idx="1"/>
          </p:nvPr>
        </p:nvSpPr>
        <p:spPr/>
        <p:txBody>
          <a:bodyPr>
            <a:normAutofit fontScale="85000" lnSpcReduction="10000"/>
          </a:bodyPr>
          <a:lstStyle/>
          <a:p>
            <a:r>
              <a:rPr lang="zh-CN" altLang="en-US" smtClean="0"/>
              <a:t>迭代器在很多方面和指针类似，也是用于指向容器中的元素</a:t>
            </a:r>
            <a:endParaRPr lang="en-US" altLang="zh-CN" smtClean="0"/>
          </a:p>
          <a:p>
            <a:r>
              <a:rPr lang="zh-CN" altLang="en-US" smtClean="0"/>
              <a:t>迭代器存有它们所指的容器的状态信息，即迭代器对每种类型的容器都有一个实现</a:t>
            </a:r>
            <a:endParaRPr lang="en-US" altLang="zh-CN" smtClean="0"/>
          </a:p>
          <a:p>
            <a:r>
              <a:rPr lang="zh-CN" altLang="en-US" smtClean="0"/>
              <a:t>迭代器的本质是封装了的指针，支持</a:t>
            </a:r>
            <a:r>
              <a:rPr lang="en-US" altLang="zh-CN" smtClean="0"/>
              <a:t>++ * -&gt; == !=</a:t>
            </a:r>
            <a:r>
              <a:rPr lang="zh-CN" altLang="en-US" smtClean="0"/>
              <a:t>运算，大部分还支持</a:t>
            </a:r>
            <a:r>
              <a:rPr lang="en-US" altLang="zh-CN" smtClean="0"/>
              <a:t>--</a:t>
            </a:r>
            <a:r>
              <a:rPr lang="zh-CN" altLang="en-US" smtClean="0"/>
              <a:t>操作</a:t>
            </a:r>
            <a:endParaRPr lang="en-US" altLang="zh-CN" smtClean="0"/>
          </a:p>
          <a:p>
            <a:r>
              <a:rPr lang="zh-CN" altLang="en-US" smtClean="0"/>
              <a:t>容器类基本都提供成员函数</a:t>
            </a:r>
            <a:r>
              <a:rPr lang="en-US" altLang="zh-CN" smtClean="0"/>
              <a:t>begin</a:t>
            </a:r>
            <a:r>
              <a:rPr lang="zh-CN" altLang="en-US" smtClean="0"/>
              <a:t>和</a:t>
            </a:r>
            <a:r>
              <a:rPr lang="en-US" altLang="zh-CN" smtClean="0"/>
              <a:t>end,begin</a:t>
            </a:r>
            <a:r>
              <a:rPr lang="zh-CN" altLang="en-US" smtClean="0"/>
              <a:t>函数返回一个指向容器中第一个元素的迭代器，</a:t>
            </a:r>
            <a:r>
              <a:rPr lang="en-US" altLang="zh-CN" smtClean="0"/>
              <a:t>end</a:t>
            </a:r>
            <a:r>
              <a:rPr lang="zh-CN" altLang="en-US" smtClean="0"/>
              <a:t>返回一个指向容器最后一个的下一个元素的迭代器</a:t>
            </a:r>
            <a:endParaRPr lang="en-US" altLang="zh-CN" smtClean="0"/>
          </a:p>
          <a:p>
            <a:r>
              <a:rPr lang="en-US" altLang="zh-CN" smtClean="0"/>
              <a:t>STL</a:t>
            </a:r>
            <a:r>
              <a:rPr lang="zh-CN" altLang="en-US" smtClean="0"/>
              <a:t>中，通常用两个迭代器表示一个范围，这个范围是个半开半闭区间</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smtClean="0"/>
              <a:t>标准容器</a:t>
            </a:r>
          </a:p>
        </p:txBody>
      </p:sp>
      <p:sp>
        <p:nvSpPr>
          <p:cNvPr id="8195" name="内容占位符 2"/>
          <p:cNvSpPr>
            <a:spLocks noGrp="1"/>
          </p:cNvSpPr>
          <p:nvPr>
            <p:ph idx="1"/>
          </p:nvPr>
        </p:nvSpPr>
        <p:spPr/>
        <p:txBody>
          <a:bodyPr/>
          <a:lstStyle/>
          <a:p>
            <a:r>
              <a:rPr lang="zh-CN" altLang="en-US" dirty="0" smtClean="0"/>
              <a:t>序列容器的共性</a:t>
            </a:r>
            <a:endParaRPr lang="en-US" altLang="zh-CN" dirty="0" smtClean="0"/>
          </a:p>
          <a:p>
            <a:pPr lvl="1"/>
            <a:r>
              <a:rPr lang="en-US" altLang="zh-CN" dirty="0" smtClean="0"/>
              <a:t>vector </a:t>
            </a:r>
            <a:r>
              <a:rPr lang="en-US" altLang="zh-CN" dirty="0" err="1" smtClean="0"/>
              <a:t>deque</a:t>
            </a:r>
            <a:r>
              <a:rPr lang="en-US" altLang="zh-CN" dirty="0" smtClean="0"/>
              <a:t>  list</a:t>
            </a:r>
          </a:p>
          <a:p>
            <a:r>
              <a:rPr lang="zh-CN" altLang="en-US" dirty="0" smtClean="0"/>
              <a:t>关联窗口的共性</a:t>
            </a:r>
            <a:endParaRPr lang="en-US" altLang="zh-CN" dirty="0" smtClean="0"/>
          </a:p>
          <a:p>
            <a:pPr lvl="1"/>
            <a:r>
              <a:rPr lang="en-US" altLang="zh-CN" dirty="0" smtClean="0"/>
              <a:t>set  </a:t>
            </a:r>
            <a:r>
              <a:rPr lang="en-US" altLang="zh-CN" dirty="0" err="1" smtClean="0"/>
              <a:t>multiset</a:t>
            </a:r>
            <a:r>
              <a:rPr lang="en-US" altLang="zh-CN" dirty="0" smtClean="0"/>
              <a:t>  map  </a:t>
            </a:r>
            <a:r>
              <a:rPr lang="en-US" altLang="zh-CN" dirty="0" err="1" smtClean="0"/>
              <a:t>multimap</a:t>
            </a:r>
            <a:endParaRPr lang="en-US" altLang="zh-CN" dirty="0" smtClean="0"/>
          </a:p>
          <a:p>
            <a:r>
              <a:rPr lang="zh-CN" altLang="en-US" dirty="0" smtClean="0"/>
              <a:t>特殊容器</a:t>
            </a:r>
            <a:r>
              <a:rPr lang="en-US" altLang="zh-CN" dirty="0" smtClean="0"/>
              <a:t>(</a:t>
            </a:r>
            <a:r>
              <a:rPr lang="zh-CN" altLang="en-US" dirty="0" smtClean="0"/>
              <a:t>容器适配器</a:t>
            </a:r>
            <a:r>
              <a:rPr lang="en-US" altLang="zh-CN" dirty="0" smtClean="0"/>
              <a:t>)</a:t>
            </a:r>
          </a:p>
          <a:p>
            <a:pPr lvl="1"/>
            <a:r>
              <a:rPr lang="en-US" altLang="zh-CN" dirty="0" smtClean="0"/>
              <a:t>stack  queue  </a:t>
            </a:r>
            <a:r>
              <a:rPr lang="en-US" altLang="zh-CN" dirty="0" err="1" smtClean="0"/>
              <a:t>priority_queue</a:t>
            </a:r>
            <a:endParaRPr lang="en-US" altLang="zh-CN" dirty="0" smtClean="0"/>
          </a:p>
          <a:p>
            <a:pPr lvl="1"/>
            <a:endParaRPr lang="zh-CN" alt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smtClean="0"/>
              <a:t>标准容器的共性</a:t>
            </a:r>
          </a:p>
        </p:txBody>
      </p:sp>
      <p:sp>
        <p:nvSpPr>
          <p:cNvPr id="9219" name="内容占位符 2"/>
          <p:cNvSpPr>
            <a:spLocks noGrp="1"/>
          </p:cNvSpPr>
          <p:nvPr>
            <p:ph idx="1"/>
          </p:nvPr>
        </p:nvSpPr>
        <p:spPr/>
        <p:txBody>
          <a:bodyPr>
            <a:normAutofit fontScale="85000" lnSpcReduction="20000"/>
          </a:bodyPr>
          <a:lstStyle/>
          <a:p>
            <a:r>
              <a:rPr lang="en-US" altLang="zh-CN" smtClean="0"/>
              <a:t>vector,deque,list,set/map,multi...</a:t>
            </a:r>
          </a:p>
          <a:p>
            <a:r>
              <a:rPr lang="zh-CN" altLang="en-US" smtClean="0"/>
              <a:t>构造函数：无参构造，拷贝构造，区间构造（两个迭代器表示的两个位置）</a:t>
            </a:r>
          </a:p>
          <a:p>
            <a:r>
              <a:rPr lang="zh-CN" altLang="en-US" smtClean="0"/>
              <a:t>析构</a:t>
            </a:r>
            <a:endParaRPr lang="en-US" altLang="zh-CN" smtClean="0"/>
          </a:p>
          <a:p>
            <a:r>
              <a:rPr lang="zh-CN" altLang="en-US" smtClean="0"/>
              <a:t>迭代器相关：正向</a:t>
            </a:r>
            <a:r>
              <a:rPr lang="en-US" altLang="zh-CN" smtClean="0"/>
              <a:t>.begin()</a:t>
            </a:r>
            <a:r>
              <a:rPr lang="zh-CN" altLang="en-US" smtClean="0"/>
              <a:t>，</a:t>
            </a:r>
            <a:r>
              <a:rPr lang="en-US" altLang="zh-CN" smtClean="0"/>
              <a:t>.end()</a:t>
            </a:r>
            <a:r>
              <a:rPr lang="zh-CN" altLang="en-US" smtClean="0"/>
              <a:t>反向</a:t>
            </a:r>
            <a:r>
              <a:rPr lang="en-US" altLang="zh-CN" smtClean="0"/>
              <a:t>.rbegin()</a:t>
            </a:r>
            <a:r>
              <a:rPr lang="zh-CN" altLang="en-US" smtClean="0"/>
              <a:t>，</a:t>
            </a:r>
            <a:r>
              <a:rPr lang="en-US" altLang="zh-CN" smtClean="0"/>
              <a:t>.rend()</a:t>
            </a:r>
          </a:p>
          <a:p>
            <a:r>
              <a:rPr lang="en-US" altLang="zh-CN" smtClean="0"/>
              <a:t>iterator,reverse_iterator,const_iterator,const_reverse_iterator</a:t>
            </a:r>
          </a:p>
          <a:p>
            <a:r>
              <a:rPr lang="en-US" altLang="zh-CN" smtClean="0"/>
              <a:t> *,-&gt;,=,++,==,!= -- </a:t>
            </a:r>
          </a:p>
          <a:p>
            <a:r>
              <a:rPr lang="zh-CN" altLang="en-US" smtClean="0"/>
              <a:t>插入：</a:t>
            </a:r>
            <a:r>
              <a:rPr lang="en-US" altLang="zh-CN" smtClean="0"/>
              <a:t>.insert(pos,element)</a:t>
            </a:r>
            <a:r>
              <a:rPr lang="zh-CN" altLang="en-US" smtClean="0"/>
              <a:t>，其中</a:t>
            </a:r>
            <a:r>
              <a:rPr lang="en-US" altLang="zh-CN" smtClean="0"/>
              <a:t>pos</a:t>
            </a:r>
            <a:r>
              <a:rPr lang="zh-CN" altLang="en-US" smtClean="0"/>
              <a:t>表示插入位置，是个迭代器</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smtClean="0"/>
              <a:t>标准容器的共性</a:t>
            </a:r>
          </a:p>
        </p:txBody>
      </p:sp>
      <p:sp>
        <p:nvSpPr>
          <p:cNvPr id="10243" name="内容占位符 2"/>
          <p:cNvSpPr>
            <a:spLocks noGrp="1"/>
          </p:cNvSpPr>
          <p:nvPr>
            <p:ph idx="1"/>
          </p:nvPr>
        </p:nvSpPr>
        <p:spPr/>
        <p:txBody>
          <a:bodyPr>
            <a:normAutofit fontScale="77500" lnSpcReduction="20000"/>
          </a:bodyPr>
          <a:lstStyle/>
          <a:p>
            <a:r>
              <a:rPr lang="zh-CN" altLang="en-US" smtClean="0"/>
              <a:t>插入：</a:t>
            </a:r>
            <a:r>
              <a:rPr lang="en-US" altLang="zh-CN" smtClean="0"/>
              <a:t>.insert(pos,element)</a:t>
            </a:r>
            <a:r>
              <a:rPr lang="zh-CN" altLang="en-US" smtClean="0"/>
              <a:t>，其中</a:t>
            </a:r>
            <a:r>
              <a:rPr lang="en-US" altLang="zh-CN" smtClean="0"/>
              <a:t>pos</a:t>
            </a:r>
            <a:r>
              <a:rPr lang="zh-CN" altLang="en-US" smtClean="0"/>
              <a:t>表示插入位置，是个迭代器</a:t>
            </a:r>
          </a:p>
          <a:p>
            <a:r>
              <a:rPr lang="zh-CN" altLang="en-US" smtClean="0"/>
              <a:t>删除：</a:t>
            </a:r>
            <a:r>
              <a:rPr lang="en-US" altLang="zh-CN" smtClean="0"/>
              <a:t>.erase(pos), .erase(pos_beg, pos_end)</a:t>
            </a:r>
          </a:p>
          <a:p>
            <a:r>
              <a:rPr lang="zh-CN" altLang="en-US" smtClean="0"/>
              <a:t>清除：</a:t>
            </a:r>
            <a:r>
              <a:rPr lang="en-US" altLang="zh-CN" smtClean="0"/>
              <a:t>.clear()</a:t>
            </a:r>
          </a:p>
          <a:p>
            <a:r>
              <a:rPr lang="zh-CN" altLang="en-US" smtClean="0"/>
              <a:t>大小：</a:t>
            </a:r>
            <a:r>
              <a:rPr lang="en-US" altLang="zh-CN" smtClean="0"/>
              <a:t>.size(), .max_size(), .empty()</a:t>
            </a:r>
          </a:p>
          <a:p>
            <a:r>
              <a:rPr lang="zh-CN" altLang="en-US" smtClean="0"/>
              <a:t>交换：</a:t>
            </a:r>
            <a:r>
              <a:rPr lang="en-US" altLang="zh-CN" smtClean="0"/>
              <a:t>.swap(c2),  swap(c1,c2)</a:t>
            </a:r>
          </a:p>
          <a:p>
            <a:pPr lvl="1"/>
            <a:r>
              <a:rPr lang="zh-CN" altLang="en-US" smtClean="0"/>
              <a:t>成员函数和非成员函数在使用时，优先考虑使用成员函数。</a:t>
            </a:r>
          </a:p>
          <a:p>
            <a:r>
              <a:rPr lang="zh-CN" altLang="en-US" smtClean="0"/>
              <a:t>运算符：</a:t>
            </a:r>
            <a:r>
              <a:rPr lang="en-US" altLang="zh-CN" smtClean="0"/>
              <a:t>=, &gt;, &lt;, &gt;=, &lt;=, ==, !=</a:t>
            </a:r>
          </a:p>
          <a:p>
            <a:r>
              <a:rPr lang="zh-CN" altLang="en-US" smtClean="0"/>
              <a:t>另：标准库容器并没有严格检查错误，所以用错的后果是未知的。</a:t>
            </a:r>
          </a:p>
          <a:p>
            <a:r>
              <a:rPr lang="zh-CN" altLang="en-US" smtClean="0"/>
              <a:t>标准库容器共性举例。</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smtClean="0"/>
              <a:t>序列式容器的共性</a:t>
            </a:r>
          </a:p>
        </p:txBody>
      </p:sp>
      <p:sp>
        <p:nvSpPr>
          <p:cNvPr id="11267" name="内容占位符 2"/>
          <p:cNvSpPr>
            <a:spLocks noGrp="1"/>
          </p:cNvSpPr>
          <p:nvPr>
            <p:ph idx="1"/>
          </p:nvPr>
        </p:nvSpPr>
        <p:spPr/>
        <p:txBody>
          <a:bodyPr>
            <a:normAutofit fontScale="77500" lnSpcReduction="20000"/>
          </a:bodyPr>
          <a:lstStyle/>
          <a:p>
            <a:r>
              <a:rPr lang="en-US" altLang="zh-CN" smtClean="0"/>
              <a:t>vector,deque,list</a:t>
            </a:r>
          </a:p>
          <a:p>
            <a:r>
              <a:rPr lang="zh-CN" altLang="en-US" smtClean="0"/>
              <a:t>序列式容器属于标准容器，所以具体标准容器所有的共性。除此之外，序列式有以下共性：</a:t>
            </a:r>
          </a:p>
          <a:p>
            <a:pPr lvl="1"/>
            <a:r>
              <a:rPr lang="zh-CN" altLang="en-US" smtClean="0"/>
              <a:t>构造函数：指定元素个数和初始值（初始值默认为零初始化）</a:t>
            </a:r>
          </a:p>
          <a:p>
            <a:pPr lvl="1"/>
            <a:r>
              <a:rPr lang="zh-CN" altLang="en-US" smtClean="0"/>
              <a:t>插入：</a:t>
            </a:r>
            <a:r>
              <a:rPr lang="en-US" altLang="zh-CN" smtClean="0"/>
              <a:t>.insert(pos, n, element), .insert(pos, pos_beg, pos_end)</a:t>
            </a:r>
          </a:p>
          <a:p>
            <a:pPr lvl="1"/>
            <a:r>
              <a:rPr lang="zh-CN" altLang="en-US" smtClean="0"/>
              <a:t>赋值：</a:t>
            </a:r>
            <a:r>
              <a:rPr lang="en-US" altLang="zh-CN" smtClean="0"/>
              <a:t>.assign(n, element), .assign(pos_beg, pos_end)</a:t>
            </a:r>
          </a:p>
          <a:p>
            <a:pPr lvl="1"/>
            <a:r>
              <a:rPr lang="zh-CN" altLang="en-US" smtClean="0"/>
              <a:t>调整：</a:t>
            </a:r>
            <a:r>
              <a:rPr lang="en-US" altLang="zh-CN" smtClean="0"/>
              <a:t>.resize(n, element=</a:t>
            </a:r>
            <a:r>
              <a:rPr lang="zh-CN" altLang="en-US" smtClean="0"/>
              <a:t>零初始化</a:t>
            </a:r>
            <a:r>
              <a:rPr lang="en-US" altLang="zh-CN" smtClean="0"/>
              <a:t>)</a:t>
            </a:r>
          </a:p>
          <a:p>
            <a:pPr lvl="1"/>
            <a:r>
              <a:rPr lang="zh-CN" altLang="en-US" smtClean="0"/>
              <a:t>首尾：</a:t>
            </a:r>
            <a:r>
              <a:rPr lang="en-US" altLang="zh-CN" smtClean="0"/>
              <a:t>.front(), .back() </a:t>
            </a:r>
            <a:r>
              <a:rPr lang="zh-CN" altLang="en-US" smtClean="0"/>
              <a:t>注：返回的是首尾元素的引用</a:t>
            </a:r>
          </a:p>
          <a:p>
            <a:pPr lvl="1"/>
            <a:r>
              <a:rPr lang="zh-CN" altLang="en-US" smtClean="0"/>
              <a:t>增删：</a:t>
            </a:r>
            <a:r>
              <a:rPr lang="en-US" altLang="zh-CN" smtClean="0"/>
              <a:t>.push_back(element), .pop_back()</a:t>
            </a:r>
            <a:r>
              <a:rPr lang="zh-CN" altLang="en-US" smtClean="0"/>
              <a:t>只删除，返回</a:t>
            </a:r>
            <a:r>
              <a:rPr lang="en-US" altLang="zh-CN" smtClean="0"/>
              <a:t>void</a:t>
            </a:r>
          </a:p>
          <a:p>
            <a:r>
              <a:rPr lang="zh-CN" altLang="en-US" smtClean="0"/>
              <a:t>序列式容器共性举例。</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smtClean="0"/>
              <a:t>序列式容器的个性介绍</a:t>
            </a:r>
          </a:p>
        </p:txBody>
      </p:sp>
      <p:sp>
        <p:nvSpPr>
          <p:cNvPr id="12291" name="内容占位符 2"/>
          <p:cNvSpPr>
            <a:spLocks noGrp="1"/>
          </p:cNvSpPr>
          <p:nvPr>
            <p:ph idx="1"/>
          </p:nvPr>
        </p:nvSpPr>
        <p:spPr/>
        <p:txBody>
          <a:bodyPr>
            <a:normAutofit lnSpcReduction="10000"/>
          </a:bodyPr>
          <a:lstStyle/>
          <a:p>
            <a:r>
              <a:rPr lang="en-US" altLang="zh-CN" smtClean="0"/>
              <a:t>vector</a:t>
            </a:r>
          </a:p>
          <a:p>
            <a:pPr lvl="1"/>
            <a:r>
              <a:rPr lang="en-US" altLang="zh-CN" smtClean="0"/>
              <a:t>.capacity();//</a:t>
            </a:r>
            <a:r>
              <a:rPr lang="zh-CN" altLang="en-US" smtClean="0"/>
              <a:t>取得当前分配了多少容量</a:t>
            </a:r>
          </a:p>
          <a:p>
            <a:pPr lvl="1"/>
            <a:r>
              <a:rPr lang="en-US" altLang="zh-CN" smtClean="0"/>
              <a:t>.reserve(n);//</a:t>
            </a:r>
            <a:r>
              <a:rPr lang="zh-CN" altLang="en-US" smtClean="0"/>
              <a:t>约定容量</a:t>
            </a:r>
          </a:p>
          <a:p>
            <a:pPr lvl="1"/>
            <a:r>
              <a:rPr lang="en-US" altLang="zh-CN" smtClean="0"/>
              <a:t>[</a:t>
            </a:r>
            <a:r>
              <a:rPr lang="zh-CN" altLang="en-US" smtClean="0"/>
              <a:t>下标</a:t>
            </a:r>
            <a:r>
              <a:rPr lang="en-US" altLang="zh-CN" smtClean="0"/>
              <a:t>];//</a:t>
            </a:r>
            <a:r>
              <a:rPr lang="zh-CN" altLang="en-US" smtClean="0"/>
              <a:t>如同数组，支持下标操作，</a:t>
            </a:r>
            <a:r>
              <a:rPr lang="en-US" altLang="zh-CN" smtClean="0"/>
              <a:t>operator[](i)</a:t>
            </a:r>
            <a:r>
              <a:rPr lang="zh-CN" altLang="en-US" smtClean="0"/>
              <a:t>即使越界也不检查</a:t>
            </a:r>
          </a:p>
          <a:p>
            <a:pPr lvl="1"/>
            <a:r>
              <a:rPr lang="en-US" altLang="zh-CN" smtClean="0"/>
              <a:t>.at(</a:t>
            </a:r>
            <a:r>
              <a:rPr lang="zh-CN" altLang="en-US" smtClean="0"/>
              <a:t>下标</a:t>
            </a:r>
            <a:r>
              <a:rPr lang="en-US" altLang="zh-CN" smtClean="0"/>
              <a:t>);//</a:t>
            </a:r>
            <a:r>
              <a:rPr lang="zh-CN" altLang="en-US" smtClean="0"/>
              <a:t>用下标访问，检查越界</a:t>
            </a:r>
          </a:p>
          <a:p>
            <a:pPr lvl="1"/>
            <a:r>
              <a:rPr lang="zh-CN" altLang="en-US" smtClean="0"/>
              <a:t>迭代器在使用时需要特别注意，在进行插入或删除后，之前获得的迭代器可能会失效。</a:t>
            </a:r>
          </a:p>
          <a:p>
            <a:r>
              <a:rPr lang="en-US" altLang="zh-CN" smtClean="0"/>
              <a:t>vector</a:t>
            </a:r>
            <a:r>
              <a:rPr lang="zh-CN" altLang="en-US" smtClean="0"/>
              <a:t>使用举例</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en-US" altLang="zh-CN" smtClean="0"/>
              <a:t>deque</a:t>
            </a:r>
            <a:endParaRPr lang="zh-CN" altLang="en-US" smtClean="0"/>
          </a:p>
        </p:txBody>
      </p:sp>
      <p:sp>
        <p:nvSpPr>
          <p:cNvPr id="13315" name="内容占位符 2"/>
          <p:cNvSpPr>
            <a:spLocks noGrp="1"/>
          </p:cNvSpPr>
          <p:nvPr>
            <p:ph idx="1"/>
          </p:nvPr>
        </p:nvSpPr>
        <p:spPr/>
        <p:txBody>
          <a:bodyPr/>
          <a:lstStyle/>
          <a:p>
            <a:r>
              <a:rPr lang="en-US" altLang="zh-CN" smtClean="0"/>
              <a:t>deque (double_ended_queue)</a:t>
            </a:r>
          </a:p>
          <a:p>
            <a:pPr lvl="1"/>
            <a:r>
              <a:rPr lang="zh-CN" altLang="en-US" smtClean="0"/>
              <a:t>由数组实现，支持</a:t>
            </a:r>
            <a:r>
              <a:rPr lang="en-US" altLang="zh-CN" smtClean="0"/>
              <a:t>[]</a:t>
            </a:r>
            <a:r>
              <a:rPr lang="zh-CN" altLang="en-US" smtClean="0"/>
              <a:t>下标操作，如</a:t>
            </a:r>
            <a:r>
              <a:rPr lang="en-US" altLang="zh-CN" smtClean="0"/>
              <a:t>vector .at(i)</a:t>
            </a:r>
            <a:r>
              <a:rPr lang="zh-CN" altLang="en-US" smtClean="0"/>
              <a:t>会做越界检查。</a:t>
            </a:r>
          </a:p>
          <a:p>
            <a:pPr lvl="1"/>
            <a:r>
              <a:rPr lang="zh-CN" altLang="en-US" smtClean="0"/>
              <a:t>没有</a:t>
            </a:r>
            <a:r>
              <a:rPr lang="en-US" altLang="zh-CN" smtClean="0"/>
              <a:t>capacity reserve</a:t>
            </a:r>
            <a:r>
              <a:rPr lang="zh-CN" altLang="en-US" smtClean="0"/>
              <a:t>操作</a:t>
            </a:r>
          </a:p>
          <a:p>
            <a:pPr lvl="1"/>
            <a:r>
              <a:rPr lang="zh-CN" altLang="en-US" smtClean="0"/>
              <a:t>可从头增删：</a:t>
            </a:r>
            <a:r>
              <a:rPr lang="en-US" altLang="zh-CN" smtClean="0"/>
              <a:t>.push_front(element)  .pop_front();</a:t>
            </a:r>
          </a:p>
          <a:p>
            <a:r>
              <a:rPr lang="en-US" altLang="zh-CN" smtClean="0"/>
              <a:t>deque</a:t>
            </a:r>
            <a:r>
              <a:rPr lang="zh-CN" altLang="en-US" smtClean="0"/>
              <a:t>举例</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en-US" altLang="zh-CN" smtClean="0"/>
              <a:t>list</a:t>
            </a:r>
            <a:endParaRPr lang="zh-CN" altLang="en-US" smtClean="0"/>
          </a:p>
        </p:txBody>
      </p:sp>
      <p:sp>
        <p:nvSpPr>
          <p:cNvPr id="14339" name="内容占位符 2"/>
          <p:cNvSpPr>
            <a:spLocks noGrp="1"/>
          </p:cNvSpPr>
          <p:nvPr>
            <p:ph idx="1"/>
          </p:nvPr>
        </p:nvSpPr>
        <p:spPr/>
        <p:txBody>
          <a:bodyPr>
            <a:normAutofit fontScale="77500" lnSpcReduction="20000"/>
          </a:bodyPr>
          <a:lstStyle/>
          <a:p>
            <a:r>
              <a:rPr lang="en-US" altLang="zh-CN" smtClean="0"/>
              <a:t>list (</a:t>
            </a:r>
            <a:r>
              <a:rPr lang="zh-CN" altLang="en-US" smtClean="0"/>
              <a:t>双向链表实现</a:t>
            </a:r>
            <a:r>
              <a:rPr lang="en-US" altLang="zh-CN" smtClean="0"/>
              <a:t>)</a:t>
            </a:r>
          </a:p>
          <a:p>
            <a:pPr lvl="1"/>
            <a:r>
              <a:rPr lang="zh-CN" altLang="en-US" smtClean="0"/>
              <a:t>增删</a:t>
            </a:r>
            <a:r>
              <a:rPr lang="en-US" altLang="zh-CN" smtClean="0"/>
              <a:t>.push_front(element), .pop_front(), .remove(element)//</a:t>
            </a:r>
            <a:r>
              <a:rPr lang="zh-CN" altLang="en-US" smtClean="0"/>
              <a:t>删除等于指定值的所有元素，需要支持</a:t>
            </a:r>
            <a:r>
              <a:rPr lang="en-US" altLang="zh-CN" smtClean="0"/>
              <a:t>==</a:t>
            </a:r>
            <a:r>
              <a:rPr lang="zh-CN" altLang="en-US" smtClean="0"/>
              <a:t>运算符</a:t>
            </a:r>
          </a:p>
          <a:p>
            <a:pPr lvl="1"/>
            <a:r>
              <a:rPr lang="zh-CN" altLang="en-US" smtClean="0"/>
              <a:t>不支持下标</a:t>
            </a:r>
            <a:r>
              <a:rPr lang="en-US" altLang="zh-CN" smtClean="0"/>
              <a:t>[]</a:t>
            </a:r>
          </a:p>
          <a:p>
            <a:pPr lvl="1"/>
            <a:r>
              <a:rPr lang="zh-CN" altLang="en-US" smtClean="0"/>
              <a:t>除重：</a:t>
            </a:r>
            <a:r>
              <a:rPr lang="en-US" altLang="zh-CN" smtClean="0"/>
              <a:t>.unique()</a:t>
            </a:r>
            <a:r>
              <a:rPr lang="zh-CN" altLang="en-US" smtClean="0"/>
              <a:t>相邻的重复元素只保留一个</a:t>
            </a:r>
          </a:p>
          <a:p>
            <a:pPr lvl="1"/>
            <a:r>
              <a:rPr lang="zh-CN" altLang="en-US" smtClean="0"/>
              <a:t>排序：</a:t>
            </a:r>
            <a:r>
              <a:rPr lang="en-US" altLang="zh-CN" smtClean="0"/>
              <a:t>.sort(compare_func=less)</a:t>
            </a:r>
            <a:r>
              <a:rPr lang="zh-CN" altLang="en-US" smtClean="0"/>
              <a:t>默认用小于符号比较，从小到大排序  </a:t>
            </a:r>
            <a:r>
              <a:rPr lang="en-US" altLang="zh-CN" smtClean="0"/>
              <a:t>greater&lt;</a:t>
            </a:r>
            <a:r>
              <a:rPr lang="zh-CN" altLang="en-US" smtClean="0"/>
              <a:t>类型</a:t>
            </a:r>
            <a:r>
              <a:rPr lang="en-US" altLang="zh-CN" smtClean="0"/>
              <a:t>&gt;</a:t>
            </a:r>
            <a:r>
              <a:rPr lang="zh-CN" altLang="en-US" smtClean="0"/>
              <a:t>为从大到小排序函数</a:t>
            </a:r>
          </a:p>
          <a:p>
            <a:pPr lvl="1"/>
            <a:r>
              <a:rPr lang="zh-CN" altLang="en-US" smtClean="0"/>
              <a:t>倒置：</a:t>
            </a:r>
            <a:r>
              <a:rPr lang="en-US" altLang="zh-CN" smtClean="0"/>
              <a:t>.reverse()</a:t>
            </a:r>
            <a:r>
              <a:rPr lang="zh-CN" altLang="en-US" smtClean="0"/>
              <a:t>颠倒链表中元素顺序</a:t>
            </a:r>
          </a:p>
          <a:p>
            <a:pPr lvl="1"/>
            <a:r>
              <a:rPr lang="zh-CN" altLang="en-US" smtClean="0"/>
              <a:t>转移</a:t>
            </a:r>
            <a:r>
              <a:rPr lang="en-US" altLang="zh-CN" smtClean="0"/>
              <a:t>.splice(pos,list2), .splice(pos,list2,pos2), </a:t>
            </a:r>
          </a:p>
          <a:p>
            <a:pPr lvl="1">
              <a:buFont typeface="Wingdings" pitchFamily="2" charset="2"/>
              <a:buNone/>
            </a:pPr>
            <a:r>
              <a:rPr lang="en-US" altLang="zh-CN" smtClean="0"/>
              <a:t>.splice(pos,list2,pos_beg,pos_end)</a:t>
            </a:r>
          </a:p>
          <a:p>
            <a:pPr lvl="1"/>
            <a:r>
              <a:rPr lang="zh-CN" altLang="en-US" smtClean="0"/>
              <a:t>归并：</a:t>
            </a:r>
            <a:r>
              <a:rPr lang="en-US" altLang="zh-CN" smtClean="0"/>
              <a:t>.merge(list2)</a:t>
            </a:r>
          </a:p>
          <a:p>
            <a:r>
              <a:rPr lang="en-US" altLang="zh-CN" smtClean="0"/>
              <a:t>list</a:t>
            </a:r>
            <a:r>
              <a:rPr lang="zh-CN" altLang="en-US" smtClean="0"/>
              <a:t>举例</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dirty="0" smtClean="0"/>
              <a:t>关联式容器共性</a:t>
            </a:r>
          </a:p>
        </p:txBody>
      </p:sp>
      <p:sp>
        <p:nvSpPr>
          <p:cNvPr id="15363" name="内容占位符 2"/>
          <p:cNvSpPr>
            <a:spLocks noGrp="1"/>
          </p:cNvSpPr>
          <p:nvPr>
            <p:ph idx="1"/>
          </p:nvPr>
        </p:nvSpPr>
        <p:spPr/>
        <p:txBody>
          <a:bodyPr>
            <a:normAutofit/>
          </a:bodyPr>
          <a:lstStyle/>
          <a:p>
            <a:r>
              <a:rPr lang="zh-CN" altLang="en-US" sz="2000" dirty="0" smtClean="0"/>
              <a:t>二叉树实现，会根据关键字自动排序。 个性少。</a:t>
            </a:r>
          </a:p>
          <a:p>
            <a:r>
              <a:rPr lang="en-US" altLang="zh-CN" sz="2000" dirty="0" smtClean="0"/>
              <a:t>set&lt;K&gt;,  </a:t>
            </a:r>
            <a:r>
              <a:rPr lang="en-US" altLang="zh-CN" sz="2000" dirty="0" err="1" smtClean="0"/>
              <a:t>multiset</a:t>
            </a:r>
            <a:r>
              <a:rPr lang="en-US" altLang="zh-CN" sz="2000" dirty="0" smtClean="0"/>
              <a:t>&lt;K&gt;, map&lt;K,V&gt;, </a:t>
            </a:r>
            <a:r>
              <a:rPr lang="en-US" altLang="zh-CN" sz="2000" dirty="0" err="1" smtClean="0"/>
              <a:t>multimap</a:t>
            </a:r>
            <a:r>
              <a:rPr lang="en-US" altLang="zh-CN" sz="2000" dirty="0" smtClean="0"/>
              <a:t>&lt;K,V)</a:t>
            </a:r>
          </a:p>
          <a:p>
            <a:r>
              <a:rPr lang="zh-CN" altLang="en-US" sz="2000" dirty="0" smtClean="0"/>
              <a:t>查找：</a:t>
            </a:r>
            <a:r>
              <a:rPr lang="en-US" altLang="zh-CN" sz="2000" dirty="0" smtClean="0"/>
              <a:t>.find(key)</a:t>
            </a:r>
            <a:r>
              <a:rPr lang="zh-CN" altLang="en-US" sz="2000" dirty="0" smtClean="0"/>
              <a:t>返回一个迭代器指向找到的第一个元素，失败返回</a:t>
            </a:r>
            <a:r>
              <a:rPr lang="en-US" altLang="zh-CN" sz="2000" dirty="0" smtClean="0"/>
              <a:t>.end()</a:t>
            </a:r>
          </a:p>
          <a:p>
            <a:r>
              <a:rPr lang="zh-CN" altLang="en-US" sz="2000" dirty="0" smtClean="0"/>
              <a:t>统计：</a:t>
            </a:r>
            <a:r>
              <a:rPr lang="en-US" altLang="zh-CN" sz="2000" dirty="0" smtClean="0"/>
              <a:t>.count(key)</a:t>
            </a:r>
            <a:r>
              <a:rPr lang="zh-CN" altLang="en-US" sz="2000" dirty="0" smtClean="0"/>
              <a:t>统计关键字等于</a:t>
            </a:r>
            <a:r>
              <a:rPr lang="en-US" altLang="zh-CN" sz="2000" dirty="0" smtClean="0"/>
              <a:t>key</a:t>
            </a:r>
            <a:r>
              <a:rPr lang="zh-CN" altLang="en-US" sz="2000" dirty="0" smtClean="0"/>
              <a:t>的元素的个数</a:t>
            </a:r>
          </a:p>
          <a:p>
            <a:r>
              <a:rPr lang="zh-CN" altLang="en-US" sz="2000" dirty="0" smtClean="0"/>
              <a:t>删除：</a:t>
            </a:r>
            <a:r>
              <a:rPr lang="en-US" altLang="zh-CN" sz="2000" dirty="0" smtClean="0"/>
              <a:t>.erase(key)</a:t>
            </a:r>
            <a:r>
              <a:rPr lang="zh-CN" altLang="en-US" sz="2000" dirty="0" smtClean="0"/>
              <a:t>删除关键字等于</a:t>
            </a:r>
            <a:r>
              <a:rPr lang="en-US" altLang="zh-CN" sz="2000" dirty="0" smtClean="0"/>
              <a:t>key</a:t>
            </a:r>
            <a:r>
              <a:rPr lang="zh-CN" altLang="en-US" sz="2000" dirty="0" smtClean="0"/>
              <a:t>的所有元素</a:t>
            </a:r>
          </a:p>
          <a:p>
            <a:r>
              <a:rPr lang="zh-CN" altLang="en-US" sz="2000" dirty="0" smtClean="0"/>
              <a:t>区间：</a:t>
            </a:r>
            <a:endParaRPr lang="en-US" altLang="zh-CN" sz="2000" dirty="0" smtClean="0"/>
          </a:p>
          <a:p>
            <a:pPr lvl="1"/>
            <a:r>
              <a:rPr lang="en-US" altLang="zh-CN" sz="1800" dirty="0" smtClean="0"/>
              <a:t>.</a:t>
            </a:r>
            <a:r>
              <a:rPr lang="en-US" altLang="zh-CN" sz="1800" dirty="0" err="1" smtClean="0"/>
              <a:t>lower_bound</a:t>
            </a:r>
            <a:r>
              <a:rPr lang="en-US" altLang="zh-CN" sz="1800" dirty="0" smtClean="0"/>
              <a:t>(key)</a:t>
            </a:r>
            <a:r>
              <a:rPr lang="zh-CN" altLang="en-US" sz="1800" dirty="0" smtClean="0"/>
              <a:t>取得关键字为</a:t>
            </a:r>
            <a:r>
              <a:rPr lang="en-US" altLang="zh-CN" sz="1800" dirty="0" smtClean="0"/>
              <a:t>key</a:t>
            </a:r>
            <a:r>
              <a:rPr lang="zh-CN" altLang="en-US" sz="1800" dirty="0" smtClean="0"/>
              <a:t>的第一个元素的位置</a:t>
            </a:r>
            <a:r>
              <a:rPr lang="en-US" altLang="zh-CN" sz="1800" dirty="0" smtClean="0"/>
              <a:t>, </a:t>
            </a:r>
          </a:p>
          <a:p>
            <a:pPr lvl="1"/>
            <a:r>
              <a:rPr lang="en-US" altLang="zh-CN" sz="1800" dirty="0" smtClean="0"/>
              <a:t>.</a:t>
            </a:r>
            <a:r>
              <a:rPr lang="en-US" altLang="zh-CN" sz="1800" dirty="0" err="1" smtClean="0"/>
              <a:t>upper_bound</a:t>
            </a:r>
            <a:r>
              <a:rPr lang="en-US" altLang="zh-CN" sz="1800" dirty="0" smtClean="0"/>
              <a:t>(key)</a:t>
            </a:r>
            <a:r>
              <a:rPr lang="zh-CN" altLang="en-US" sz="1800" dirty="0" smtClean="0"/>
              <a:t>取得关键字为</a:t>
            </a:r>
            <a:r>
              <a:rPr lang="en-US" altLang="zh-CN" sz="1800" dirty="0" smtClean="0"/>
              <a:t>key</a:t>
            </a:r>
            <a:r>
              <a:rPr lang="zh-CN" altLang="en-US" sz="1800" dirty="0" smtClean="0"/>
              <a:t>的最后一个元素之后的位置， </a:t>
            </a:r>
          </a:p>
          <a:p>
            <a:pPr lvl="1"/>
            <a:r>
              <a:rPr lang="en-US" altLang="zh-CN" sz="1800" dirty="0" smtClean="0"/>
              <a:t>.</a:t>
            </a:r>
            <a:r>
              <a:rPr lang="en-US" altLang="zh-CN" sz="1800" dirty="0" err="1" smtClean="0"/>
              <a:t>equal_range</a:t>
            </a:r>
            <a:r>
              <a:rPr lang="en-US" altLang="zh-CN" sz="1800" dirty="0" smtClean="0"/>
              <a:t>(key</a:t>
            </a:r>
            <a:r>
              <a:rPr lang="en-US" altLang="zh-CN" sz="1800" dirty="0" smtClean="0"/>
              <a:t>)</a:t>
            </a:r>
            <a:r>
              <a:rPr lang="zh-CN" altLang="en-US" sz="1800" dirty="0" smtClean="0"/>
              <a:t>一次取得关键字为</a:t>
            </a:r>
            <a:r>
              <a:rPr lang="en-US" altLang="zh-CN" sz="1800" dirty="0" smtClean="0"/>
              <a:t>key</a:t>
            </a:r>
            <a:r>
              <a:rPr lang="zh-CN" altLang="en-US" sz="1800" dirty="0" smtClean="0"/>
              <a:t>的元素的区间，返回一个</a:t>
            </a:r>
            <a:r>
              <a:rPr lang="en-US" altLang="zh-CN" sz="1800" dirty="0" smtClean="0"/>
              <a:t>pair</a:t>
            </a:r>
          </a:p>
          <a:p>
            <a:r>
              <a:rPr lang="zh-CN" altLang="en-US" sz="2000" dirty="0" smtClean="0"/>
              <a:t>插入：</a:t>
            </a:r>
            <a:r>
              <a:rPr lang="en-US" altLang="zh-CN" sz="2000" dirty="0" smtClean="0"/>
              <a:t>.insert(element)</a:t>
            </a:r>
          </a:p>
          <a:p>
            <a:r>
              <a:rPr lang="zh-CN" altLang="en-US" sz="2000" dirty="0" smtClean="0"/>
              <a:t>所在关联容器插入都不会指定位置：</a:t>
            </a:r>
            <a:r>
              <a:rPr lang="en-US" altLang="zh-CN" sz="2000" dirty="0" smtClean="0"/>
              <a:t>insert(element</a:t>
            </a:r>
            <a:r>
              <a:rPr lang="en-US" altLang="zh-CN" sz="2000" dirty="0" smtClean="0"/>
              <a:t>)</a:t>
            </a:r>
            <a:endParaRPr lang="en-US" altLang="zh-CN" sz="2000"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smtClean="0"/>
              <a:t>关联式容器的个性</a:t>
            </a:r>
          </a:p>
        </p:txBody>
      </p:sp>
      <p:sp>
        <p:nvSpPr>
          <p:cNvPr id="16387" name="内容占位符 2"/>
          <p:cNvSpPr>
            <a:spLocks noGrp="1"/>
          </p:cNvSpPr>
          <p:nvPr>
            <p:ph idx="1"/>
          </p:nvPr>
        </p:nvSpPr>
        <p:spPr/>
        <p:txBody>
          <a:bodyPr/>
          <a:lstStyle/>
          <a:p>
            <a:r>
              <a:rPr lang="en-US" altLang="zh-CN" dirty="0" smtClean="0"/>
              <a:t>set</a:t>
            </a:r>
          </a:p>
          <a:p>
            <a:pPr lvl="1"/>
            <a:r>
              <a:rPr lang="zh-CN" altLang="en-US" dirty="0" smtClean="0"/>
              <a:t>元素不允许重复。判断重复的标准是运算符</a:t>
            </a:r>
            <a:r>
              <a:rPr lang="en-US" altLang="zh-CN" dirty="0" smtClean="0"/>
              <a:t>&lt;</a:t>
            </a:r>
            <a:r>
              <a:rPr lang="zh-CN" altLang="en-US" dirty="0" smtClean="0"/>
              <a:t>号</a:t>
            </a:r>
          </a:p>
          <a:p>
            <a:pPr lvl="1"/>
            <a:r>
              <a:rPr lang="en-US" altLang="zh-CN" dirty="0" smtClean="0"/>
              <a:t>set</a:t>
            </a:r>
            <a:r>
              <a:rPr lang="zh-CN" altLang="en-US" dirty="0" smtClean="0"/>
              <a:t>举例</a:t>
            </a:r>
          </a:p>
          <a:p>
            <a:r>
              <a:rPr lang="en-US" altLang="zh-CN" dirty="0" err="1" smtClean="0"/>
              <a:t>multiset</a:t>
            </a:r>
            <a:endParaRPr lang="en-US" altLang="zh-CN" dirty="0" smtClean="0"/>
          </a:p>
          <a:p>
            <a:pPr lvl="1"/>
            <a:r>
              <a:rPr lang="en-US" altLang="zh-CN" dirty="0" smtClean="0"/>
              <a:t>	</a:t>
            </a:r>
            <a:r>
              <a:rPr lang="zh-CN" altLang="en-US" dirty="0" smtClean="0"/>
              <a:t>元素允许重复。</a:t>
            </a:r>
          </a:p>
          <a:p>
            <a:pPr lvl="1"/>
            <a:r>
              <a:rPr lang="zh-CN" altLang="en-US" dirty="0" smtClean="0"/>
              <a:t>	</a:t>
            </a:r>
            <a:r>
              <a:rPr lang="en-US" altLang="zh-CN" dirty="0" err="1" smtClean="0"/>
              <a:t>multiset</a:t>
            </a:r>
            <a:r>
              <a:rPr lang="zh-CN" altLang="en-US" dirty="0" smtClean="0"/>
              <a:t>举例</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dirty="0" smtClean="0"/>
              <a:t>map/</a:t>
            </a:r>
            <a:r>
              <a:rPr lang="en-US" altLang="zh-CN" dirty="0" err="1" smtClean="0"/>
              <a:t>multimap</a:t>
            </a:r>
            <a:endParaRPr lang="zh-CN" altLang="en-US" dirty="0" smtClean="0"/>
          </a:p>
        </p:txBody>
      </p:sp>
      <p:sp>
        <p:nvSpPr>
          <p:cNvPr id="17411" name="内容占位符 2"/>
          <p:cNvSpPr>
            <a:spLocks noGrp="1"/>
          </p:cNvSpPr>
          <p:nvPr>
            <p:ph idx="1"/>
          </p:nvPr>
        </p:nvSpPr>
        <p:spPr/>
        <p:txBody>
          <a:bodyPr>
            <a:normAutofit fontScale="70000" lnSpcReduction="20000"/>
          </a:bodyPr>
          <a:lstStyle/>
          <a:p>
            <a:r>
              <a:rPr lang="en-US" altLang="zh-CN" dirty="0" smtClean="0"/>
              <a:t>map</a:t>
            </a:r>
          </a:p>
          <a:p>
            <a:pPr lvl="1"/>
            <a:r>
              <a:rPr lang="zh-CN" altLang="en-US" dirty="0" smtClean="0"/>
              <a:t>不允许</a:t>
            </a:r>
            <a:r>
              <a:rPr lang="en-US" altLang="zh-CN" dirty="0" smtClean="0"/>
              <a:t>key</a:t>
            </a:r>
            <a:r>
              <a:rPr lang="zh-CN" altLang="en-US" dirty="0" smtClean="0"/>
              <a:t>重复</a:t>
            </a:r>
            <a:r>
              <a:rPr lang="en-US" altLang="zh-CN" dirty="0" smtClean="0"/>
              <a:t>,</a:t>
            </a:r>
            <a:r>
              <a:rPr lang="zh-CN" altLang="en-US" dirty="0" smtClean="0"/>
              <a:t>元素是</a:t>
            </a:r>
            <a:r>
              <a:rPr lang="en-US" altLang="zh-CN" dirty="0" smtClean="0"/>
              <a:t>key/value</a:t>
            </a:r>
            <a:r>
              <a:rPr lang="zh-CN" altLang="en-US" dirty="0" smtClean="0"/>
              <a:t>对</a:t>
            </a:r>
          </a:p>
          <a:p>
            <a:pPr lvl="1"/>
            <a:r>
              <a:rPr lang="zh-CN" altLang="en-US" dirty="0" smtClean="0"/>
              <a:t>支持以</a:t>
            </a:r>
            <a:r>
              <a:rPr lang="en-US" altLang="zh-CN" dirty="0" smtClean="0"/>
              <a:t>key</a:t>
            </a:r>
            <a:r>
              <a:rPr lang="zh-CN" altLang="en-US" dirty="0" smtClean="0"/>
              <a:t>为下标访问对应的</a:t>
            </a:r>
            <a:r>
              <a:rPr lang="en-US" altLang="zh-CN" dirty="0" smtClean="0"/>
              <a:t>value</a:t>
            </a:r>
            <a:r>
              <a:rPr lang="zh-CN" altLang="en-US" dirty="0" smtClean="0"/>
              <a:t>的引用，如果</a:t>
            </a:r>
            <a:r>
              <a:rPr lang="en-US" altLang="zh-CN" dirty="0" smtClean="0"/>
              <a:t>key</a:t>
            </a:r>
            <a:r>
              <a:rPr lang="zh-CN" altLang="en-US" dirty="0" smtClean="0"/>
              <a:t>不存在就新增一个元素以这个为</a:t>
            </a:r>
            <a:r>
              <a:rPr lang="en-US" altLang="zh-CN" dirty="0" smtClean="0"/>
              <a:t>key</a:t>
            </a:r>
            <a:r>
              <a:rPr lang="zh-CN" altLang="en-US" dirty="0" smtClean="0"/>
              <a:t>。</a:t>
            </a:r>
          </a:p>
          <a:p>
            <a:pPr lvl="2">
              <a:buFontTx/>
              <a:buNone/>
            </a:pPr>
            <a:r>
              <a:rPr lang="en-US" altLang="zh-CN" dirty="0" err="1" smtClean="0"/>
              <a:t>mis.insert</a:t>
            </a:r>
            <a:r>
              <a:rPr lang="en-US" altLang="zh-CN" dirty="0" smtClean="0"/>
              <a:t>(map&lt;</a:t>
            </a:r>
            <a:r>
              <a:rPr lang="en-US" altLang="zh-CN" dirty="0" err="1" smtClean="0"/>
              <a:t>int,P</a:t>
            </a:r>
            <a:r>
              <a:rPr lang="en-US" altLang="zh-CN" dirty="0" smtClean="0"/>
              <a:t>&gt;::</a:t>
            </a:r>
            <a:r>
              <a:rPr lang="en-US" altLang="zh-CN" dirty="0" err="1" smtClean="0"/>
              <a:t>value_type</a:t>
            </a:r>
            <a:r>
              <a:rPr lang="en-US" altLang="zh-CN" dirty="0" smtClean="0"/>
              <a:t>(8,P("aaa",20)));</a:t>
            </a:r>
          </a:p>
          <a:p>
            <a:pPr lvl="2">
              <a:buFontTx/>
              <a:buNone/>
            </a:pPr>
            <a:r>
              <a:rPr lang="en-US" altLang="zh-CN" dirty="0" err="1" smtClean="0"/>
              <a:t>mis.insert</a:t>
            </a:r>
            <a:r>
              <a:rPr lang="en-US" altLang="zh-CN" dirty="0" smtClean="0"/>
              <a:t>(pair&lt;</a:t>
            </a:r>
            <a:r>
              <a:rPr lang="en-US" altLang="zh-CN" dirty="0" err="1" smtClean="0"/>
              <a:t>int,P</a:t>
            </a:r>
            <a:r>
              <a:rPr lang="en-US" altLang="zh-CN" dirty="0" smtClean="0"/>
              <a:t>&gt;(5,P("bbb",22)));</a:t>
            </a:r>
          </a:p>
          <a:p>
            <a:pPr lvl="2">
              <a:buFontTx/>
              <a:buNone/>
            </a:pPr>
            <a:r>
              <a:rPr lang="en-US" altLang="zh-CN" dirty="0" err="1" smtClean="0"/>
              <a:t>mis.insert</a:t>
            </a:r>
            <a:r>
              <a:rPr lang="en-US" altLang="zh-CN" dirty="0" smtClean="0"/>
              <a:t>(</a:t>
            </a:r>
            <a:r>
              <a:rPr lang="en-US" altLang="zh-CN" dirty="0" err="1" smtClean="0"/>
              <a:t>make_pair</a:t>
            </a:r>
            <a:r>
              <a:rPr lang="en-US" altLang="zh-CN" dirty="0" smtClean="0"/>
              <a:t>(4,P("ccc",21)));</a:t>
            </a:r>
          </a:p>
          <a:p>
            <a:pPr lvl="2">
              <a:buFontTx/>
              <a:buNone/>
            </a:pPr>
            <a:r>
              <a:rPr lang="en-US" altLang="zh-CN" dirty="0" err="1" smtClean="0"/>
              <a:t>mis</a:t>
            </a:r>
            <a:r>
              <a:rPr lang="en-US" altLang="zh-CN" dirty="0" smtClean="0"/>
              <a:t>[3] = P("ddd",20);</a:t>
            </a:r>
          </a:p>
          <a:p>
            <a:pPr lvl="1"/>
            <a:r>
              <a:rPr lang="zh-CN" altLang="en-US" dirty="0" smtClean="0"/>
              <a:t>举例</a:t>
            </a:r>
          </a:p>
          <a:p>
            <a:r>
              <a:rPr lang="en-US" altLang="zh-CN" dirty="0" err="1" smtClean="0"/>
              <a:t>multimap</a:t>
            </a:r>
            <a:endParaRPr lang="en-US" altLang="zh-CN" dirty="0" smtClean="0"/>
          </a:p>
          <a:p>
            <a:pPr lvl="1"/>
            <a:r>
              <a:rPr lang="zh-CN" altLang="en-US" dirty="0" smtClean="0"/>
              <a:t>允许重复</a:t>
            </a:r>
            <a:r>
              <a:rPr lang="en-US" altLang="zh-CN" dirty="0" smtClean="0"/>
              <a:t>key</a:t>
            </a:r>
          </a:p>
          <a:p>
            <a:pPr lvl="1"/>
            <a:r>
              <a:rPr lang="zh-CN" altLang="en-US" dirty="0" smtClean="0"/>
              <a:t>元素是</a:t>
            </a:r>
            <a:r>
              <a:rPr lang="en-US" altLang="zh-CN" dirty="0" smtClean="0"/>
              <a:t>key/value</a:t>
            </a:r>
            <a:r>
              <a:rPr lang="zh-CN" altLang="en-US" dirty="0" smtClean="0"/>
              <a:t>对</a:t>
            </a:r>
          </a:p>
          <a:p>
            <a:pPr lvl="1"/>
            <a:r>
              <a:rPr lang="zh-CN" altLang="en-US" dirty="0" smtClean="0"/>
              <a:t>不支持方括号下标</a:t>
            </a:r>
          </a:p>
          <a:p>
            <a:pPr lvl="1"/>
            <a:r>
              <a:rPr lang="zh-CN" altLang="en-US" dirty="0" smtClean="0"/>
              <a:t>举例</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smtClean="0"/>
              <a:t>特殊容器</a:t>
            </a:r>
          </a:p>
        </p:txBody>
      </p:sp>
      <p:sp>
        <p:nvSpPr>
          <p:cNvPr id="18435" name="内容占位符 2"/>
          <p:cNvSpPr>
            <a:spLocks noGrp="1"/>
          </p:cNvSpPr>
          <p:nvPr>
            <p:ph idx="1"/>
          </p:nvPr>
        </p:nvSpPr>
        <p:spPr/>
        <p:txBody>
          <a:bodyPr/>
          <a:lstStyle/>
          <a:p>
            <a:r>
              <a:rPr lang="en-US" altLang="zh-CN" dirty="0" smtClean="0"/>
              <a:t>stack</a:t>
            </a:r>
            <a:r>
              <a:rPr lang="zh-CN" altLang="en-US" dirty="0" smtClean="0"/>
              <a:t>，</a:t>
            </a:r>
            <a:r>
              <a:rPr lang="en-US" altLang="zh-CN" dirty="0" smtClean="0"/>
              <a:t>queue</a:t>
            </a:r>
            <a:r>
              <a:rPr lang="zh-CN" altLang="en-US" dirty="0" smtClean="0"/>
              <a:t>，</a:t>
            </a:r>
            <a:r>
              <a:rPr lang="en-US" altLang="zh-CN" dirty="0" err="1" smtClean="0"/>
              <a:t>priority_queue</a:t>
            </a:r>
            <a:endParaRPr lang="en-US" altLang="zh-CN" dirty="0" smtClean="0"/>
          </a:p>
          <a:p>
            <a:pPr lvl="1"/>
            <a:r>
              <a:rPr lang="en-US" altLang="zh-CN" dirty="0" smtClean="0"/>
              <a:t>.push(element), .pop(), .empty()</a:t>
            </a:r>
          </a:p>
          <a:p>
            <a:pPr lvl="1"/>
            <a:r>
              <a:rPr lang="en-US" altLang="zh-CN" dirty="0" err="1" smtClean="0"/>
              <a:t>stack:.top</a:t>
            </a:r>
            <a:r>
              <a:rPr lang="en-US" altLang="zh-CN" dirty="0" smtClean="0"/>
              <a:t>(), </a:t>
            </a:r>
            <a:r>
              <a:rPr lang="en-US" altLang="zh-CN" dirty="0" err="1" smtClean="0"/>
              <a:t>queue:.front</a:t>
            </a:r>
            <a:r>
              <a:rPr lang="en-US" altLang="zh-CN" dirty="0" smtClean="0"/>
              <a:t>(),.back() </a:t>
            </a:r>
            <a:r>
              <a:rPr lang="en-US" altLang="zh-CN" dirty="0" err="1" smtClean="0"/>
              <a:t>priority_queue:.top</a:t>
            </a:r>
            <a:r>
              <a:rPr lang="en-US" altLang="zh-CN" dirty="0" smtClean="0"/>
              <a:t>()</a:t>
            </a:r>
          </a:p>
          <a:p>
            <a:endParaRPr lang="en-US" altLang="zh-CN" dirty="0" smtClean="0"/>
          </a:p>
          <a:p>
            <a:pPr lvl="1"/>
            <a:r>
              <a:rPr lang="zh-CN" altLang="en-US" dirty="0" smtClean="0"/>
              <a:t>没有迭代器</a:t>
            </a:r>
          </a:p>
          <a:p>
            <a:pPr lvl="1"/>
            <a:r>
              <a:rPr lang="zh-CN" altLang="en-US" dirty="0" smtClean="0"/>
              <a:t>优先队列的实现原理：堆调整</a:t>
            </a:r>
          </a:p>
          <a:p>
            <a:endParaRPr lang="zh-CN" altLang="en-US"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smtClean="0"/>
              <a:t>通用算法</a:t>
            </a:r>
          </a:p>
        </p:txBody>
      </p:sp>
      <p:sp>
        <p:nvSpPr>
          <p:cNvPr id="19459" name="内容占位符 2"/>
          <p:cNvSpPr>
            <a:spLocks noGrp="1"/>
          </p:cNvSpPr>
          <p:nvPr>
            <p:ph idx="1"/>
          </p:nvPr>
        </p:nvSpPr>
        <p:spPr/>
        <p:txBody>
          <a:bodyPr>
            <a:normAutofit fontScale="77500" lnSpcReduction="20000"/>
          </a:bodyPr>
          <a:lstStyle/>
          <a:p>
            <a:endParaRPr lang="en-US" altLang="zh-CN" dirty="0" smtClean="0"/>
          </a:p>
          <a:p>
            <a:r>
              <a:rPr lang="en-US" altLang="zh-CN" dirty="0" smtClean="0"/>
              <a:t>1)</a:t>
            </a:r>
            <a:r>
              <a:rPr lang="en-US" altLang="zh-CN" dirty="0" err="1" smtClean="0"/>
              <a:t>for_each</a:t>
            </a:r>
            <a:r>
              <a:rPr lang="en-US" altLang="zh-CN" dirty="0" smtClean="0"/>
              <a:t>(</a:t>
            </a:r>
            <a:r>
              <a:rPr lang="en-US" altLang="zh-CN" dirty="0" err="1" smtClean="0"/>
              <a:t>pos_beg</a:t>
            </a:r>
            <a:r>
              <a:rPr lang="en-US" altLang="zh-CN" dirty="0" smtClean="0"/>
              <a:t>, </a:t>
            </a:r>
            <a:r>
              <a:rPr lang="en-US" altLang="zh-CN" dirty="0" err="1" smtClean="0"/>
              <a:t>pos_end</a:t>
            </a:r>
            <a:r>
              <a:rPr lang="en-US" altLang="zh-CN" dirty="0" smtClean="0"/>
              <a:t>, </a:t>
            </a:r>
            <a:r>
              <a:rPr lang="en-US" altLang="zh-CN" dirty="0" err="1" smtClean="0"/>
              <a:t>func</a:t>
            </a:r>
            <a:r>
              <a:rPr lang="en-US" altLang="zh-CN" dirty="0" smtClean="0"/>
              <a:t>(</a:t>
            </a:r>
            <a:r>
              <a:rPr lang="zh-CN" altLang="en-US" dirty="0" smtClean="0"/>
              <a:t>数据元素</a:t>
            </a:r>
            <a:r>
              <a:rPr lang="en-US" altLang="zh-CN" dirty="0" smtClean="0"/>
              <a:t>));</a:t>
            </a:r>
          </a:p>
          <a:p>
            <a:r>
              <a:rPr lang="en-US" altLang="zh-CN" dirty="0" smtClean="0"/>
              <a:t>2)</a:t>
            </a:r>
            <a:r>
              <a:rPr lang="en-US" altLang="zh-CN" dirty="0" err="1" smtClean="0"/>
              <a:t>iterator</a:t>
            </a:r>
            <a:r>
              <a:rPr lang="en-US" altLang="zh-CN" dirty="0" smtClean="0"/>
              <a:t> find(</a:t>
            </a:r>
            <a:r>
              <a:rPr lang="en-US" altLang="zh-CN" dirty="0" err="1" smtClean="0"/>
              <a:t>pos_beg</a:t>
            </a:r>
            <a:r>
              <a:rPr lang="en-US" altLang="zh-CN" dirty="0" smtClean="0"/>
              <a:t>, </a:t>
            </a:r>
            <a:r>
              <a:rPr lang="en-US" altLang="zh-CN" dirty="0" err="1" smtClean="0"/>
              <a:t>pos_end</a:t>
            </a:r>
            <a:r>
              <a:rPr lang="en-US" altLang="zh-CN" dirty="0" smtClean="0"/>
              <a:t>, </a:t>
            </a:r>
            <a:r>
              <a:rPr lang="zh-CN" altLang="en-US" dirty="0" smtClean="0"/>
              <a:t>数据元素</a:t>
            </a:r>
            <a:r>
              <a:rPr lang="en-US" altLang="zh-CN" dirty="0" smtClean="0"/>
              <a:t>);</a:t>
            </a:r>
          </a:p>
          <a:p>
            <a:r>
              <a:rPr lang="en-US" altLang="zh-CN" dirty="0" smtClean="0"/>
              <a:t>3)sort(</a:t>
            </a:r>
            <a:r>
              <a:rPr lang="en-US" altLang="zh-CN" dirty="0" err="1" smtClean="0"/>
              <a:t>pos_beg</a:t>
            </a:r>
            <a:r>
              <a:rPr lang="en-US" altLang="zh-CN" dirty="0" smtClean="0"/>
              <a:t>, </a:t>
            </a:r>
            <a:r>
              <a:rPr lang="en-US" altLang="zh-CN" dirty="0" err="1" smtClean="0"/>
              <a:t>pos_end</a:t>
            </a:r>
            <a:r>
              <a:rPr lang="en-US" altLang="zh-CN" dirty="0" smtClean="0"/>
              <a:t>);</a:t>
            </a:r>
          </a:p>
          <a:p>
            <a:pPr lvl="1"/>
            <a:r>
              <a:rPr lang="en-US" altLang="zh-CN" dirty="0" smtClean="0"/>
              <a:t>sort(</a:t>
            </a:r>
            <a:r>
              <a:rPr lang="en-US" altLang="zh-CN" dirty="0" err="1" smtClean="0"/>
              <a:t>pos_beg</a:t>
            </a:r>
            <a:r>
              <a:rPr lang="en-US" altLang="zh-CN" dirty="0" smtClean="0"/>
              <a:t>, </a:t>
            </a:r>
            <a:r>
              <a:rPr lang="en-US" altLang="zh-CN" dirty="0" err="1" smtClean="0"/>
              <a:t>pos_end</a:t>
            </a:r>
            <a:r>
              <a:rPr lang="en-US" altLang="zh-CN" dirty="0" smtClean="0"/>
              <a:t>, </a:t>
            </a:r>
            <a:r>
              <a:rPr lang="en-US" altLang="zh-CN" dirty="0" err="1" smtClean="0"/>
              <a:t>func</a:t>
            </a:r>
            <a:r>
              <a:rPr lang="en-US" altLang="zh-CN" dirty="0" smtClean="0"/>
              <a:t>(</a:t>
            </a:r>
            <a:r>
              <a:rPr lang="zh-CN" altLang="en-US" dirty="0" smtClean="0"/>
              <a:t>数据元素</a:t>
            </a:r>
            <a:r>
              <a:rPr lang="en-US" altLang="zh-CN" dirty="0" smtClean="0"/>
              <a:t>));</a:t>
            </a:r>
          </a:p>
          <a:p>
            <a:r>
              <a:rPr lang="en-US" altLang="zh-CN" dirty="0" smtClean="0"/>
              <a:t>4)copy(</a:t>
            </a:r>
            <a:r>
              <a:rPr lang="en-US" altLang="zh-CN" dirty="0" err="1" smtClean="0"/>
              <a:t>pos_beg</a:t>
            </a:r>
            <a:r>
              <a:rPr lang="en-US" altLang="zh-CN" dirty="0" smtClean="0"/>
              <a:t>, </a:t>
            </a:r>
            <a:r>
              <a:rPr lang="en-US" altLang="zh-CN" dirty="0" err="1" smtClean="0"/>
              <a:t>pos_end</a:t>
            </a:r>
            <a:r>
              <a:rPr lang="en-US" altLang="zh-CN" dirty="0" smtClean="0"/>
              <a:t>, </a:t>
            </a:r>
            <a:r>
              <a:rPr lang="en-US" altLang="zh-CN" dirty="0" err="1" smtClean="0"/>
              <a:t>pos_target</a:t>
            </a:r>
            <a:r>
              <a:rPr lang="en-US" altLang="zh-CN" dirty="0" smtClean="0"/>
              <a:t>);</a:t>
            </a:r>
          </a:p>
          <a:p>
            <a:pPr lvl="1"/>
            <a:r>
              <a:rPr lang="en-US" altLang="zh-CN" dirty="0" err="1" smtClean="0"/>
              <a:t>copy_if</a:t>
            </a:r>
            <a:r>
              <a:rPr lang="en-US" altLang="zh-CN" dirty="0" smtClean="0"/>
              <a:t>(</a:t>
            </a:r>
            <a:r>
              <a:rPr lang="en-US" altLang="zh-CN" dirty="0" err="1" smtClean="0"/>
              <a:t>pos_beg</a:t>
            </a:r>
            <a:r>
              <a:rPr lang="en-US" altLang="zh-CN" dirty="0" smtClean="0"/>
              <a:t>, </a:t>
            </a:r>
            <a:r>
              <a:rPr lang="en-US" altLang="zh-CN" dirty="0" err="1" smtClean="0"/>
              <a:t>pos_end</a:t>
            </a:r>
            <a:r>
              <a:rPr lang="en-US" altLang="zh-CN" dirty="0" smtClean="0"/>
              <a:t>, </a:t>
            </a:r>
            <a:r>
              <a:rPr lang="en-US" altLang="zh-CN" dirty="0" err="1" smtClean="0"/>
              <a:t>pos_target</a:t>
            </a:r>
            <a:r>
              <a:rPr lang="en-US" altLang="zh-CN" dirty="0" smtClean="0"/>
              <a:t>, </a:t>
            </a:r>
            <a:r>
              <a:rPr lang="en-US" altLang="zh-CN" dirty="0" err="1" smtClean="0"/>
              <a:t>func</a:t>
            </a:r>
            <a:r>
              <a:rPr lang="en-US" altLang="zh-CN" dirty="0" smtClean="0"/>
              <a:t>(</a:t>
            </a:r>
            <a:r>
              <a:rPr lang="zh-CN" altLang="en-US" dirty="0" smtClean="0"/>
              <a:t>数据元素</a:t>
            </a:r>
            <a:r>
              <a:rPr lang="en-US" altLang="zh-CN" dirty="0" smtClean="0"/>
              <a:t>));</a:t>
            </a:r>
          </a:p>
          <a:p>
            <a:r>
              <a:rPr lang="en-US" altLang="zh-CN" dirty="0" smtClean="0"/>
              <a:t>5)</a:t>
            </a:r>
            <a:r>
              <a:rPr lang="en-US" altLang="zh-CN" dirty="0" err="1" smtClean="0"/>
              <a:t>find_if</a:t>
            </a:r>
            <a:r>
              <a:rPr lang="en-US" altLang="zh-CN" dirty="0" smtClean="0"/>
              <a:t>(</a:t>
            </a:r>
            <a:r>
              <a:rPr lang="en-US" altLang="zh-CN" dirty="0" err="1" smtClean="0"/>
              <a:t>pos_beg</a:t>
            </a:r>
            <a:r>
              <a:rPr lang="en-US" altLang="zh-CN" dirty="0" smtClean="0"/>
              <a:t>, </a:t>
            </a:r>
            <a:r>
              <a:rPr lang="en-US" altLang="zh-CN" dirty="0" err="1" smtClean="0"/>
              <a:t>pos_end</a:t>
            </a:r>
            <a:r>
              <a:rPr lang="en-US" altLang="zh-CN" dirty="0" smtClean="0"/>
              <a:t>, </a:t>
            </a:r>
            <a:r>
              <a:rPr lang="en-US" altLang="zh-CN" dirty="0" err="1" smtClean="0"/>
              <a:t>func</a:t>
            </a:r>
            <a:r>
              <a:rPr lang="en-US" altLang="zh-CN" dirty="0" smtClean="0"/>
              <a:t>());</a:t>
            </a:r>
          </a:p>
          <a:p>
            <a:pPr lvl="1"/>
            <a:r>
              <a:rPr lang="en-US" altLang="zh-CN" dirty="0" smtClean="0"/>
              <a:t>count(</a:t>
            </a:r>
            <a:r>
              <a:rPr lang="en-US" altLang="zh-CN" dirty="0" err="1" smtClean="0"/>
              <a:t>pos_beg</a:t>
            </a:r>
            <a:r>
              <a:rPr lang="en-US" altLang="zh-CN" dirty="0" smtClean="0"/>
              <a:t>, </a:t>
            </a:r>
            <a:r>
              <a:rPr lang="en-US" altLang="zh-CN" dirty="0" err="1" smtClean="0"/>
              <a:t>pos_end</a:t>
            </a:r>
            <a:r>
              <a:rPr lang="en-US" altLang="zh-CN" dirty="0" smtClean="0"/>
              <a:t>, x);</a:t>
            </a:r>
          </a:p>
          <a:p>
            <a:pPr lvl="1"/>
            <a:r>
              <a:rPr lang="en-US" altLang="zh-CN" dirty="0" smtClean="0"/>
              <a:t>count(</a:t>
            </a:r>
            <a:r>
              <a:rPr lang="en-US" altLang="zh-CN" dirty="0" err="1" smtClean="0"/>
              <a:t>pos_beg</a:t>
            </a:r>
            <a:r>
              <a:rPr lang="en-US" altLang="zh-CN" dirty="0" smtClean="0"/>
              <a:t>, </a:t>
            </a:r>
            <a:r>
              <a:rPr lang="en-US" altLang="zh-CN" dirty="0" err="1" smtClean="0"/>
              <a:t>pos_end</a:t>
            </a:r>
            <a:r>
              <a:rPr lang="en-US" altLang="zh-CN" dirty="0" smtClean="0"/>
              <a:t>, </a:t>
            </a:r>
            <a:r>
              <a:rPr lang="en-US" altLang="zh-CN" dirty="0" err="1" smtClean="0"/>
              <a:t>func</a:t>
            </a:r>
            <a:r>
              <a:rPr lang="en-US" altLang="zh-CN" dirty="0" smtClean="0"/>
              <a:t>());</a:t>
            </a:r>
          </a:p>
          <a:p>
            <a:r>
              <a:rPr lang="en-US" altLang="zh-CN" dirty="0" smtClean="0"/>
              <a:t>……</a:t>
            </a:r>
          </a:p>
          <a:p>
            <a:endParaRPr lang="zh-CN" altLang="en-US" dirty="0" smtClean="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smtClean="0"/>
              <a:t>迭代器分类</a:t>
            </a:r>
          </a:p>
        </p:txBody>
      </p:sp>
      <p:sp>
        <p:nvSpPr>
          <p:cNvPr id="20483" name="内容占位符 2"/>
          <p:cNvSpPr>
            <a:spLocks noGrp="1"/>
          </p:cNvSpPr>
          <p:nvPr>
            <p:ph idx="1"/>
          </p:nvPr>
        </p:nvSpPr>
        <p:spPr/>
        <p:txBody>
          <a:bodyPr/>
          <a:lstStyle/>
          <a:p>
            <a:r>
              <a:rPr lang="zh-CN" altLang="en-US" smtClean="0"/>
              <a:t>迭代器分类（</a:t>
            </a:r>
            <a:r>
              <a:rPr lang="en-US" altLang="zh-CN" smtClean="0"/>
              <a:t>it</a:t>
            </a:r>
            <a:r>
              <a:rPr lang="zh-CN" altLang="en-US" smtClean="0"/>
              <a:t>）：</a:t>
            </a:r>
            <a:r>
              <a:rPr lang="en-US" altLang="zh-CN" smtClean="0"/>
              <a:t>++,*,-&gt;,==,!=</a:t>
            </a:r>
          </a:p>
          <a:p>
            <a:pPr lvl="1"/>
            <a:r>
              <a:rPr lang="zh-CN" altLang="en-US" smtClean="0"/>
              <a:t>输入迭代器：可读*</a:t>
            </a:r>
            <a:r>
              <a:rPr lang="en-US" altLang="zh-CN" smtClean="0"/>
              <a:t>it</a:t>
            </a:r>
            <a:r>
              <a:rPr lang="zh-CN" altLang="en-US" smtClean="0"/>
              <a:t>的值，但不一定能修改（设置）*</a:t>
            </a:r>
            <a:r>
              <a:rPr lang="en-US" altLang="zh-CN" smtClean="0"/>
              <a:t>it</a:t>
            </a:r>
            <a:r>
              <a:rPr lang="zh-CN" altLang="en-US" smtClean="0"/>
              <a:t>的值</a:t>
            </a:r>
          </a:p>
          <a:p>
            <a:pPr lvl="1"/>
            <a:r>
              <a:rPr lang="zh-CN" altLang="en-US" smtClean="0"/>
              <a:t>输出迭代器：可以设置*</a:t>
            </a:r>
            <a:r>
              <a:rPr lang="en-US" altLang="zh-CN" smtClean="0"/>
              <a:t>it</a:t>
            </a:r>
            <a:r>
              <a:rPr lang="zh-CN" altLang="en-US" smtClean="0"/>
              <a:t>的值，但不一定能读取*</a:t>
            </a:r>
            <a:r>
              <a:rPr lang="en-US" altLang="zh-CN" smtClean="0"/>
              <a:t>it</a:t>
            </a:r>
            <a:r>
              <a:rPr lang="zh-CN" altLang="en-US" smtClean="0"/>
              <a:t>的值</a:t>
            </a:r>
          </a:p>
          <a:p>
            <a:pPr lvl="1"/>
            <a:r>
              <a:rPr lang="zh-CN" altLang="en-US" smtClean="0"/>
              <a:t>前向迭代器：可以读取也可以设置*</a:t>
            </a:r>
            <a:r>
              <a:rPr lang="en-US" altLang="zh-CN" smtClean="0"/>
              <a:t>it</a:t>
            </a:r>
            <a:r>
              <a:rPr lang="zh-CN" altLang="en-US" smtClean="0"/>
              <a:t>的值</a:t>
            </a:r>
          </a:p>
          <a:p>
            <a:pPr lvl="1"/>
            <a:r>
              <a:rPr lang="zh-CN" altLang="en-US" smtClean="0"/>
              <a:t>双向迭代器：支持</a:t>
            </a:r>
            <a:r>
              <a:rPr lang="en-US" altLang="zh-CN" smtClean="0"/>
              <a:t>--</a:t>
            </a:r>
          </a:p>
          <a:p>
            <a:pPr lvl="1"/>
            <a:r>
              <a:rPr lang="zh-CN" altLang="en-US" smtClean="0"/>
              <a:t>随机迭代器：几乎跟指针一样，支持</a:t>
            </a:r>
            <a:r>
              <a:rPr lang="en-US" altLang="zh-CN" smtClean="0"/>
              <a:t>--,+n,-n,</a:t>
            </a:r>
            <a:r>
              <a:rPr lang="zh-CN" altLang="en-US" smtClean="0"/>
              <a:t>比较大小，</a:t>
            </a:r>
            <a:r>
              <a:rPr lang="en-US" altLang="zh-CN" smtClean="0"/>
              <a:t>[</a:t>
            </a:r>
            <a:r>
              <a:rPr lang="zh-CN" altLang="en-US" smtClean="0"/>
              <a:t>下标</a:t>
            </a:r>
            <a:r>
              <a:rPr lang="en-US" altLang="zh-CN" smtClean="0"/>
              <a:t>]</a:t>
            </a:r>
            <a:endParaRPr lang="zh-CN" altLang="en-US" smtClean="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smtClean="0"/>
              <a:t>The End</a:t>
            </a:r>
            <a:endParaRPr lang="zh-CN"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达内模版2007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达内模版2007版</Template>
  <TotalTime>623</TotalTime>
  <Words>3356</Words>
  <Application>Microsoft Office PowerPoint</Application>
  <PresentationFormat>全屏显示(4:3)</PresentationFormat>
  <Paragraphs>451</Paragraphs>
  <Slides>50</Slides>
  <Notes>9</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50</vt:i4>
      </vt:variant>
    </vt:vector>
  </HeadingPairs>
  <TitlesOfParts>
    <vt:vector size="52" baseType="lpstr">
      <vt:lpstr>达内模版2007版</vt:lpstr>
      <vt:lpstr>文档</vt:lpstr>
      <vt:lpstr>C++模板编程和STL</vt:lpstr>
      <vt:lpstr>C++模板编程</vt:lpstr>
      <vt:lpstr>模板</vt:lpstr>
      <vt:lpstr>模板分为函数模板和类模板</vt:lpstr>
      <vt:lpstr>模板使用模型</vt:lpstr>
      <vt:lpstr>类模板</vt:lpstr>
      <vt:lpstr>类模板</vt:lpstr>
      <vt:lpstr>模板类</vt:lpstr>
      <vt:lpstr>类模板的继承与派生 </vt:lpstr>
      <vt:lpstr>普通类继承类模板</vt:lpstr>
      <vt:lpstr>模板类继承普通类</vt:lpstr>
      <vt:lpstr>模板类继承模板类</vt:lpstr>
      <vt:lpstr>类模板和模板类小结</vt:lpstr>
      <vt:lpstr>函数模板</vt:lpstr>
      <vt:lpstr>函数模板的定义格式</vt:lpstr>
      <vt:lpstr>类型推断</vt:lpstr>
      <vt:lpstr>不能进行类型推断(省略类型参数)</vt:lpstr>
      <vt:lpstr>从模板函数实参表获得的信息有矛盾。 </vt:lpstr>
      <vt:lpstr>获得特定类型的返回值</vt:lpstr>
      <vt:lpstr>虚拟类型参数没有出现在模板函数的形参表中</vt:lpstr>
      <vt:lpstr>函数模板含有常规形参。 </vt:lpstr>
      <vt:lpstr>特化和偏特化</vt:lpstr>
      <vt:lpstr>类模板的专门化(特化)</vt:lpstr>
      <vt:lpstr>示例</vt:lpstr>
      <vt:lpstr>看看如何调用</vt:lpstr>
      <vt:lpstr>函数模板的专门化(特化)</vt:lpstr>
      <vt:lpstr>示例</vt:lpstr>
      <vt:lpstr>如何调用</vt:lpstr>
      <vt:lpstr>补充—智能指针的实现</vt:lpstr>
      <vt:lpstr>auto_ptr实现原理</vt:lpstr>
      <vt:lpstr>实现原理</vt:lpstr>
      <vt:lpstr>STL</vt:lpstr>
      <vt:lpstr>STL</vt:lpstr>
      <vt:lpstr>容器</vt:lpstr>
      <vt:lpstr>幻灯片 35</vt:lpstr>
      <vt:lpstr>迭代器</vt:lpstr>
      <vt:lpstr>标准容器</vt:lpstr>
      <vt:lpstr>标准容器的共性</vt:lpstr>
      <vt:lpstr>标准容器的共性</vt:lpstr>
      <vt:lpstr>序列式容器的共性</vt:lpstr>
      <vt:lpstr>序列式容器的个性介绍</vt:lpstr>
      <vt:lpstr>deque</vt:lpstr>
      <vt:lpstr>list</vt:lpstr>
      <vt:lpstr>关联式容器共性</vt:lpstr>
      <vt:lpstr>关联式容器的个性</vt:lpstr>
      <vt:lpstr>map/multimap</vt:lpstr>
      <vt:lpstr>特殊容器</vt:lpstr>
      <vt:lpstr>通用算法</vt:lpstr>
      <vt:lpstr>迭代器分类</vt:lpstr>
      <vt:lpstr>The End</vt:lpstr>
    </vt:vector>
  </TitlesOfParts>
  <Company>Tarena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C++模板编程和STL</dc:title>
  <dc:creator>Daniel</dc:creator>
  <cp:lastModifiedBy>china</cp:lastModifiedBy>
  <cp:revision>61</cp:revision>
  <dcterms:created xsi:type="dcterms:W3CDTF">2011-12-04T03:07:08Z</dcterms:created>
  <dcterms:modified xsi:type="dcterms:W3CDTF">2012-08-01T09:36:40Z</dcterms:modified>
</cp:coreProperties>
</file>